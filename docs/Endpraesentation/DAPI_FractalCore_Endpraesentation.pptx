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29"/>
  </p:notesMasterIdLst>
  <p:sldIdLst>
    <p:sldId id="256" r:id="rId2"/>
    <p:sldId id="263" r:id="rId3"/>
    <p:sldId id="275" r:id="rId4"/>
    <p:sldId id="260" r:id="rId5"/>
    <p:sldId id="261" r:id="rId6"/>
    <p:sldId id="262" r:id="rId7"/>
    <p:sldId id="276" r:id="rId8"/>
    <p:sldId id="272" r:id="rId9"/>
    <p:sldId id="266" r:id="rId10"/>
    <p:sldId id="277" r:id="rId11"/>
    <p:sldId id="274" r:id="rId12"/>
    <p:sldId id="287" r:id="rId13"/>
    <p:sldId id="278" r:id="rId14"/>
    <p:sldId id="279" r:id="rId15"/>
    <p:sldId id="281" r:id="rId16"/>
    <p:sldId id="286" r:id="rId17"/>
    <p:sldId id="285" r:id="rId18"/>
    <p:sldId id="282" r:id="rId19"/>
    <p:sldId id="270" r:id="rId20"/>
    <p:sldId id="268" r:id="rId21"/>
    <p:sldId id="283" r:id="rId22"/>
    <p:sldId id="257" r:id="rId23"/>
    <p:sldId id="271" r:id="rId24"/>
    <p:sldId id="265" r:id="rId25"/>
    <p:sldId id="258" r:id="rId26"/>
    <p:sldId id="284" r:id="rId27"/>
    <p:sldId id="273" r:id="rId28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7E8D9EF-151D-C0AF-FD62-01ED04B54185}" v="290" dt="2026-06-23T16:04:39.193"/>
    <p1510:client id="{AD8E74BE-A737-2340-F74B-D225C784332A}" v="239" dt="2026-06-22T18:50:55.720"/>
    <p1510:client id="{DD2898B8-EB7D-7DD6-7886-E401E840CD2F}" v="39" dt="2026-06-22T18:21:20.70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Keine Formatvorlage, kein Raster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7E9639D4-E3E2-4D34-9284-5A2195B3D0D7}" styleName="Helle Formatvorlag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210"/>
    <p:restoredTop sz="92607"/>
  </p:normalViewPr>
  <p:slideViewPr>
    <p:cSldViewPr snapToGrid="0">
      <p:cViewPr varScale="1">
        <p:scale>
          <a:sx n="124" d="100"/>
          <a:sy n="124" d="100"/>
        </p:scale>
        <p:origin x="54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5690DA4-8E7E-0941-AA18-ABC55D37EF0E}" type="datetimeFigureOut">
              <a:rPr lang="de-DE" smtClean="0"/>
              <a:t>23.06.26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036D80-E674-C74A-9C41-C7D9BE4A5AB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503135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Vielleicht kennen Sie dieses Bild….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036D80-E674-C74A-9C41-C7D9BE4A5ABE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6295363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036D80-E674-C74A-9C41-C7D9BE4A5ABE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1644059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12126A-B3C0-0D6B-9958-30E2274345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F02D160E-0923-1AC1-6F2B-39F2629E8E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45A8BFA9-5FDA-1480-CA7E-AABD553567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599DAE0-4975-A5ED-AAFE-60E5AA8C77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036D80-E674-C74A-9C41-C7D9BE4A5ABE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5085956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Um zu verstehen, wie so ein Bild entsteht, müssen wir zuerst die Mathematik dahinter verstehen.</a:t>
            </a:r>
          </a:p>
          <a:p>
            <a:r>
              <a:rPr lang="de-DE" dirty="0"/>
              <a:t>Und dabei steht die Folge z_n+1 = z_n^2 + c und ihr Grenzverhalten im Zentrum.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036D80-E674-C74A-9C41-C7D9BE4A5ABE}" type="slidenum">
              <a:rPr lang="de-DE" smtClean="0"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2343920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Zuordnung je nach Mengenmodus:</a:t>
            </a:r>
            <a:br>
              <a:rPr lang="de-DE" dirty="0"/>
            </a:br>
            <a:r>
              <a:rPr lang="de-DE" dirty="0"/>
              <a:t>Juliamenge: z_0 = Koord. / c = Animation</a:t>
            </a:r>
            <a:br>
              <a:rPr lang="de-DE" dirty="0"/>
            </a:br>
            <a:r>
              <a:rPr lang="de-DE" dirty="0"/>
              <a:t>Mandelbrot: z_0 = 0 / c = Koord.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036D80-E674-C74A-9C41-C7D9BE4A5ABE}" type="slidenum">
              <a:rPr lang="de-DE" smtClean="0"/>
              <a:t>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3035919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036D80-E674-C74A-9C41-C7D9BE4A5ABE}" type="slidenum">
              <a:rPr lang="de-DE" smtClean="0"/>
              <a:t>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6059112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88187B-05A9-563A-1B16-CBDF86557B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BEC34808-9FA6-A849-84C3-3258A5EC67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FCD747CC-A51F-C56B-0FCD-91331FEA7B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Entspricht der Gliederung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0DCC72C-6FD4-1792-EEE1-B7E38584A1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036D80-E674-C74A-9C41-C7D9BE4A5ABE}" type="slidenum">
              <a:rPr lang="de-DE" smtClean="0"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2438032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036D80-E674-C74A-9C41-C7D9BE4A5ABE}" type="slidenum">
              <a:rPr lang="de-DE" smtClean="0"/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6870916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/>
              <a:t>FPGA: 303 Takte, da jede Iteration 3 Stages </a:t>
            </a:r>
            <a:r>
              <a:rPr lang="de-DE">
                <a:sym typeface="Wingdings" pitchFamily="2" charset="2"/>
              </a:rPr>
              <a:t> 300 Takte + 3 Takte für eine Iteration in der das Ergebnis weggeschrieben wird und neue Startwerte geladen werden</a:t>
            </a:r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036D80-E674-C74A-9C41-C7D9BE4A5ABE}" type="slidenum">
              <a:rPr lang="de-DE" smtClean="0"/>
              <a:t>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9299148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F557C5-2C3B-8A6E-713E-EAA61041BB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CC5F904F-B20D-517A-10C4-167EB057C2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5E2BCFB3-4CE1-A872-534B-290564D52C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Entspricht der Gliederung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B905205-3ECE-18EF-6A19-980DD241A1E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036D80-E674-C74A-9C41-C7D9BE4A5ABE}" type="slidenum">
              <a:rPr lang="de-DE" smtClean="0"/>
              <a:t>10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3886418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17D7AC-D7F0-5FDD-59AB-DD01A46B5B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F6326F75-16FD-AAB7-1A69-6DA16D3ACB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4299BF6A-FE38-65DE-CE6F-373FF5207F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Entspricht der Gliederung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5D2160E-2B76-AD10-86B0-3AD0063DCE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036D80-E674-C74A-9C41-C7D9BE4A5ABE}" type="slidenum">
              <a:rPr lang="de-DE" smtClean="0"/>
              <a:t>13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2744634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9C3884-71BC-D718-2FF8-8E7B4C4F63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96C2F3FD-9A1E-0F2E-8736-3E18B088C8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4887CD40-917B-E6C7-B8D9-738B7EB842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TODO: Hintergrundbild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265BE8D-2DB2-E766-F80C-65F6B0F090E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036D80-E674-C74A-9C41-C7D9BE4A5ABE}" type="slidenum">
              <a:rPr lang="de-DE" smtClean="0"/>
              <a:t>16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4311181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9D0C18-34E2-87F7-089F-5DDCED3EE0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30D98412-20E3-3DDB-FD40-C7AEA53640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527F2442-F235-B7CB-3674-AD746BE72E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Entspricht der Gliederung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3D0CE93-8B7A-8804-6EB9-9C3129AEEC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036D80-E674-C74A-9C41-C7D9BE4A5ABE}" type="slidenum">
              <a:rPr lang="de-DE" smtClean="0"/>
              <a:t>18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141607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NICHT AUF DEN AUFBAU EINGEHEN!</a:t>
            </a:r>
            <a:br>
              <a:rPr lang="de-DE" dirty="0"/>
            </a:br>
            <a:r>
              <a:rPr lang="de-DE" dirty="0"/>
              <a:t>NUR GROB MIT CRC VERGLEICHEN!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036D80-E674-C74A-9C41-C7D9BE4A5ABE}" type="slidenum">
              <a:rPr lang="de-DE" smtClean="0"/>
              <a:t>20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3575753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CD4B23-B047-37EB-C1FB-22D4F28E5F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C5ADCE24-D980-B738-C417-F5C56D323B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A001719E-777B-D2BD-D5BB-4345070270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Entspricht der Gliederung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D357EE1-C016-8E32-5923-8F0E2AF98C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036D80-E674-C74A-9C41-C7D9BE4A5ABE}" type="slidenum">
              <a:rPr lang="de-DE" smtClean="0"/>
              <a:t>21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6711923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036D80-E674-C74A-9C41-C7D9BE4A5ABE}" type="slidenum">
              <a:rPr lang="de-DE" smtClean="0"/>
              <a:t>24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5489620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98A06F-F776-1A2F-8592-B780ADACD6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31BFC8FF-C8A0-5CD7-4F5F-BA172E4AB7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F34F0599-583C-F88D-DD88-BDE3CFA620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Entspricht der Gliederung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48BE842-44D0-7A20-FA72-3BD5627D41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036D80-E674-C74A-9C41-C7D9BE4A5ABE}" type="slidenum">
              <a:rPr lang="de-DE" smtClean="0"/>
              <a:t>26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326273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465E9F0-91BC-9F1B-E607-FCD34AD5A4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D1DD6755-60CA-94F3-7EC6-715D8898F88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C819F97-62E4-6FFA-9BA1-2912857499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FA5A1-A813-7B43-85D4-C153DE6EEC5D}" type="datetime1">
              <a:rPr lang="de-DE" smtClean="0"/>
              <a:t>23.06.26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3E0660A-E33E-DCF5-3160-22DF2F4B84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B4267AC-E8BE-28C5-1203-E23B8B641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3980B-2C02-594B-9C73-A951FE42568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787048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06D4F1E-6183-D673-0E48-E72FF9281A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EFB6A01-5331-BA1D-7827-3486DE925B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A6F72EE-9D47-B6AA-BD1C-9FB9527F56F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481040"/>
            <a:ext cx="2743200" cy="365125"/>
          </a:xfrm>
        </p:spPr>
        <p:txBody>
          <a:bodyPr/>
          <a:lstStyle/>
          <a:p>
            <a:fld id="{04634442-C186-E94E-B304-D4E0857BF857}" type="datetime1">
              <a:rPr lang="de-DE" smtClean="0"/>
              <a:t>23.06.26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3CE0F29-265C-A27B-BDDA-FA35B63165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481039"/>
            <a:ext cx="4114800" cy="365125"/>
          </a:xfrm>
        </p:spPr>
        <p:txBody>
          <a:bodyPr/>
          <a:lstStyle/>
          <a:p>
            <a:endParaRPr lang="de-DE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CEC115B-A682-1FCB-5794-467A0812EC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481039"/>
            <a:ext cx="2743200" cy="365125"/>
          </a:xfrm>
        </p:spPr>
        <p:txBody>
          <a:bodyPr/>
          <a:lstStyle/>
          <a:p>
            <a:fld id="{6C43980B-2C02-594B-9C73-A951FE425682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8170616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3A41094-A3B1-443B-B54C-2A668FD3F1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7BFD2EDE-69D9-48F3-5E6E-FF4CFD08E8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D973CB9-1EDB-C21C-2DF5-5C0E2EF8BB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CE65F1-39AD-D942-81CC-A8B185C49E41}" type="datetime1">
              <a:rPr lang="de-DE" smtClean="0"/>
              <a:t>24.06.26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49D53FE-52DE-A8D0-F807-EA9E106D6C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45E8088-9A49-2424-1D64-661EB71FFF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3980B-2C02-594B-9C73-A951FE42568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438045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4CA1C29-768B-E2D9-9F2F-364B86954E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A3DDA49-D107-9859-95F9-208C729C1A0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7AF5FFB5-34D3-7EF7-D7A1-D4325FC070A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71B11B59-95DF-F79C-8736-4E04444C73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B311CB-D684-6D4F-A48A-21B70AE7BE5E}" type="datetime1">
              <a:rPr lang="de-DE" smtClean="0"/>
              <a:t>24.06.26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8758F3E-CA89-79EF-F970-D32D6985DE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564884A-0EE1-73FD-8C36-E24D0549A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3980B-2C02-594B-9C73-A951FE42568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21654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0999C43-CE70-CB4B-7251-4A9D98DA69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7C0738A-256F-AE20-2C04-8A107CC5F0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A6E1F246-0663-51B0-BD6A-615A50633F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E1D7A3CC-4758-7A0E-9ECA-AEEA7AD7534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FD1B5FE4-F52C-DA24-29B1-F92C7858344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B456BDA0-8394-7F5C-1AFB-D27B69E4EC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4E48E-21DA-704B-B06E-619E9794DDDC}" type="datetime1">
              <a:rPr lang="de-DE" smtClean="0"/>
              <a:t>24.06.26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190D4A62-E643-64CF-2703-F4C302D506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F81C7957-4ABC-DEBF-FE04-7A50D78ED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3980B-2C02-594B-9C73-A951FE42568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193478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C6C05A0-BDD2-56E1-C675-5FBFB6D609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9E1C6ED1-0D51-E1F5-1576-BD99C8A44B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B5E8C2-ED39-FA4A-892C-5D69F297ACBF}" type="datetime1">
              <a:rPr lang="de-DE" smtClean="0"/>
              <a:t>24.06.26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A1FFC75D-DE0D-BC30-4E99-D2D774D2C9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B977CF6F-F9DB-00D5-FB8F-542754B264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3980B-2C02-594B-9C73-A951FE42568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529307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78363860-87EF-2A36-9A3A-2A6B2B99E0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C4A7F1-D4D8-1545-AA93-BB835A9F7A8B}" type="datetime1">
              <a:rPr lang="de-DE" smtClean="0"/>
              <a:t>24.06.26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BA4ECE4C-9ED1-2057-99B2-15C9000A9D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58678A0-AB39-D6AA-23A0-D57988B582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3980B-2C02-594B-9C73-A951FE42568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515327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206D286-B7A5-4BB2-3BEE-0E9E496FA2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3F18FE4-5EF7-7FAF-8F25-150C96CF01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C95B6CBE-A0B6-1885-F713-A47DD5EA717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EA87DF34-03C2-89DC-691A-FD01B236F5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B4EF1-1BB5-A140-8507-2D8B6A510087}" type="datetime1">
              <a:rPr lang="de-DE" smtClean="0"/>
              <a:t>24.06.26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42D02A94-944A-A976-EC09-65DE47FA4D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CCAF99A7-735F-ACA7-78EB-46594B694B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3980B-2C02-594B-9C73-A951FE42568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614561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1B158DF-3871-0077-39D3-F30305EE0D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C6AEB852-4240-E9A9-1E54-6563AF8F85A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D416686F-0A39-409F-A292-6004D361504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F75D566B-3502-3617-38E0-7A3DC8FA13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3BA3A3-CA4A-E644-9084-D797594CB804}" type="datetime1">
              <a:rPr lang="de-DE" smtClean="0"/>
              <a:t>24.06.26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84B50D3-499F-6935-A3BE-A8A24274AD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D0DEB3B2-1360-2267-44E1-E3CCAD106B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3980B-2C02-594B-9C73-A951FE42568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710547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65EDE42-0702-E5E4-94C4-8C76F45883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7CBAF454-059A-2BF2-C7F5-C8723331146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0B7B421-0FAF-07C8-7182-A0511FAC75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7F633-92B1-A640-B682-55DDF7097609}" type="datetime1">
              <a:rPr lang="de-DE" smtClean="0"/>
              <a:t>24.06.26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D5AD420-5ED6-2FF1-3CB3-DAA96862D5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04CA6CC-84BC-2B32-D736-E0228CAF5B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3980B-2C02-594B-9C73-A951FE42568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787267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F89D0416-02C0-9EB2-ECA4-E701AEBA6F3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90BD512A-BA37-18C0-D552-02E4E1211B7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9BE7305-9B13-8940-4CBA-5749FE192B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0DB9B7-7C2A-CA43-A176-0C82CB77F997}" type="datetime1">
              <a:rPr lang="de-DE" smtClean="0"/>
              <a:t>24.06.26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AEA708E-DCB2-3EA1-C943-8FB584C58C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9059B6E-A2C0-00CE-104F-8707AA86C6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3980B-2C02-594B-9C73-A951FE42568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673311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A885600D-8AD8-019B-D456-361609E468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0581F8C-B25F-4A74-51A4-7C12B4135C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DDA8EAA-CF2D-D351-AE66-68987CE0FD9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7D163E4-7209-8D4B-B12D-5159794EF612}" type="datetime1">
              <a:rPr lang="de-DE" smtClean="0"/>
              <a:t>23.06.26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2D78B45-9D52-D483-66A5-E9E551C228C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CE0233E-A807-8B3D-8164-1E9CACAB4CC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C43980B-2C02-594B-9C73-A951FE42568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836368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jp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amd.com/v/u/en-US/ug479_7Series_DSP48E1" TargetMode="External"/><Relationship Id="rId2" Type="http://schemas.openxmlformats.org/officeDocument/2006/relationships/hyperlink" Target="https://www.mathematik.uni-ulm.de/stochastik/lehre/ws06_07/seminar_fraktale/ausarbeitung_voelkel.pdf" TargetMode="Externa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11" Type="http://schemas.openxmlformats.org/officeDocument/2006/relationships/image" Target="../media/image18.png"/><Relationship Id="rId5" Type="http://schemas.openxmlformats.org/officeDocument/2006/relationships/image" Target="../media/image12.png"/><Relationship Id="rId10" Type="http://schemas.openxmlformats.org/officeDocument/2006/relationships/image" Target="../media/image17.png"/><Relationship Id="rId4" Type="http://schemas.openxmlformats.org/officeDocument/2006/relationships/image" Target="../media/image11.png"/><Relationship Id="rId9" Type="http://schemas.openxmlformats.org/officeDocument/2006/relationships/image" Target="../media/image16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C1DD1A8A-57D5-4A81-AD04-532B043C56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B53BAD41-56DB-2787-605F-54CB9C297D9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2223" b="1"/>
          <a:stretch>
            <a:fillRect/>
          </a:stretch>
        </p:blipFill>
        <p:spPr>
          <a:xfrm>
            <a:off x="-54461" y="-29772"/>
            <a:ext cx="12297871" cy="6917543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007891EC-4501-44ED-A8C8-B11B6DB767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7602"/>
            <a:ext cx="12191999" cy="3162146"/>
          </a:xfrm>
          <a:prstGeom prst="rect">
            <a:avLst/>
          </a:prstGeom>
          <a:gradFill flip="none" rotWithShape="1">
            <a:gsLst>
              <a:gs pos="0">
                <a:srgbClr val="000000">
                  <a:alpha val="0"/>
                </a:srgbClr>
              </a:gs>
              <a:gs pos="25000">
                <a:srgbClr val="000000">
                  <a:alpha val="15000"/>
                </a:srgbClr>
              </a:gs>
              <a:gs pos="75000">
                <a:srgbClr val="000000">
                  <a:alpha val="15000"/>
                </a:srgbClr>
              </a:gs>
              <a:gs pos="50000">
                <a:srgbClr val="000000">
                  <a:alpha val="30000"/>
                </a:srgbClr>
              </a:gs>
              <a:gs pos="100000">
                <a:srgbClr val="000000">
                  <a:alpha val="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03E5EAD6-B1AD-D20E-7E56-F0900BEDE7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0" y="325550"/>
            <a:ext cx="10058400" cy="3574778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/>
          <a:p>
            <a:r>
              <a:rPr lang="de-DE" sz="5200">
                <a:solidFill>
                  <a:srgbClr val="FFFFFF"/>
                </a:solidFill>
              </a:rPr>
              <a:t>FractalCore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5C83F261-BA5D-56CE-D95D-0230CC6AA2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00051" y="4072043"/>
            <a:ext cx="10058400" cy="1282707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/>
          <a:p>
            <a:r>
              <a:rPr lang="de-DE">
                <a:solidFill>
                  <a:srgbClr val="FFFFFF"/>
                </a:solidFill>
              </a:rPr>
              <a:t>Markus Remy, Thomas Schiergl</a:t>
            </a:r>
          </a:p>
        </p:txBody>
      </p:sp>
    </p:spTree>
    <p:extLst>
      <p:ext uri="{BB962C8B-B14F-4D97-AF65-F5344CB8AC3E}">
        <p14:creationId xmlns:p14="http://schemas.microsoft.com/office/powerpoint/2010/main" val="34077376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2DF80EC-CD95-0B1A-565E-9E71C35046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Systemüberblick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033EC115-1820-E513-0021-FAF480BA97C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747533" y="1485074"/>
            <a:ext cx="8696933" cy="5007801"/>
          </a:xfrm>
          <a:prstGeom prst="rect">
            <a:avLst/>
          </a:prstGeom>
        </p:spPr>
      </p:pic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3405529-831B-213E-5F34-8F66C31A03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3980B-2C02-594B-9C73-A951FE425682}" type="slidenum">
              <a:rPr lang="de-DE" smtClean="0"/>
              <a:t>2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0107081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13A7DE-088E-FFB7-4D51-4DE64142D2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5C49E69-4B1F-073B-9DC0-F94EAC561F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1) Initialwerterzeugung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7E441645-4DA5-044D-CB5D-A7057314575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747533" y="1489586"/>
            <a:ext cx="8696933" cy="4998777"/>
          </a:xfrm>
          <a:prstGeom prst="rect">
            <a:avLst/>
          </a:prstGeom>
        </p:spPr>
      </p:pic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4F440DB-B584-8D55-4A24-12ACE63DA1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3980B-2C02-594B-9C73-A951FE425682}" type="slidenum">
              <a:rPr lang="de-DE" smtClean="0"/>
              <a:t>3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6495894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56496F-1CDE-593A-BB0D-B9502DA29F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D994AD1-DBF4-9098-494C-436AD593A2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Folgenberechnung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F8B54E49-1A7E-108E-47D7-A8D2BBA0775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2668884"/>
              </a:xfrm>
            </p:spPr>
            <p:txBody>
              <a:bodyPr>
                <a:normAutofit/>
              </a:bodyPr>
              <a:lstStyle/>
              <a:p>
                <a:pPr marL="0" indent="0">
                  <a:spcAft>
                    <a:spcPts val="1000"/>
                  </a:spcAft>
                  <a:buNone/>
                </a:pPr>
                <a:r>
                  <a:rPr lang="de-DE" sz="2100" b="0" dirty="0"/>
                  <a:t>Berechnung der Folge </a:t>
                </a:r>
              </a:p>
              <a:p>
                <a:pPr marL="0" indent="0">
                  <a:spcAft>
                    <a:spcPts val="10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1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1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de-DE" sz="21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de-DE" sz="21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de-DE" sz="21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de-DE" sz="21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de-DE" sz="21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de-DE" sz="21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>
                          <m:r>
                            <a:rPr lang="de-DE" sz="21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de-DE" sz="21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sz="2100" b="0" i="1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de-DE" sz="2100" b="0" i="1" smtClean="0">
                          <a:latin typeface="Cambria Math" panose="02040503050406030204" pitchFamily="18" charset="0"/>
                        </a:rPr>
                        <m:t>, </m:t>
                      </m:r>
                      <m:sSub>
                        <m:sSubPr>
                          <m:ctrlPr>
                            <a:rPr lang="de-DE" sz="21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1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de-DE" sz="21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de-DE" sz="2100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de-DE" sz="2100" b="0" i="1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de-DE" sz="2100" b="0" i="1" smtClean="0"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de-DE" sz="2100" b="0" i="1" smtClean="0">
                          <a:latin typeface="Cambria Math" panose="02040503050406030204" pitchFamily="18" charset="0"/>
                        </a:rPr>
                        <m:t>ℂ</m:t>
                      </m:r>
                    </m:oMath>
                  </m:oMathPara>
                </a14:m>
                <a:endParaRPr lang="de-DE" sz="2100" b="0" dirty="0"/>
              </a:p>
              <a:p>
                <a:pPr marL="0" indent="0">
                  <a:spcAft>
                    <a:spcPts val="1000"/>
                  </a:spcAft>
                  <a:buNone/>
                </a:pPr>
                <a:r>
                  <a:rPr lang="de-DE" sz="2100" dirty="0"/>
                  <a:t>bis zur Divergenz bei</a:t>
                </a:r>
              </a:p>
              <a:p>
                <a:pPr marL="0" indent="0">
                  <a:spcAft>
                    <a:spcPts val="10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de-DE" sz="21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sz="21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100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de-DE" sz="21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de-DE" sz="2100" b="0" i="1" smtClean="0">
                          <a:latin typeface="Cambria Math" panose="02040503050406030204" pitchFamily="18" charset="0"/>
                        </a:rPr>
                        <m:t>&gt;= 2</m:t>
                      </m:r>
                    </m:oMath>
                  </m:oMathPara>
                </a14:m>
                <a:endParaRPr lang="de-DE" sz="2100" dirty="0"/>
              </a:p>
              <a:p>
                <a:pPr marL="0" indent="0">
                  <a:buNone/>
                </a:pPr>
                <a:r>
                  <a:rPr lang="de-DE" sz="2100" dirty="0"/>
                  <a:t>oder zur Konvergenz nach einer festgelegten maximalen Anzahl an Iterationen </a:t>
                </a:r>
                <a14:m>
                  <m:oMath xmlns:m="http://schemas.openxmlformats.org/officeDocument/2006/math">
                    <m:r>
                      <a:rPr lang="de-DE" sz="210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de-DE" sz="2100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de-DE" sz="2100" b="0" i="1" smtClean="0">
                        <a:latin typeface="Cambria Math" panose="02040503050406030204" pitchFamily="18" charset="0"/>
                      </a:rPr>
                      <m:t>ℕ</m:t>
                    </m:r>
                  </m:oMath>
                </a14:m>
                <a:r>
                  <a:rPr lang="de-DE" sz="2100" dirty="0"/>
                  <a:t> für jeden Pixel des Bildes.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F8B54E49-1A7E-108E-47D7-A8D2BBA0775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2668884"/>
              </a:xfrm>
              <a:blipFill>
                <a:blip r:embed="rId3"/>
                <a:stretch>
                  <a:fillRect l="-724" t="-2370" b="-284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hteck 3">
            <a:extLst>
              <a:ext uri="{FF2B5EF4-FFF2-40B4-BE49-F238E27FC236}">
                <a16:creationId xmlns:a16="http://schemas.microsoft.com/office/drawing/2014/main" id="{72A2840F-B669-6FB7-1EE5-33759729EC12}"/>
              </a:ext>
            </a:extLst>
          </p:cNvPr>
          <p:cNvSpPr/>
          <p:nvPr/>
        </p:nvSpPr>
        <p:spPr>
          <a:xfrm>
            <a:off x="-204000" y="5979308"/>
            <a:ext cx="12600000" cy="51356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00"/>
              <a:t> Pixelfärbung abhängig vom Grenzwertverhalten der Folge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4336AE1-15F2-B1B7-E359-6F5DC3539F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3980B-2C02-594B-9C73-A951FE425682}" type="slidenum">
              <a:rPr lang="de-DE" smtClean="0"/>
              <a:t>4</a:t>
            </a:fld>
            <a:endParaRPr lang="de-DE" dirty="0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DED522EE-C212-A5D6-B2F4-B6A152D56B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88472" y="6492875"/>
            <a:ext cx="9615055" cy="365125"/>
          </a:xfrm>
        </p:spPr>
        <p:txBody>
          <a:bodyPr/>
          <a:lstStyle/>
          <a:p>
            <a:r>
              <a:rPr lang="de-DE" dirty="0"/>
              <a:t>[1]</a:t>
            </a:r>
          </a:p>
        </p:txBody>
      </p:sp>
    </p:spTree>
    <p:extLst>
      <p:ext uri="{BB962C8B-B14F-4D97-AF65-F5344CB8AC3E}">
        <p14:creationId xmlns:p14="http://schemas.microsoft.com/office/powerpoint/2010/main" val="31790358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FBA066C-06B0-9296-CFEC-96904EA234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Pixelmapping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F28B930-525E-C0D8-3AF7-514D84045A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746131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de-DE" sz="2100" dirty="0"/>
              <a:t>Jeder Pixel wird einem Punkt in der komplexen Ebene zugeordnet.</a:t>
            </a:r>
          </a:p>
          <a:p>
            <a:pPr marL="0" indent="0">
              <a:buNone/>
            </a:pPr>
            <a:r>
              <a:rPr lang="de-DE" sz="2100" dirty="0"/>
              <a:t>Die Variable d entspricht dabei einer konfigurierbaren Distanz zwischen zwei Pixeln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EDA94A69-28C5-BB9B-E1DD-CAAD6C2CE1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70224" y="3159244"/>
            <a:ext cx="6051551" cy="3333630"/>
          </a:xfrm>
          <a:prstGeom prst="rect">
            <a:avLst/>
          </a:prstGeom>
        </p:spPr>
      </p:pic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20EA3258-52D5-45CB-46A1-95658A5CA412}"/>
              </a:ext>
            </a:extLst>
          </p:cNvPr>
          <p:cNvCxnSpPr>
            <a:cxnSpLocks/>
            <a:stCxn id="5" idx="1"/>
            <a:endCxn id="5" idx="3"/>
          </p:cNvCxnSpPr>
          <p:nvPr/>
        </p:nvCxnSpPr>
        <p:spPr>
          <a:xfrm>
            <a:off x="3070224" y="4826059"/>
            <a:ext cx="6051551" cy="0"/>
          </a:xfrm>
          <a:prstGeom prst="straightConnector1">
            <a:avLst/>
          </a:prstGeom>
          <a:ln w="38100"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BD82AB3F-28ED-87AD-112C-15579E1EAE27}"/>
              </a:ext>
            </a:extLst>
          </p:cNvPr>
          <p:cNvCxnSpPr>
            <a:cxnSpLocks/>
            <a:stCxn id="5" idx="2"/>
            <a:endCxn id="5" idx="0"/>
          </p:cNvCxnSpPr>
          <p:nvPr/>
        </p:nvCxnSpPr>
        <p:spPr>
          <a:xfrm flipV="1">
            <a:off x="6096000" y="3159244"/>
            <a:ext cx="0" cy="3333630"/>
          </a:xfrm>
          <a:prstGeom prst="straightConnector1">
            <a:avLst/>
          </a:prstGeom>
          <a:ln w="38100"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feld 13">
            <a:extLst>
              <a:ext uri="{FF2B5EF4-FFF2-40B4-BE49-F238E27FC236}">
                <a16:creationId xmlns:a16="http://schemas.microsoft.com/office/drawing/2014/main" id="{D94B567F-A907-A48E-1456-5B20A608ADAC}"/>
              </a:ext>
            </a:extLst>
          </p:cNvPr>
          <p:cNvSpPr txBox="1"/>
          <p:nvPr/>
        </p:nvSpPr>
        <p:spPr>
          <a:xfrm>
            <a:off x="6096000" y="2737247"/>
            <a:ext cx="484428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100" dirty="0">
                <a:solidFill>
                  <a:schemeClr val="bg1"/>
                </a:solidFill>
              </a:rPr>
              <a:t>Im</a:t>
            </a: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E1512027-75B6-81F1-6A90-14D917ECF83F}"/>
              </a:ext>
            </a:extLst>
          </p:cNvPr>
          <p:cNvSpPr txBox="1"/>
          <p:nvPr/>
        </p:nvSpPr>
        <p:spPr>
          <a:xfrm>
            <a:off x="9010756" y="4615060"/>
            <a:ext cx="490840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100" dirty="0">
                <a:solidFill>
                  <a:schemeClr val="bg1"/>
                </a:solidFill>
              </a:rPr>
              <a:t>Re</a:t>
            </a:r>
          </a:p>
        </p:txBody>
      </p:sp>
      <p:cxnSp>
        <p:nvCxnSpPr>
          <p:cNvPr id="17" name="Gerade Verbindung 16">
            <a:extLst>
              <a:ext uri="{FF2B5EF4-FFF2-40B4-BE49-F238E27FC236}">
                <a16:creationId xmlns:a16="http://schemas.microsoft.com/office/drawing/2014/main" id="{A36E8DE9-1160-CDCA-BB2B-629045A2A409}"/>
              </a:ext>
            </a:extLst>
          </p:cNvPr>
          <p:cNvCxnSpPr>
            <a:cxnSpLocks/>
          </p:cNvCxnSpPr>
          <p:nvPr/>
        </p:nvCxnSpPr>
        <p:spPr>
          <a:xfrm>
            <a:off x="9309280" y="3159244"/>
            <a:ext cx="3206" cy="3340129"/>
          </a:xfrm>
          <a:prstGeom prst="line">
            <a:avLst/>
          </a:prstGeom>
          <a:ln w="381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Gerade Verbindung 24">
            <a:extLst>
              <a:ext uri="{FF2B5EF4-FFF2-40B4-BE49-F238E27FC236}">
                <a16:creationId xmlns:a16="http://schemas.microsoft.com/office/drawing/2014/main" id="{719B2846-DD1B-5433-28A8-F24C371A60B8}"/>
              </a:ext>
            </a:extLst>
          </p:cNvPr>
          <p:cNvCxnSpPr>
            <a:cxnSpLocks/>
          </p:cNvCxnSpPr>
          <p:nvPr/>
        </p:nvCxnSpPr>
        <p:spPr>
          <a:xfrm>
            <a:off x="3049666" y="2972377"/>
            <a:ext cx="6072109" cy="14877"/>
          </a:xfrm>
          <a:prstGeom prst="line">
            <a:avLst/>
          </a:prstGeom>
          <a:ln w="381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feld 28">
            <a:extLst>
              <a:ext uri="{FF2B5EF4-FFF2-40B4-BE49-F238E27FC236}">
                <a16:creationId xmlns:a16="http://schemas.microsoft.com/office/drawing/2014/main" id="{A8CA2070-0475-A591-B63C-C876CF280DAA}"/>
              </a:ext>
            </a:extLst>
          </p:cNvPr>
          <p:cNvSpPr txBox="1"/>
          <p:nvPr/>
        </p:nvSpPr>
        <p:spPr>
          <a:xfrm>
            <a:off x="9309280" y="4621559"/>
            <a:ext cx="1219052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100" dirty="0"/>
              <a:t>480 Pixel</a:t>
            </a:r>
          </a:p>
        </p:txBody>
      </p:sp>
      <p:sp>
        <p:nvSpPr>
          <p:cNvPr id="30" name="Textfeld 29">
            <a:extLst>
              <a:ext uri="{FF2B5EF4-FFF2-40B4-BE49-F238E27FC236}">
                <a16:creationId xmlns:a16="http://schemas.microsoft.com/office/drawing/2014/main" id="{864BEFEF-328B-A28D-496E-C2961113B0B5}"/>
              </a:ext>
            </a:extLst>
          </p:cNvPr>
          <p:cNvSpPr txBox="1"/>
          <p:nvPr/>
        </p:nvSpPr>
        <p:spPr>
          <a:xfrm>
            <a:off x="5476194" y="2550380"/>
            <a:ext cx="1219052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100" dirty="0"/>
              <a:t>640 Pixel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feld 30">
                <a:extLst>
                  <a:ext uri="{FF2B5EF4-FFF2-40B4-BE49-F238E27FC236}">
                    <a16:creationId xmlns:a16="http://schemas.microsoft.com/office/drawing/2014/main" id="{B0026843-EE4F-C743-CC06-61287F06D0CB}"/>
                  </a:ext>
                </a:extLst>
              </p:cNvPr>
              <p:cNvSpPr txBox="1"/>
              <p:nvPr/>
            </p:nvSpPr>
            <p:spPr>
              <a:xfrm>
                <a:off x="838200" y="3146792"/>
                <a:ext cx="1993559" cy="4154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de-DE" sz="21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100" i="1" dirty="0" smtClean="0">
                              <a:latin typeface="Cambria Math" panose="02040503050406030204" pitchFamily="18" charset="0"/>
                            </a:rPr>
                            <m:t>−320</m:t>
                          </m:r>
                          <m:r>
                            <m:rPr>
                              <m:sty m:val="p"/>
                            </m:rPr>
                            <a:rPr lang="de-DE" sz="2100" b="0" i="1" dirty="0" smtClean="0">
                              <a:latin typeface="Cambria Math" panose="02040503050406030204" pitchFamily="18" charset="0"/>
                            </a:rPr>
                            <m:t>d</m:t>
                          </m:r>
                          <m:r>
                            <m:rPr>
                              <m:lit/>
                            </m:rPr>
                            <a:rPr lang="de-DE" sz="2100" i="1" dirty="0" smtClean="0">
                              <a:latin typeface="Cambria Math" panose="02040503050406030204" pitchFamily="18" charset="0"/>
                            </a:rPr>
                            <m:t>/</m:t>
                          </m:r>
                          <m:r>
                            <a:rPr lang="de-DE" sz="2100" i="1" dirty="0" smtClean="0">
                              <a:latin typeface="Cambria Math" panose="02040503050406030204" pitchFamily="18" charset="0"/>
                            </a:rPr>
                            <m:t>240</m:t>
                          </m:r>
                          <m:r>
                            <m:rPr>
                              <m:sty m:val="p"/>
                            </m:rPr>
                            <a:rPr lang="de-DE" sz="2100" b="0" i="1" dirty="0" smtClean="0">
                              <a:latin typeface="Cambria Math" panose="02040503050406030204" pitchFamily="18" charset="0"/>
                            </a:rPr>
                            <m:t>d</m:t>
                          </m:r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1" name="Textfeld 30">
                <a:extLst>
                  <a:ext uri="{FF2B5EF4-FFF2-40B4-BE49-F238E27FC236}">
                    <a16:creationId xmlns:a16="http://schemas.microsoft.com/office/drawing/2014/main" id="{B0026843-EE4F-C743-CC06-61287F06D0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3146792"/>
                <a:ext cx="1993559" cy="415498"/>
              </a:xfrm>
              <a:prstGeom prst="rect">
                <a:avLst/>
              </a:prstGeom>
              <a:blipFill>
                <a:blip r:embed="rId4"/>
                <a:stretch>
                  <a:fillRect t="-8824" r="-3797" b="-2647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feld 31">
                <a:extLst>
                  <a:ext uri="{FF2B5EF4-FFF2-40B4-BE49-F238E27FC236}">
                    <a16:creationId xmlns:a16="http://schemas.microsoft.com/office/drawing/2014/main" id="{A58C3C4A-EDC7-EC7E-287A-AF7A3FB59F19}"/>
                  </a:ext>
                </a:extLst>
              </p:cNvPr>
              <p:cNvSpPr txBox="1"/>
              <p:nvPr/>
            </p:nvSpPr>
            <p:spPr>
              <a:xfrm>
                <a:off x="838200" y="6073441"/>
                <a:ext cx="2083327" cy="4154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de-DE" sz="21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100" i="1" dirty="0" smtClean="0">
                              <a:latin typeface="Cambria Math" panose="02040503050406030204" pitchFamily="18" charset="0"/>
                            </a:rPr>
                            <m:t>−320</m:t>
                          </m:r>
                          <m:r>
                            <m:rPr>
                              <m:sty m:val="p"/>
                            </m:rPr>
                            <a:rPr lang="de-DE" sz="2100" b="0" i="1" dirty="0" smtClean="0">
                              <a:latin typeface="Cambria Math" panose="02040503050406030204" pitchFamily="18" charset="0"/>
                            </a:rPr>
                            <m:t>d</m:t>
                          </m:r>
                          <m:r>
                            <m:rPr>
                              <m:lit/>
                            </m:rPr>
                            <a:rPr lang="de-DE" sz="2100" i="1" dirty="0" smtClean="0">
                              <a:latin typeface="Cambria Math" panose="02040503050406030204" pitchFamily="18" charset="0"/>
                            </a:rPr>
                            <m:t>/</m:t>
                          </m:r>
                          <m:r>
                            <m:rPr>
                              <m:lit/>
                            </m:rPr>
                            <a:rPr lang="de-DE" sz="2100" b="0" i="1" dirty="0" smtClean="0">
                              <a:latin typeface="Cambria Math" panose="02040503050406030204" pitchFamily="18" charset="0"/>
                            </a:rPr>
                            <m:t>−239</m:t>
                          </m:r>
                          <m:r>
                            <m:rPr>
                              <m:sty m:val="p"/>
                            </m:rPr>
                            <a:rPr lang="de-DE" sz="2100" b="0" i="1" dirty="0" smtClean="0">
                              <a:latin typeface="Cambria Math" panose="02040503050406030204" pitchFamily="18" charset="0"/>
                            </a:rPr>
                            <m:t>d</m:t>
                          </m:r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2" name="Textfeld 31">
                <a:extLst>
                  <a:ext uri="{FF2B5EF4-FFF2-40B4-BE49-F238E27FC236}">
                    <a16:creationId xmlns:a16="http://schemas.microsoft.com/office/drawing/2014/main" id="{A58C3C4A-EDC7-EC7E-287A-AF7A3FB59F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6073441"/>
                <a:ext cx="2083327" cy="415498"/>
              </a:xfrm>
              <a:prstGeom prst="rect">
                <a:avLst/>
              </a:prstGeom>
              <a:blipFill>
                <a:blip r:embed="rId5"/>
                <a:stretch>
                  <a:fillRect t="-9091" r="-4878" b="-3030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feld 32">
                <a:extLst>
                  <a:ext uri="{FF2B5EF4-FFF2-40B4-BE49-F238E27FC236}">
                    <a16:creationId xmlns:a16="http://schemas.microsoft.com/office/drawing/2014/main" id="{96A3B505-BB36-F437-6E53-31EFDB5DA7B0}"/>
                  </a:ext>
                </a:extLst>
              </p:cNvPr>
              <p:cNvSpPr txBox="1"/>
              <p:nvPr/>
            </p:nvSpPr>
            <p:spPr>
              <a:xfrm>
                <a:off x="9499991" y="6073441"/>
                <a:ext cx="1881349" cy="4154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de-DE" sz="21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100" i="1" dirty="0" smtClean="0">
                              <a:latin typeface="Cambria Math" panose="02040503050406030204" pitchFamily="18" charset="0"/>
                            </a:rPr>
                            <m:t>320</m:t>
                          </m:r>
                          <m:r>
                            <m:rPr>
                              <m:sty m:val="p"/>
                            </m:rPr>
                            <a:rPr lang="de-DE" sz="2100" b="0" i="1" dirty="0" smtClean="0">
                              <a:latin typeface="Cambria Math" panose="02040503050406030204" pitchFamily="18" charset="0"/>
                            </a:rPr>
                            <m:t>d</m:t>
                          </m:r>
                          <m:r>
                            <m:rPr>
                              <m:lit/>
                            </m:rPr>
                            <a:rPr lang="de-DE" sz="2100" i="1" dirty="0" smtClean="0">
                              <a:latin typeface="Cambria Math" panose="02040503050406030204" pitchFamily="18" charset="0"/>
                            </a:rPr>
                            <m:t>/</m:t>
                          </m:r>
                          <m:r>
                            <m:rPr>
                              <m:lit/>
                            </m:rPr>
                            <a:rPr lang="de-DE" sz="2100" b="0" i="1" dirty="0" smtClean="0">
                              <a:latin typeface="Cambria Math" panose="02040503050406030204" pitchFamily="18" charset="0"/>
                            </a:rPr>
                            <m:t>−239</m:t>
                          </m:r>
                          <m:r>
                            <m:rPr>
                              <m:sty m:val="p"/>
                            </m:rPr>
                            <a:rPr lang="de-DE" sz="2100" b="0" i="1" dirty="0" smtClean="0">
                              <a:latin typeface="Cambria Math" panose="02040503050406030204" pitchFamily="18" charset="0"/>
                            </a:rPr>
                            <m:t>d</m:t>
                          </m:r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3" name="Textfeld 32">
                <a:extLst>
                  <a:ext uri="{FF2B5EF4-FFF2-40B4-BE49-F238E27FC236}">
                    <a16:creationId xmlns:a16="http://schemas.microsoft.com/office/drawing/2014/main" id="{96A3B505-BB36-F437-6E53-31EFDB5DA7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99991" y="6073441"/>
                <a:ext cx="1881349" cy="415498"/>
              </a:xfrm>
              <a:prstGeom prst="rect">
                <a:avLst/>
              </a:prstGeom>
              <a:blipFill>
                <a:blip r:embed="rId6"/>
                <a:stretch>
                  <a:fillRect t="-9091" r="-4667" b="-3030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feld 33">
                <a:extLst>
                  <a:ext uri="{FF2B5EF4-FFF2-40B4-BE49-F238E27FC236}">
                    <a16:creationId xmlns:a16="http://schemas.microsoft.com/office/drawing/2014/main" id="{BFF9E082-8C8D-CD34-46D9-25588823C767}"/>
                  </a:ext>
                </a:extLst>
              </p:cNvPr>
              <p:cNvSpPr txBox="1"/>
              <p:nvPr/>
            </p:nvSpPr>
            <p:spPr>
              <a:xfrm>
                <a:off x="9495361" y="3163178"/>
                <a:ext cx="1791581" cy="4154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de-DE" sz="21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100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de-DE" sz="2100" b="0" i="1" dirty="0" smtClean="0">
                              <a:latin typeface="Cambria Math" panose="02040503050406030204" pitchFamily="18" charset="0"/>
                            </a:rPr>
                            <m:t>19</m:t>
                          </m:r>
                          <m:r>
                            <m:rPr>
                              <m:sty m:val="p"/>
                            </m:rPr>
                            <a:rPr lang="de-DE" sz="2100" b="0" i="1" dirty="0" smtClean="0">
                              <a:latin typeface="Cambria Math" panose="02040503050406030204" pitchFamily="18" charset="0"/>
                            </a:rPr>
                            <m:t>d</m:t>
                          </m:r>
                          <m:r>
                            <m:rPr>
                              <m:lit/>
                            </m:rPr>
                            <a:rPr lang="de-DE" sz="2100" i="1" dirty="0" smtClean="0">
                              <a:latin typeface="Cambria Math" panose="02040503050406030204" pitchFamily="18" charset="0"/>
                            </a:rPr>
                            <m:t>/</m:t>
                          </m:r>
                          <m:r>
                            <a:rPr lang="de-DE" sz="2100" i="1" dirty="0" smtClean="0">
                              <a:latin typeface="Cambria Math" panose="02040503050406030204" pitchFamily="18" charset="0"/>
                            </a:rPr>
                            <m:t>240</m:t>
                          </m:r>
                          <m:r>
                            <m:rPr>
                              <m:sty m:val="p"/>
                            </m:rPr>
                            <a:rPr lang="de-DE" sz="2100" b="0" i="1" dirty="0" smtClean="0">
                              <a:latin typeface="Cambria Math" panose="02040503050406030204" pitchFamily="18" charset="0"/>
                            </a:rPr>
                            <m:t>d</m:t>
                          </m:r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4" name="Textfeld 33">
                <a:extLst>
                  <a:ext uri="{FF2B5EF4-FFF2-40B4-BE49-F238E27FC236}">
                    <a16:creationId xmlns:a16="http://schemas.microsoft.com/office/drawing/2014/main" id="{BFF9E082-8C8D-CD34-46D9-25588823C7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95361" y="3163178"/>
                <a:ext cx="1791581" cy="415498"/>
              </a:xfrm>
              <a:prstGeom prst="rect">
                <a:avLst/>
              </a:prstGeom>
              <a:blipFill>
                <a:blip r:embed="rId7"/>
                <a:stretch>
                  <a:fillRect t="-9091" r="-4930" b="-3030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7" name="Bogen 46">
            <a:extLst>
              <a:ext uri="{FF2B5EF4-FFF2-40B4-BE49-F238E27FC236}">
                <a16:creationId xmlns:a16="http://schemas.microsoft.com/office/drawing/2014/main" id="{84B33D49-68E5-645C-FB49-DC38D7B8A495}"/>
              </a:ext>
            </a:extLst>
          </p:cNvPr>
          <p:cNvSpPr/>
          <p:nvPr/>
        </p:nvSpPr>
        <p:spPr>
          <a:xfrm>
            <a:off x="2234391" y="2944996"/>
            <a:ext cx="886581" cy="799930"/>
          </a:xfrm>
          <a:prstGeom prst="arc">
            <a:avLst>
              <a:gd name="adj1" fmla="val 11999773"/>
              <a:gd name="adj2" fmla="val 20019971"/>
            </a:avLst>
          </a:prstGeom>
          <a:ln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8" name="Bogen 47">
            <a:extLst>
              <a:ext uri="{FF2B5EF4-FFF2-40B4-BE49-F238E27FC236}">
                <a16:creationId xmlns:a16="http://schemas.microsoft.com/office/drawing/2014/main" id="{12B90C8F-776E-38FF-D98B-2EAD1185703C}"/>
              </a:ext>
            </a:extLst>
          </p:cNvPr>
          <p:cNvSpPr/>
          <p:nvPr/>
        </p:nvSpPr>
        <p:spPr>
          <a:xfrm flipH="1">
            <a:off x="9071029" y="2962866"/>
            <a:ext cx="933052" cy="799930"/>
          </a:xfrm>
          <a:prstGeom prst="arc">
            <a:avLst>
              <a:gd name="adj1" fmla="val 11999773"/>
              <a:gd name="adj2" fmla="val 20019971"/>
            </a:avLst>
          </a:prstGeom>
          <a:ln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1" name="Bogen 50">
            <a:extLst>
              <a:ext uri="{FF2B5EF4-FFF2-40B4-BE49-F238E27FC236}">
                <a16:creationId xmlns:a16="http://schemas.microsoft.com/office/drawing/2014/main" id="{4678FC48-C97C-CF31-77AD-A75F8ABEB29B}"/>
              </a:ext>
            </a:extLst>
          </p:cNvPr>
          <p:cNvSpPr/>
          <p:nvPr/>
        </p:nvSpPr>
        <p:spPr>
          <a:xfrm flipH="1" flipV="1">
            <a:off x="9071029" y="5938304"/>
            <a:ext cx="933052" cy="772068"/>
          </a:xfrm>
          <a:prstGeom prst="arc">
            <a:avLst>
              <a:gd name="adj1" fmla="val 11999773"/>
              <a:gd name="adj2" fmla="val 20238155"/>
            </a:avLst>
          </a:prstGeom>
          <a:ln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2" name="Bogen 51">
            <a:extLst>
              <a:ext uri="{FF2B5EF4-FFF2-40B4-BE49-F238E27FC236}">
                <a16:creationId xmlns:a16="http://schemas.microsoft.com/office/drawing/2014/main" id="{F2766B3B-960C-9AA3-8313-F2723943016E}"/>
              </a:ext>
            </a:extLst>
          </p:cNvPr>
          <p:cNvSpPr/>
          <p:nvPr/>
        </p:nvSpPr>
        <p:spPr>
          <a:xfrm flipV="1">
            <a:off x="2234391" y="5910451"/>
            <a:ext cx="886581" cy="799921"/>
          </a:xfrm>
          <a:prstGeom prst="arc">
            <a:avLst>
              <a:gd name="adj1" fmla="val 11999773"/>
              <a:gd name="adj2" fmla="val 20019971"/>
            </a:avLst>
          </a:prstGeom>
          <a:ln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9BA9DA3-E009-A754-7CF1-19D93A5DB4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3980B-2C02-594B-9C73-A951FE425682}" type="slidenum">
              <a:rPr lang="de-DE" smtClean="0"/>
              <a:t>5</a:t>
            </a:fld>
            <a:endParaRPr lang="de-DE" dirty="0"/>
          </a:p>
        </p:txBody>
      </p:sp>
      <p:sp>
        <p:nvSpPr>
          <p:cNvPr id="9" name="Fußzeilenplatzhalter 6">
            <a:extLst>
              <a:ext uri="{FF2B5EF4-FFF2-40B4-BE49-F238E27FC236}">
                <a16:creationId xmlns:a16="http://schemas.microsoft.com/office/drawing/2014/main" id="{417384DA-4E77-8137-5AF8-BA3C2327E1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88472" y="6492875"/>
            <a:ext cx="9615055" cy="365125"/>
          </a:xfrm>
        </p:spPr>
        <p:txBody>
          <a:bodyPr/>
          <a:lstStyle/>
          <a:p>
            <a:r>
              <a:rPr lang="de-DE" dirty="0"/>
              <a:t>[1]</a:t>
            </a:r>
          </a:p>
        </p:txBody>
      </p:sp>
    </p:spTree>
    <p:extLst>
      <p:ext uri="{BB962C8B-B14F-4D97-AF65-F5344CB8AC3E}">
        <p14:creationId xmlns:p14="http://schemas.microsoft.com/office/powerpoint/2010/main" val="6879998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E7BE833-A1F1-4744-1FD2-E936713D78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Julia- &amp; Mandelbrotmenge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752D63B8-6396-3591-0F91-F9A6E507362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517525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de-DE" sz="2100" dirty="0"/>
                  <a:t>Die Werte für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1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100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de-DE" sz="21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de-DE" sz="2100" dirty="0"/>
                  <a:t> und </a:t>
                </a:r>
                <a14:m>
                  <m:oMath xmlns:m="http://schemas.openxmlformats.org/officeDocument/2006/math">
                    <m:r>
                      <a:rPr lang="de-DE" sz="2100" b="0" i="1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de-DE" sz="2100" dirty="0"/>
                  <a:t> der Folge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1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100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de-DE" sz="21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de-DE" sz="21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de-DE" sz="2100" b="0" i="1" smtClean="0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de-DE" sz="21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de-DE" sz="2100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de-DE" sz="21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  <m:sup>
                        <m:r>
                          <a:rPr lang="de-DE" sz="21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de-DE" sz="21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sz="2100" b="0" i="1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de-DE" sz="2100" dirty="0"/>
                  <a:t> entscheiden über Julia-/Mandelbrotmenge: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752D63B8-6396-3591-0F91-F9A6E507362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517525"/>
              </a:xfrm>
              <a:blipFill>
                <a:blip r:embed="rId3"/>
                <a:stretch>
                  <a:fillRect l="-724" t="-1190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Grafik 4">
            <a:extLst>
              <a:ext uri="{FF2B5EF4-FFF2-40B4-BE49-F238E27FC236}">
                <a16:creationId xmlns:a16="http://schemas.microsoft.com/office/drawing/2014/main" id="{7796F471-E6B3-9403-7F33-06A794241C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16457" y="2343150"/>
            <a:ext cx="7959085" cy="3833813"/>
          </a:xfrm>
          <a:prstGeom prst="rect">
            <a:avLst/>
          </a:prstGeom>
        </p:spPr>
      </p:pic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4F7225F-1D51-734E-83AB-308DF4B733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3980B-2C02-594B-9C73-A951FE425682}" type="slidenum">
              <a:rPr lang="de-DE" smtClean="0"/>
              <a:t>6</a:t>
            </a:fld>
            <a:endParaRPr lang="de-DE" dirty="0"/>
          </a:p>
        </p:txBody>
      </p:sp>
      <p:sp>
        <p:nvSpPr>
          <p:cNvPr id="8" name="Fußzeilenplatzhalter 6">
            <a:extLst>
              <a:ext uri="{FF2B5EF4-FFF2-40B4-BE49-F238E27FC236}">
                <a16:creationId xmlns:a16="http://schemas.microsoft.com/office/drawing/2014/main" id="{1680BF89-DB0D-F9D2-4646-941D50CA3F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88472" y="6492875"/>
            <a:ext cx="9615055" cy="365125"/>
          </a:xfrm>
        </p:spPr>
        <p:txBody>
          <a:bodyPr/>
          <a:lstStyle/>
          <a:p>
            <a:r>
              <a:rPr lang="de-DE" dirty="0"/>
              <a:t>[1]</a:t>
            </a:r>
          </a:p>
        </p:txBody>
      </p:sp>
    </p:spTree>
    <p:extLst>
      <p:ext uri="{BB962C8B-B14F-4D97-AF65-F5344CB8AC3E}">
        <p14:creationId xmlns:p14="http://schemas.microsoft.com/office/powerpoint/2010/main" val="40502695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705A04-F725-44DA-B1A8-40DE82E087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7708BB6-2980-5FF6-09FA-D086E16BE6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2) Mengenberechnung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94E54D5E-C812-6FD4-4C8F-2E0BBD91965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755369" y="1489586"/>
            <a:ext cx="8681261" cy="4998777"/>
          </a:xfrm>
          <a:prstGeom prst="rect">
            <a:avLst/>
          </a:prstGeom>
        </p:spPr>
      </p:pic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96E271D-3E3B-339F-A697-A8CE1316AD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3980B-2C02-594B-9C73-A951FE425682}" type="slidenum">
              <a:rPr lang="de-DE" smtClean="0"/>
              <a:t>7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1893122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79B4AE-2123-E8DD-7B55-893D73C4A0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F05F574-1F48-C290-C7FD-97CA41A6C5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Parallelisierung der Berechnung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CBBD3D9B-DDD5-5E9E-CDDB-31E443DD80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1608" y="1690688"/>
            <a:ext cx="6948784" cy="4060434"/>
          </a:xfrm>
          <a:prstGeom prst="rect">
            <a:avLst/>
          </a:prstGeom>
        </p:spPr>
      </p:pic>
      <p:sp>
        <p:nvSpPr>
          <p:cNvPr id="8" name="Rechteck 7">
            <a:extLst>
              <a:ext uri="{FF2B5EF4-FFF2-40B4-BE49-F238E27FC236}">
                <a16:creationId xmlns:a16="http://schemas.microsoft.com/office/drawing/2014/main" id="{4429E7DE-CF40-D398-6F6E-6F14B96D61C7}"/>
              </a:ext>
            </a:extLst>
          </p:cNvPr>
          <p:cNvSpPr/>
          <p:nvPr/>
        </p:nvSpPr>
        <p:spPr>
          <a:xfrm>
            <a:off x="-122720" y="5751122"/>
            <a:ext cx="12600000" cy="74175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00" dirty="0"/>
              <a:t>Paralleles Berechnen der Werte in 40 Cores mit je 3 Stufen</a:t>
            </a:r>
          </a:p>
          <a:p>
            <a:pPr algn="ctr"/>
            <a:r>
              <a:rPr lang="de-DE" sz="2100" dirty="0"/>
              <a:t>Nutzen einer Binärbaumstruktur zur </a:t>
            </a:r>
            <a:r>
              <a:rPr lang="de-DE" sz="2100" dirty="0" err="1"/>
              <a:t>gepipelinten</a:t>
            </a:r>
            <a:r>
              <a:rPr lang="de-DE" sz="2100" dirty="0"/>
              <a:t> Verteilung und Zusammenführung der Daten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6709A9A-3B8F-E64A-ACFE-4D9AB0B08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3980B-2C02-594B-9C73-A951FE425682}" type="slidenum">
              <a:rPr lang="de-DE" smtClean="0"/>
              <a:t>8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384795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DAC5E1A-4D0F-7CB5-7112-F3BD6F5F13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Prozessor vs. FPGA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AC3156F-DDD7-D94A-C79A-CCEB0CF26E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771351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de-DE" sz="2100"/>
              <a:t>Auflösung: 640x480@60Hz 			</a:t>
            </a:r>
            <a:r>
              <a:rPr lang="de-DE" sz="2100">
                <a:sym typeface="Wingdings" pitchFamily="2" charset="2"/>
              </a:rPr>
              <a:t></a:t>
            </a:r>
            <a:r>
              <a:rPr lang="de-DE" sz="2100"/>
              <a:t> 18 432 000 Pixel pro Sekunde</a:t>
            </a:r>
          </a:p>
          <a:p>
            <a:pPr marL="0" indent="0">
              <a:buNone/>
            </a:pPr>
            <a:r>
              <a:rPr lang="de-DE" sz="2100"/>
              <a:t>Worst Case: Keine Divergenz in 100 Iterationen	</a:t>
            </a:r>
            <a:r>
              <a:rPr lang="de-DE" sz="2100">
                <a:sym typeface="Wingdings" pitchFamily="2" charset="2"/>
              </a:rPr>
              <a:t> </a:t>
            </a:r>
            <a:r>
              <a:rPr lang="de-DE" sz="2100"/>
              <a:t>1 843 200 000 Iterationen pro Sekunde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D930D2A1-5E12-A814-14A3-0791A583B7BF}"/>
              </a:ext>
            </a:extLst>
          </p:cNvPr>
          <p:cNvSpPr txBox="1"/>
          <p:nvPr/>
        </p:nvSpPr>
        <p:spPr>
          <a:xfrm>
            <a:off x="838200" y="2980283"/>
            <a:ext cx="5257800" cy="2741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Aft>
                <a:spcPts val="500"/>
              </a:spcAft>
            </a:pPr>
            <a:r>
              <a:rPr lang="de-DE" sz="2100"/>
              <a:t>Annahmen (stark vereinfacht):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DE" sz="2100"/>
              <a:t>1 Takt / Operation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DE" sz="2100"/>
              <a:t>1 Kern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DE" sz="2100"/>
              <a:t>Kern exlusiv für Berechnung genutzt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DE" sz="2100"/>
              <a:t>Vernachlässigung von Overhead</a:t>
            </a:r>
          </a:p>
          <a:p>
            <a:r>
              <a:rPr lang="de-DE" sz="2100"/>
              <a:t>13 arith. Operationen pro Iteration</a:t>
            </a:r>
          </a:p>
          <a:p>
            <a:r>
              <a:rPr lang="de-DE" sz="2100">
                <a:sym typeface="Wingdings" pitchFamily="2" charset="2"/>
              </a:rPr>
              <a:t></a:t>
            </a:r>
            <a:r>
              <a:rPr lang="de-DE" sz="2100"/>
              <a:t> 23 961 600 000 Operationen pro Sekunde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9ABC6DAF-7375-FB87-B727-B4B1C7DBF8F0}"/>
              </a:ext>
            </a:extLst>
          </p:cNvPr>
          <p:cNvSpPr/>
          <p:nvPr/>
        </p:nvSpPr>
        <p:spPr>
          <a:xfrm>
            <a:off x="838199" y="5662220"/>
            <a:ext cx="5257799" cy="50153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00"/>
              <a:t>ca. 24 GHz Taktrate erforderlich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0AFFBEE6-2816-61FA-107F-C9C54A92F271}"/>
                  </a:ext>
                </a:extLst>
              </p:cNvPr>
              <p:cNvSpPr txBox="1"/>
              <p:nvPr/>
            </p:nvSpPr>
            <p:spPr>
              <a:xfrm>
                <a:off x="6197304" y="2977559"/>
                <a:ext cx="5257800" cy="270663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200000"/>
                  </a:lnSpc>
                  <a:spcAft>
                    <a:spcPts val="500"/>
                  </a:spcAft>
                </a:pPr>
                <a:r>
                  <a:rPr lang="de-DE" sz="2100"/>
                  <a:t>40 Cores mit je 3 Stages</a:t>
                </a:r>
              </a:p>
              <a:p>
                <a:pPr marL="342900" indent="-342900">
                  <a:spcAft>
                    <a:spcPts val="1000"/>
                  </a:spcAft>
                  <a:buFont typeface="Wingdings" pitchFamily="2" charset="2"/>
                  <a:buChar char="à"/>
                </a:pPr>
                <a:r>
                  <a:rPr lang="de-DE" sz="2100">
                    <a:sym typeface="Wingdings" pitchFamily="2" charset="2"/>
                  </a:rPr>
                  <a:t>Alle 303 Takte sind 120 Pixel berechnet</a:t>
                </a:r>
              </a:p>
              <a:p>
                <a:pPr>
                  <a:spcBef>
                    <a:spcPts val="1000"/>
                  </a:spcBef>
                  <a:spcAft>
                    <a:spcPts val="10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sz="21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100" b="0" i="1" smtClean="0">
                              <a:latin typeface="Cambria Math" panose="02040503050406030204" pitchFamily="18" charset="0"/>
                            </a:rPr>
                            <m:t>18432000 </m:t>
                          </m:r>
                          <m:r>
                            <a:rPr lang="de-DE" sz="2100" b="0" i="1" smtClean="0">
                              <a:latin typeface="Cambria Math" panose="02040503050406030204" pitchFamily="18" charset="0"/>
                            </a:rPr>
                            <m:t>𝑃𝑖𝑥𝑒𝑙</m:t>
                          </m:r>
                          <m:r>
                            <m:rPr>
                              <m:lit/>
                            </m:rPr>
                            <a:rPr lang="de-DE" sz="2100" b="0" i="1" smtClean="0">
                              <a:latin typeface="Cambria Math" panose="02040503050406030204" pitchFamily="18" charset="0"/>
                            </a:rPr>
                            <m:t>/</m:t>
                          </m:r>
                          <m:r>
                            <a:rPr lang="de-DE" sz="21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num>
                        <m:den>
                          <m:r>
                            <a:rPr lang="de-DE" sz="2100" b="0" i="1" smtClean="0">
                              <a:latin typeface="Cambria Math" panose="02040503050406030204" pitchFamily="18" charset="0"/>
                            </a:rPr>
                            <m:t>120 </m:t>
                          </m:r>
                          <m:r>
                            <m:rPr>
                              <m:sty m:val="p"/>
                            </m:rPr>
                            <a:rPr lang="de-DE" sz="2100" b="0" i="1" smtClean="0">
                              <a:latin typeface="Cambria Math" panose="02040503050406030204" pitchFamily="18" charset="0"/>
                            </a:rPr>
                            <m:t>Pixel</m:t>
                          </m:r>
                        </m:den>
                      </m:f>
                      <m:r>
                        <a:rPr lang="de-DE" sz="2100" b="0" i="1" smtClean="0">
                          <a:latin typeface="Cambria Math" panose="02040503050406030204" pitchFamily="18" charset="0"/>
                        </a:rPr>
                        <m:t> ⋅303 </m:t>
                      </m:r>
                      <m:r>
                        <a:rPr lang="de-DE" sz="2100" b="0" i="1" smtClean="0">
                          <a:latin typeface="Cambria Math" panose="02040503050406030204" pitchFamily="18" charset="0"/>
                        </a:rPr>
                        <m:t>𝑇𝑎𝑘𝑡𝑒</m:t>
                      </m:r>
                      <m:r>
                        <a:rPr lang="de-DE" sz="2100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de-DE" sz="2100" b="0" i="1">
                  <a:latin typeface="Cambria Math" panose="02040503050406030204" pitchFamily="18" charset="0"/>
                </a:endParaRPr>
              </a:p>
              <a:p>
                <a:pPr>
                  <a:spcBef>
                    <a:spcPts val="1000"/>
                  </a:spcBef>
                  <a:spcAft>
                    <a:spcPts val="5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100" b="0" i="1" smtClean="0">
                          <a:latin typeface="Cambria Math" panose="02040503050406030204" pitchFamily="18" charset="0"/>
                        </a:rPr>
                        <m:t>=46540800 </m:t>
                      </m:r>
                      <m:r>
                        <m:rPr>
                          <m:sty m:val="p"/>
                        </m:rPr>
                        <a:rPr lang="de-DE" sz="2100" b="0" i="1" smtClean="0">
                          <a:latin typeface="Cambria Math" panose="02040503050406030204" pitchFamily="18" charset="0"/>
                        </a:rPr>
                        <m:t>Takte</m:t>
                      </m:r>
                      <m:r>
                        <a:rPr lang="de-DE" sz="2100" b="0" i="1" smtClean="0">
                          <a:latin typeface="Cambria Math" panose="02040503050406030204" pitchFamily="18" charset="0"/>
                        </a:rPr>
                        <m:t>/</m:t>
                      </m:r>
                      <m:r>
                        <m:rPr>
                          <m:sty m:val="p"/>
                        </m:rPr>
                        <a:rPr lang="de-DE" sz="2100" b="0" i="1" smtClean="0">
                          <a:latin typeface="Cambria Math" panose="02040503050406030204" pitchFamily="18" charset="0"/>
                        </a:rPr>
                        <m:t>s</m:t>
                      </m:r>
                    </m:oMath>
                  </m:oMathPara>
                </a14:m>
                <a:endParaRPr lang="de-DE" sz="2100"/>
              </a:p>
              <a:p>
                <a:pPr>
                  <a:spcAft>
                    <a:spcPts val="500"/>
                  </a:spcAft>
                </a:pPr>
                <a:endParaRPr lang="de-DE" sz="2100"/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0AFFBEE6-2816-61FA-107F-C9C54A92F2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97304" y="2977559"/>
                <a:ext cx="5257800" cy="2706638"/>
              </a:xfrm>
              <a:prstGeom prst="rect">
                <a:avLst/>
              </a:prstGeom>
              <a:blipFill>
                <a:blip r:embed="rId3"/>
                <a:stretch>
                  <a:fillRect l="-1449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echteck 9">
            <a:extLst>
              <a:ext uri="{FF2B5EF4-FFF2-40B4-BE49-F238E27FC236}">
                <a16:creationId xmlns:a16="http://schemas.microsoft.com/office/drawing/2014/main" id="{19D239D3-CC96-18B8-ACDD-FBD61AE18D9E}"/>
              </a:ext>
            </a:extLst>
          </p:cNvPr>
          <p:cNvSpPr/>
          <p:nvPr/>
        </p:nvSpPr>
        <p:spPr>
          <a:xfrm>
            <a:off x="6197300" y="5659496"/>
            <a:ext cx="5257799" cy="50153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00"/>
              <a:t>ca. 47 MHz Taktrate erforderlich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70640339-945A-D568-7BC0-57AEC2D9F22D}"/>
              </a:ext>
            </a:extLst>
          </p:cNvPr>
          <p:cNvSpPr/>
          <p:nvPr/>
        </p:nvSpPr>
        <p:spPr>
          <a:xfrm>
            <a:off x="838200" y="2980283"/>
            <a:ext cx="5257800" cy="3183468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81C47C24-0787-1E28-018C-7EA94489C5B7}"/>
              </a:ext>
            </a:extLst>
          </p:cNvPr>
          <p:cNvSpPr/>
          <p:nvPr/>
        </p:nvSpPr>
        <p:spPr>
          <a:xfrm>
            <a:off x="6197303" y="2977559"/>
            <a:ext cx="5257800" cy="3183468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35E28027-51B1-6925-053D-3852999FE3B0}"/>
              </a:ext>
            </a:extLst>
          </p:cNvPr>
          <p:cNvSpPr txBox="1"/>
          <p:nvPr/>
        </p:nvSpPr>
        <p:spPr>
          <a:xfrm>
            <a:off x="6320744" y="2746726"/>
            <a:ext cx="943015" cy="461665"/>
          </a:xfrm>
          <a:prstGeom prst="rect">
            <a:avLst/>
          </a:prstGeom>
          <a:solidFill>
            <a:schemeClr val="bg1"/>
          </a:solidFill>
        </p:spPr>
        <p:txBody>
          <a:bodyPr wrap="none" rtlCol="0" anchor="ctr">
            <a:spAutoFit/>
          </a:bodyPr>
          <a:lstStyle/>
          <a:p>
            <a:r>
              <a:rPr lang="de-DE" sz="2400" b="1"/>
              <a:t>FPGA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A0CFB7E8-9FD2-F929-88BD-3064E50A1F2C}"/>
              </a:ext>
            </a:extLst>
          </p:cNvPr>
          <p:cNvSpPr txBox="1"/>
          <p:nvPr/>
        </p:nvSpPr>
        <p:spPr>
          <a:xfrm>
            <a:off x="961643" y="2746726"/>
            <a:ext cx="2029723" cy="461665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de-DE" sz="2400" b="1" dirty="0" err="1"/>
              <a:t>Prozesorkern</a:t>
            </a:r>
            <a:endParaRPr lang="de-DE" sz="2400" b="1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0871AB4F-14E1-6805-823A-D91D2BE7AF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3980B-2C02-594B-9C73-A951FE425682}" type="slidenum">
              <a:rPr lang="de-DE" smtClean="0"/>
              <a:t>9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924655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0CAEFB-E44E-43BA-7A5D-80DBBFBE88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BABE887-FAFE-2E9F-EF63-15CDF6B598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3) Visualisierung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5165AFCC-5448-A38A-5974-B65622DA6AB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755369" y="1489586"/>
            <a:ext cx="8681261" cy="4998776"/>
          </a:xfrm>
          <a:prstGeom prst="rect">
            <a:avLst/>
          </a:prstGeom>
        </p:spPr>
      </p:pic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03E6945-ED2F-5E17-0940-E577F073E1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3980B-2C02-594B-9C73-A951FE425682}" type="slidenum">
              <a:rPr lang="de-DE" smtClean="0"/>
              <a:t>10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6105643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673671-729A-64A3-A2FA-DFD00DB187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F225543-BECC-13DF-BB7B-AEFC7EC5CA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Farbcodierung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BF5FA07-3AAE-5E41-A55D-37FAA1990B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68829" y="1985282"/>
            <a:ext cx="5283201" cy="3524024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de-DE" sz="2100"/>
              <a:t>Cores berechnen nur die Iterationsanzahl </a:t>
            </a:r>
            <a:endParaRPr lang="de-DE" sz="2100" dirty="0"/>
          </a:p>
          <a:p>
            <a:r>
              <a:rPr lang="de-DE" sz="2100"/>
              <a:t>Farbcodierung erfolgt erst bei der Ausgabe</a:t>
            </a:r>
          </a:p>
          <a:p>
            <a:r>
              <a:rPr lang="de-DE" sz="2100"/>
              <a:t>Farbschema zur Laufzeit wechselbar</a:t>
            </a:r>
            <a:endParaRPr lang="de-DE"/>
          </a:p>
          <a:p>
            <a:pPr marL="0" indent="0">
              <a:buNone/>
            </a:pPr>
            <a:endParaRPr lang="de-DE" sz="2100" dirty="0"/>
          </a:p>
          <a:p>
            <a:pPr marL="0" indent="0">
              <a:buNone/>
            </a:pPr>
            <a:r>
              <a:rPr lang="de-DE" sz="2100"/>
              <a:t>Farbschemata: 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de-DE" sz="2100"/>
              <a:t>Graustufen 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de-DE" sz="2100"/>
              <a:t>Schwarz-Weiß 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de-DE" sz="2100"/>
              <a:t>Blau → Grün → Gelb → Rot 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de-DE" sz="2100"/>
              <a:t>Feuer 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5BA7432-55AD-BF15-A200-71B9C392C6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3980B-2C02-594B-9C73-A951FE425682}" type="slidenum">
              <a:rPr lang="de-DE" smtClean="0"/>
              <a:t>11</a:t>
            </a:fld>
            <a:endParaRPr lang="de-DE" dirty="0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AF244251-AF87-C7E8-0D42-FBE2E569C8F7}"/>
              </a:ext>
            </a:extLst>
          </p:cNvPr>
          <p:cNvSpPr/>
          <p:nvPr/>
        </p:nvSpPr>
        <p:spPr>
          <a:xfrm>
            <a:off x="838200" y="1833655"/>
            <a:ext cx="5664200" cy="3800325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4" name="Picture 3" descr="A yellow fractal on a white wall&#10;&#10;AI-generated content may be incorrect.">
            <a:extLst>
              <a:ext uri="{FF2B5EF4-FFF2-40B4-BE49-F238E27FC236}">
                <a16:creationId xmlns:a16="http://schemas.microsoft.com/office/drawing/2014/main" id="{948290E0-8DAF-5876-411A-9435CB7CAEF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765" t="14767" r="17849" b="25770"/>
          <a:stretch>
            <a:fillRect/>
          </a:stretch>
        </p:blipFill>
        <p:spPr>
          <a:xfrm>
            <a:off x="7499413" y="692315"/>
            <a:ext cx="3738674" cy="227388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2CC3D92-7CA7-8830-D9D4-E9B66893DC9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8884" t="19048" r="12032" b="21998"/>
          <a:stretch>
            <a:fillRect/>
          </a:stretch>
        </p:blipFill>
        <p:spPr>
          <a:xfrm>
            <a:off x="7500149" y="3519715"/>
            <a:ext cx="3723077" cy="2388445"/>
          </a:xfrm>
          <a:prstGeom prst="rect">
            <a:avLst/>
          </a:prstGeom>
        </p:spPr>
      </p:pic>
      <p:sp>
        <p:nvSpPr>
          <p:cNvPr id="9" name="Rechteck 7">
            <a:extLst>
              <a:ext uri="{FF2B5EF4-FFF2-40B4-BE49-F238E27FC236}">
                <a16:creationId xmlns:a16="http://schemas.microsoft.com/office/drawing/2014/main" id="{78AD52B8-C231-6058-F3B7-05333290DE7A}"/>
              </a:ext>
            </a:extLst>
          </p:cNvPr>
          <p:cNvSpPr/>
          <p:nvPr/>
        </p:nvSpPr>
        <p:spPr>
          <a:xfrm>
            <a:off x="7286824" y="2608779"/>
            <a:ext cx="4167200" cy="52403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de-DE" sz="2100"/>
              <a:t>Farbschema: Feuer</a:t>
            </a:r>
            <a:endParaRPr lang="de-DE" sz="2100" dirty="0"/>
          </a:p>
        </p:txBody>
      </p:sp>
      <p:sp>
        <p:nvSpPr>
          <p:cNvPr id="10" name="Rechteck 7">
            <a:extLst>
              <a:ext uri="{FF2B5EF4-FFF2-40B4-BE49-F238E27FC236}">
                <a16:creationId xmlns:a16="http://schemas.microsoft.com/office/drawing/2014/main" id="{94772185-235B-C03A-824F-A449A186BE3C}"/>
              </a:ext>
            </a:extLst>
          </p:cNvPr>
          <p:cNvSpPr/>
          <p:nvPr/>
        </p:nvSpPr>
        <p:spPr>
          <a:xfrm>
            <a:off x="7286823" y="5381007"/>
            <a:ext cx="4167200" cy="52403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de-DE" sz="2100"/>
              <a:t>Farbschema: Graustufen</a:t>
            </a:r>
            <a:endParaRPr lang="de-DE" sz="2100" dirty="0"/>
          </a:p>
        </p:txBody>
      </p:sp>
    </p:spTree>
    <p:extLst>
      <p:ext uri="{BB962C8B-B14F-4D97-AF65-F5344CB8AC3E}">
        <p14:creationId xmlns:p14="http://schemas.microsoft.com/office/powerpoint/2010/main" val="22599799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C483806-A22C-85D9-5174-72B7867699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>
                <a:ea typeface="+mj-lt"/>
                <a:cs typeface="+mj-lt"/>
              </a:rPr>
              <a:t>Speicheroptimierung und Bildausgabe</a:t>
            </a:r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A9CB8E1-C601-4295-2AA1-6F2F1788F9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3980B-2C02-594B-9C73-A951FE425682}" type="slidenum">
              <a:rPr lang="de-DE" smtClean="0"/>
              <a:t>12</a:t>
            </a:fld>
            <a:endParaRPr lang="de-DE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A73AB165-E14E-B53F-C964-6095C65C6108}"/>
              </a:ext>
            </a:extLst>
          </p:cNvPr>
          <p:cNvSpPr txBox="1"/>
          <p:nvPr/>
        </p:nvSpPr>
        <p:spPr>
          <a:xfrm>
            <a:off x="1042388" y="2331522"/>
            <a:ext cx="3596574" cy="94510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de-DE" dirty="0" err="1">
                <a:ea typeface="+mn-lt"/>
                <a:cs typeface="+mn-lt"/>
              </a:rPr>
              <a:t>Framebuffer</a:t>
            </a:r>
            <a:r>
              <a:rPr lang="de-DE" dirty="0">
                <a:ea typeface="+mn-lt"/>
                <a:cs typeface="+mn-lt"/>
              </a:rPr>
              <a:t> speichert RGB-Werte</a:t>
            </a:r>
            <a:endParaRPr lang="de-DE" dirty="0"/>
          </a:p>
          <a:p>
            <a:r>
              <a:rPr lang="de-DE">
                <a:ea typeface="+mn-lt"/>
                <a:cs typeface="+mn-lt"/>
              </a:rPr>
              <a:t>640 × 480 × 12 Bit</a:t>
            </a:r>
            <a:endParaRPr lang="de-DE"/>
          </a:p>
          <a:p>
            <a:r>
              <a:rPr lang="de-DE">
                <a:ea typeface="+mn-lt"/>
                <a:cs typeface="+mn-lt"/>
              </a:rPr>
              <a:t>= 3.686.400 Bit</a:t>
            </a:r>
            <a:endParaRPr lang="de-DE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C0041C89-578B-64BF-DA30-93E186870194}"/>
              </a:ext>
            </a:extLst>
          </p:cNvPr>
          <p:cNvSpPr txBox="1"/>
          <p:nvPr/>
        </p:nvSpPr>
        <p:spPr>
          <a:xfrm>
            <a:off x="1044038" y="4655127"/>
            <a:ext cx="3912589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de-DE" dirty="0" err="1">
                <a:ea typeface="+mn-lt"/>
                <a:cs typeface="+mn-lt"/>
              </a:rPr>
              <a:t>Framebuffer</a:t>
            </a:r>
            <a:r>
              <a:rPr lang="de-DE" dirty="0">
                <a:ea typeface="+mn-lt"/>
                <a:cs typeface="+mn-lt"/>
              </a:rPr>
              <a:t> speichert Iterationen</a:t>
            </a:r>
            <a:endParaRPr lang="de-DE" dirty="0"/>
          </a:p>
          <a:p>
            <a:r>
              <a:rPr lang="de-DE">
                <a:ea typeface="+mn-lt"/>
                <a:cs typeface="+mn-lt"/>
              </a:rPr>
              <a:t>640 × 480 × 9 Bit</a:t>
            </a:r>
            <a:endParaRPr lang="de-DE"/>
          </a:p>
          <a:p>
            <a:r>
              <a:rPr lang="de-DE">
                <a:ea typeface="+mn-lt"/>
                <a:cs typeface="+mn-lt"/>
              </a:rPr>
              <a:t>= 2.764.800 Bit</a:t>
            </a:r>
            <a:endParaRPr lang="de-DE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121F7F0C-91FB-6E2C-3856-908B6E411239}"/>
              </a:ext>
            </a:extLst>
          </p:cNvPr>
          <p:cNvSpPr txBox="1"/>
          <p:nvPr/>
        </p:nvSpPr>
        <p:spPr>
          <a:xfrm>
            <a:off x="6167912" y="3546434"/>
            <a:ext cx="4057732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Arial"/>
              <a:buChar char="•"/>
            </a:pPr>
            <a:r>
              <a:rPr lang="de-DE">
                <a:ea typeface="+mn-lt"/>
                <a:cs typeface="+mn-lt"/>
              </a:rPr>
              <a:t>~25 % weniger Speicherbedarf </a:t>
            </a:r>
            <a:endParaRPr lang="de-DE"/>
          </a:p>
          <a:p>
            <a:pPr marL="285750" indent="-285750">
              <a:buFont typeface="Arial"/>
              <a:buChar char="•"/>
            </a:pPr>
            <a:r>
              <a:rPr lang="de-DE">
                <a:ea typeface="+mn-lt"/>
                <a:cs typeface="+mn-lt"/>
              </a:rPr>
              <a:t>VGA-Ausgabe mit 640×480 @ 60 Hz </a:t>
            </a:r>
            <a:endParaRPr lang="de-DE"/>
          </a:p>
          <a:p>
            <a:pPr marL="285750" indent="-285750">
              <a:buFont typeface="Arial"/>
              <a:buChar char="•"/>
            </a:pPr>
            <a:r>
              <a:rPr lang="de-DE">
                <a:ea typeface="+mn-lt"/>
                <a:cs typeface="+mn-lt"/>
              </a:rPr>
              <a:t>Pixeltakt ca. 25 MHz</a:t>
            </a:r>
            <a:endParaRPr lang="de-DE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CF7C5772-FFAB-9045-9EAC-9D83431A99B2}"/>
              </a:ext>
            </a:extLst>
          </p:cNvPr>
          <p:cNvSpPr/>
          <p:nvPr/>
        </p:nvSpPr>
        <p:spPr>
          <a:xfrm>
            <a:off x="6048829" y="3372169"/>
            <a:ext cx="4220029" cy="1282097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FAF53C63-EA9C-9251-1BA2-AD50EAF31496}"/>
              </a:ext>
            </a:extLst>
          </p:cNvPr>
          <p:cNvSpPr/>
          <p:nvPr/>
        </p:nvSpPr>
        <p:spPr>
          <a:xfrm>
            <a:off x="925286" y="2116684"/>
            <a:ext cx="4053114" cy="1601410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340FB149-009D-C044-D194-94C0430590E1}"/>
              </a:ext>
            </a:extLst>
          </p:cNvPr>
          <p:cNvSpPr txBox="1"/>
          <p:nvPr/>
        </p:nvSpPr>
        <p:spPr>
          <a:xfrm>
            <a:off x="1039748" y="1877291"/>
            <a:ext cx="2821710" cy="461665"/>
          </a:xfrm>
          <a:prstGeom prst="rect">
            <a:avLst/>
          </a:prstGeom>
          <a:solidFill>
            <a:schemeClr val="bg1"/>
          </a:soli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de-DE" sz="2400" b="1"/>
              <a:t>Ursprüngliche Idee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4AA8CB4E-3139-D985-7A4A-FF4AFEB7FAD2}"/>
              </a:ext>
            </a:extLst>
          </p:cNvPr>
          <p:cNvSpPr/>
          <p:nvPr/>
        </p:nvSpPr>
        <p:spPr>
          <a:xfrm>
            <a:off x="925285" y="4380912"/>
            <a:ext cx="4045858" cy="1601411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A9FDF06F-5F41-909A-19C0-502FA12CC67E}"/>
              </a:ext>
            </a:extLst>
          </p:cNvPr>
          <p:cNvSpPr txBox="1"/>
          <p:nvPr/>
        </p:nvSpPr>
        <p:spPr>
          <a:xfrm>
            <a:off x="1040740" y="4146797"/>
            <a:ext cx="2921660" cy="461665"/>
          </a:xfrm>
          <a:prstGeom prst="rect">
            <a:avLst/>
          </a:prstGeom>
          <a:solidFill>
            <a:schemeClr val="bg1"/>
          </a:soli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de-DE" sz="2400" b="1"/>
              <a:t>Umgesetzte Lösung</a:t>
            </a:r>
          </a:p>
        </p:txBody>
      </p:sp>
    </p:spTree>
    <p:extLst>
      <p:ext uri="{BB962C8B-B14F-4D97-AF65-F5344CB8AC3E}">
        <p14:creationId xmlns:p14="http://schemas.microsoft.com/office/powerpoint/2010/main" val="19775903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E554F2-FA40-F155-A50D-4985CC43BB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82ABA57-FEC3-A1D0-E936-FFC88F7828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4) Steuerung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99F38EBB-1A25-147A-D4C7-137E55707C1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755370" y="1489586"/>
            <a:ext cx="8681259" cy="4998776"/>
          </a:xfrm>
          <a:prstGeom prst="rect">
            <a:avLst/>
          </a:prstGeom>
        </p:spPr>
      </p:pic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28A7AEF-E6A9-7F75-E976-51766D21D3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3980B-2C02-594B-9C73-A951FE425682}" type="slidenum">
              <a:rPr lang="de-DE" smtClean="0"/>
              <a:t>13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9271183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CA8277-978F-7C6F-15A6-BF622E6C20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EB6049C-E794-B7A3-E582-D7EFD5F010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>
                <a:ea typeface="+mj-lt"/>
                <a:cs typeface="+mj-lt"/>
              </a:rPr>
              <a:t>Steuerung über </a:t>
            </a:r>
            <a:r>
              <a:rPr lang="de-DE" dirty="0" err="1">
                <a:ea typeface="+mj-lt"/>
                <a:cs typeface="+mj-lt"/>
              </a:rPr>
              <a:t>MicroBlaze</a:t>
            </a:r>
            <a:r>
              <a:rPr lang="de-DE" dirty="0">
                <a:ea typeface="+mj-lt"/>
                <a:cs typeface="+mj-lt"/>
              </a:rPr>
              <a:t> und UART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4EB4A93-4072-4650-9012-861B2F5AB5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3980B-2C02-594B-9C73-A951FE425682}" type="slidenum">
              <a:rPr lang="de-DE" smtClean="0"/>
              <a:t>14</a:t>
            </a:fld>
            <a:endParaRPr lang="de-DE" dirty="0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49D0F191-4538-4A13-DB2D-864D7511E53C}"/>
              </a:ext>
            </a:extLst>
          </p:cNvPr>
          <p:cNvSpPr txBox="1"/>
          <p:nvPr/>
        </p:nvSpPr>
        <p:spPr>
          <a:xfrm>
            <a:off x="1128486" y="1604818"/>
            <a:ext cx="152400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de-DE"/>
              <a:t>Benutzer</a:t>
            </a:r>
            <a:endParaRPr lang="en-US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13CB833B-F55D-D02B-2E1E-BC75CF3AD960}"/>
              </a:ext>
            </a:extLst>
          </p:cNvPr>
          <p:cNvSpPr txBox="1"/>
          <p:nvPr/>
        </p:nvSpPr>
        <p:spPr>
          <a:xfrm>
            <a:off x="1033813" y="2645558"/>
            <a:ext cx="1743363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de-DE"/>
              <a:t>UART-Konsole</a:t>
            </a:r>
            <a:endParaRPr lang="en-US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FA67A4BF-8D46-EC08-9548-7A6DD24EA469}"/>
              </a:ext>
            </a:extLst>
          </p:cNvPr>
          <p:cNvSpPr txBox="1"/>
          <p:nvPr/>
        </p:nvSpPr>
        <p:spPr>
          <a:xfrm>
            <a:off x="1117600" y="3705430"/>
            <a:ext cx="1537524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de-DE" dirty="0" err="1"/>
              <a:t>MicroBla</a:t>
            </a:r>
            <a:r>
              <a:rPr lang="de-DE" dirty="0" err="1">
                <a:solidFill>
                  <a:srgbClr val="000000"/>
                </a:solidFill>
                <a:latin typeface="Aptos"/>
              </a:rPr>
              <a:t>ze</a:t>
            </a:r>
            <a:endParaRPr lang="de-DE" dirty="0" err="1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D5FCAC23-7F6D-C180-317C-BC578C9974A2}"/>
              </a:ext>
            </a:extLst>
          </p:cNvPr>
          <p:cNvSpPr txBox="1"/>
          <p:nvPr/>
        </p:nvSpPr>
        <p:spPr>
          <a:xfrm>
            <a:off x="734621" y="4755078"/>
            <a:ext cx="230909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de-DE"/>
              <a:t>AXI-Lite Register</a:t>
            </a:r>
            <a:endParaRPr lang="en-US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758792F2-3ACB-C6DA-A7F2-0C36E07EA4D9}"/>
              </a:ext>
            </a:extLst>
          </p:cNvPr>
          <p:cNvSpPr txBox="1"/>
          <p:nvPr/>
        </p:nvSpPr>
        <p:spPr>
          <a:xfrm>
            <a:off x="300511" y="5725886"/>
            <a:ext cx="190500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de-DE" dirty="0"/>
              <a:t>Init</a:t>
            </a:r>
            <a:r>
              <a:rPr lang="de-DE"/>
              <a:t>ialwerte</a:t>
            </a:r>
            <a:endParaRPr lang="en-US"/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5F31B198-17AF-4490-699A-5D8661C92EE0}"/>
              </a:ext>
            </a:extLst>
          </p:cNvPr>
          <p:cNvSpPr txBox="1"/>
          <p:nvPr/>
        </p:nvSpPr>
        <p:spPr>
          <a:xfrm>
            <a:off x="2903186" y="5724566"/>
            <a:ext cx="168530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de-DE" dirty="0"/>
              <a:t>Farb</a:t>
            </a:r>
            <a:r>
              <a:rPr lang="de-DE"/>
              <a:t>schema</a:t>
            </a:r>
            <a:endParaRPr lang="en-US"/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B176685B-4E8A-FD7E-41CD-66F0D9BF111C}"/>
              </a:ext>
            </a:extLst>
          </p:cNvPr>
          <p:cNvSpPr txBox="1"/>
          <p:nvPr/>
        </p:nvSpPr>
        <p:spPr>
          <a:xfrm>
            <a:off x="5579754" y="2373744"/>
            <a:ext cx="4820061" cy="147732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Arial"/>
              <a:buChar char="•"/>
            </a:pPr>
            <a:r>
              <a:rPr lang="de-DE">
                <a:ea typeface="+mn-lt"/>
                <a:cs typeface="+mn-lt"/>
              </a:rPr>
              <a:t>Laufzeitkonfiguration ohne neue Synthese </a:t>
            </a:r>
            <a:endParaRPr lang="de-DE"/>
          </a:p>
          <a:p>
            <a:pPr marL="285750" indent="-285750">
              <a:buFont typeface="Arial"/>
              <a:buChar char="•"/>
            </a:pPr>
            <a:r>
              <a:rPr lang="de-DE">
                <a:ea typeface="+mn-lt"/>
                <a:cs typeface="+mn-lt"/>
              </a:rPr>
              <a:t>Auswahl von Mandelbrot- und Julia-Modi </a:t>
            </a:r>
            <a:endParaRPr lang="de-DE"/>
          </a:p>
          <a:p>
            <a:pPr marL="285750" indent="-285750">
              <a:buFont typeface="Arial"/>
              <a:buChar char="•"/>
            </a:pPr>
            <a:r>
              <a:rPr lang="de-DE">
                <a:ea typeface="+mn-lt"/>
                <a:cs typeface="+mn-lt"/>
              </a:rPr>
              <a:t>Zoom und Animationsgeschwindigkeit </a:t>
            </a:r>
            <a:endParaRPr lang="de-DE"/>
          </a:p>
          <a:p>
            <a:pPr marL="285750" indent="-285750">
              <a:buFont typeface="Arial"/>
              <a:buChar char="•"/>
            </a:pPr>
            <a:r>
              <a:rPr lang="de-DE">
                <a:ea typeface="+mn-lt"/>
                <a:cs typeface="+mn-lt"/>
              </a:rPr>
              <a:t>LFSR- und Diamond-Parameter </a:t>
            </a:r>
            <a:endParaRPr lang="de-DE"/>
          </a:p>
          <a:p>
            <a:pPr marL="285750" indent="-285750">
              <a:buFont typeface="Arial"/>
              <a:buChar char="•"/>
            </a:pPr>
            <a:r>
              <a:rPr lang="de-DE">
                <a:ea typeface="+mn-lt"/>
                <a:cs typeface="+mn-lt"/>
              </a:rPr>
              <a:t>Farbschema konfigurierbar</a:t>
            </a:r>
            <a:endParaRPr lang="de-DE"/>
          </a:p>
        </p:txBody>
      </p:sp>
      <p:cxnSp>
        <p:nvCxnSpPr>
          <p:cNvPr id="15" name="Verbinder: gewinkelt 14">
            <a:extLst>
              <a:ext uri="{FF2B5EF4-FFF2-40B4-BE49-F238E27FC236}">
                <a16:creationId xmlns:a16="http://schemas.microsoft.com/office/drawing/2014/main" id="{576E06BB-FFC1-F4B9-D321-913A938C9B47}"/>
              </a:ext>
            </a:extLst>
          </p:cNvPr>
          <p:cNvCxnSpPr/>
          <p:nvPr/>
        </p:nvCxnSpPr>
        <p:spPr>
          <a:xfrm>
            <a:off x="1895763" y="2011549"/>
            <a:ext cx="2968" cy="548904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" name="Rechteck 13">
            <a:extLst>
              <a:ext uri="{FF2B5EF4-FFF2-40B4-BE49-F238E27FC236}">
                <a16:creationId xmlns:a16="http://schemas.microsoft.com/office/drawing/2014/main" id="{FD42E074-B764-F01B-15CF-D78A9396F2F5}"/>
              </a:ext>
            </a:extLst>
          </p:cNvPr>
          <p:cNvSpPr/>
          <p:nvPr/>
        </p:nvSpPr>
        <p:spPr>
          <a:xfrm>
            <a:off x="1026886" y="1557884"/>
            <a:ext cx="1752600" cy="462039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 13">
            <a:extLst>
              <a:ext uri="{FF2B5EF4-FFF2-40B4-BE49-F238E27FC236}">
                <a16:creationId xmlns:a16="http://schemas.microsoft.com/office/drawing/2014/main" id="{ED73F2AA-F415-EE8C-CE19-A6C73D61A472}"/>
              </a:ext>
            </a:extLst>
          </p:cNvPr>
          <p:cNvSpPr/>
          <p:nvPr/>
        </p:nvSpPr>
        <p:spPr>
          <a:xfrm>
            <a:off x="1026885" y="2595655"/>
            <a:ext cx="1752600" cy="462039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" name="Rechteck 13">
            <a:extLst>
              <a:ext uri="{FF2B5EF4-FFF2-40B4-BE49-F238E27FC236}">
                <a16:creationId xmlns:a16="http://schemas.microsoft.com/office/drawing/2014/main" id="{0861E76F-2588-E727-D744-50A190E44B14}"/>
              </a:ext>
            </a:extLst>
          </p:cNvPr>
          <p:cNvSpPr/>
          <p:nvPr/>
        </p:nvSpPr>
        <p:spPr>
          <a:xfrm>
            <a:off x="1005113" y="3655196"/>
            <a:ext cx="1752600" cy="462039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Rechteck 13">
            <a:extLst>
              <a:ext uri="{FF2B5EF4-FFF2-40B4-BE49-F238E27FC236}">
                <a16:creationId xmlns:a16="http://schemas.microsoft.com/office/drawing/2014/main" id="{9C15B6C7-0EC5-58BA-7129-9ED3B013C193}"/>
              </a:ext>
            </a:extLst>
          </p:cNvPr>
          <p:cNvSpPr/>
          <p:nvPr/>
        </p:nvSpPr>
        <p:spPr>
          <a:xfrm>
            <a:off x="939797" y="4707481"/>
            <a:ext cx="1883228" cy="440268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1" name="Verbinder: gewinkelt 14">
            <a:extLst>
              <a:ext uri="{FF2B5EF4-FFF2-40B4-BE49-F238E27FC236}">
                <a16:creationId xmlns:a16="http://schemas.microsoft.com/office/drawing/2014/main" id="{B822ECD4-D887-FD4E-78F7-80ECE03535E2}"/>
              </a:ext>
            </a:extLst>
          </p:cNvPr>
          <p:cNvCxnSpPr>
            <a:cxnSpLocks/>
          </p:cNvCxnSpPr>
          <p:nvPr/>
        </p:nvCxnSpPr>
        <p:spPr>
          <a:xfrm>
            <a:off x="1881248" y="3063834"/>
            <a:ext cx="2968" cy="548904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Verbinder: gewinkelt 14">
            <a:extLst>
              <a:ext uri="{FF2B5EF4-FFF2-40B4-BE49-F238E27FC236}">
                <a16:creationId xmlns:a16="http://schemas.microsoft.com/office/drawing/2014/main" id="{A49E6884-DA81-E522-5838-8FDD36325344}"/>
              </a:ext>
            </a:extLst>
          </p:cNvPr>
          <p:cNvCxnSpPr>
            <a:cxnSpLocks/>
          </p:cNvCxnSpPr>
          <p:nvPr/>
        </p:nvCxnSpPr>
        <p:spPr>
          <a:xfrm>
            <a:off x="1873990" y="4123376"/>
            <a:ext cx="2968" cy="548904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Rechteck 13">
            <a:extLst>
              <a:ext uri="{FF2B5EF4-FFF2-40B4-BE49-F238E27FC236}">
                <a16:creationId xmlns:a16="http://schemas.microsoft.com/office/drawing/2014/main" id="{6B4C3D0B-8671-9870-0155-BCB4F2E4C955}"/>
              </a:ext>
            </a:extLst>
          </p:cNvPr>
          <p:cNvSpPr/>
          <p:nvPr/>
        </p:nvSpPr>
        <p:spPr>
          <a:xfrm>
            <a:off x="373741" y="5679938"/>
            <a:ext cx="1752600" cy="462039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" name="Rechteck 13">
            <a:extLst>
              <a:ext uri="{FF2B5EF4-FFF2-40B4-BE49-F238E27FC236}">
                <a16:creationId xmlns:a16="http://schemas.microsoft.com/office/drawing/2014/main" id="{92BF46CA-F953-A77B-F497-5C179B5BEB25}"/>
              </a:ext>
            </a:extLst>
          </p:cNvPr>
          <p:cNvSpPr/>
          <p:nvPr/>
        </p:nvSpPr>
        <p:spPr>
          <a:xfrm>
            <a:off x="2870198" y="5679938"/>
            <a:ext cx="1752600" cy="462039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485C3814-DB70-C604-B766-ED15D50DF305}"/>
              </a:ext>
            </a:extLst>
          </p:cNvPr>
          <p:cNvCxnSpPr/>
          <p:nvPr/>
        </p:nvCxnSpPr>
        <p:spPr>
          <a:xfrm>
            <a:off x="1886197" y="5168075"/>
            <a:ext cx="1384" cy="270823"/>
          </a:xfrm>
          <a:prstGeom prst="straightConnector1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80C42D7A-0C16-33E7-AF2A-6CE5BFEC53C0}"/>
              </a:ext>
            </a:extLst>
          </p:cNvPr>
          <p:cNvCxnSpPr/>
          <p:nvPr/>
        </p:nvCxnSpPr>
        <p:spPr>
          <a:xfrm>
            <a:off x="1217221" y="5446815"/>
            <a:ext cx="2562821" cy="11545"/>
          </a:xfrm>
          <a:prstGeom prst="straightConnector1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645A3372-D29F-C2AE-2492-6EBE021A50B6}"/>
              </a:ext>
            </a:extLst>
          </p:cNvPr>
          <p:cNvCxnSpPr/>
          <p:nvPr/>
        </p:nvCxnSpPr>
        <p:spPr>
          <a:xfrm flipH="1">
            <a:off x="1218077" y="5449454"/>
            <a:ext cx="5740" cy="2193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D3766EFB-9D8C-90A0-32F8-BC082C6AECA2}"/>
              </a:ext>
            </a:extLst>
          </p:cNvPr>
          <p:cNvCxnSpPr>
            <a:cxnSpLocks/>
          </p:cNvCxnSpPr>
          <p:nvPr/>
        </p:nvCxnSpPr>
        <p:spPr>
          <a:xfrm flipH="1">
            <a:off x="3772590" y="5449453"/>
            <a:ext cx="5740" cy="2193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" name="Rechteck 13">
            <a:extLst>
              <a:ext uri="{FF2B5EF4-FFF2-40B4-BE49-F238E27FC236}">
                <a16:creationId xmlns:a16="http://schemas.microsoft.com/office/drawing/2014/main" id="{C9BA192F-3C47-31E0-2FD2-79EC6AB4DC6B}"/>
              </a:ext>
            </a:extLst>
          </p:cNvPr>
          <p:cNvSpPr/>
          <p:nvPr/>
        </p:nvSpPr>
        <p:spPr>
          <a:xfrm>
            <a:off x="5301342" y="2145711"/>
            <a:ext cx="5090885" cy="1913468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5" name="Textfeld 6">
            <a:extLst>
              <a:ext uri="{FF2B5EF4-FFF2-40B4-BE49-F238E27FC236}">
                <a16:creationId xmlns:a16="http://schemas.microsoft.com/office/drawing/2014/main" id="{B6EFF2CD-FC2E-D778-4611-90F6CF2BD840}"/>
              </a:ext>
            </a:extLst>
          </p:cNvPr>
          <p:cNvSpPr txBox="1"/>
          <p:nvPr/>
        </p:nvSpPr>
        <p:spPr>
          <a:xfrm>
            <a:off x="5488377" y="1906319"/>
            <a:ext cx="2074225" cy="461665"/>
          </a:xfrm>
          <a:prstGeom prst="rect">
            <a:avLst/>
          </a:prstGeom>
          <a:solidFill>
            <a:schemeClr val="bg1"/>
          </a:soli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de-DE" sz="2400" b="1"/>
              <a:t>Konfiguration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262374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2E31ECD-4C56-06C7-D350-99003145DB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Literatur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88FE007-6E0A-97B9-9737-2D8C83663A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sz="1300" dirty="0"/>
              <a:t>[1] G. Völkel, „Fraktale Geometrie: Julia Mengen”, Universität Ulm, 2007. </a:t>
            </a:r>
            <a:br>
              <a:rPr lang="de-DE" sz="1300" dirty="0"/>
            </a:br>
            <a:r>
              <a:rPr lang="de-DE" sz="1300" dirty="0">
                <a:hlinkClick r:id="rId2"/>
              </a:rPr>
              <a:t>https://www.mathematik.uni-ulm.de/stochastik/lehre/ws06_07/seminar_fraktale/ausarbeitung_voelkel.pdf</a:t>
            </a:r>
            <a:r>
              <a:rPr lang="de-DE" sz="1300" dirty="0"/>
              <a:t> (Zugriff: 15.06.2026)</a:t>
            </a:r>
          </a:p>
          <a:p>
            <a:r>
              <a:rPr lang="de-DE" sz="1300" dirty="0"/>
              <a:t>[2] D. Datta, B. Datta und  H. S. Dutta, „Design and </a:t>
            </a:r>
            <a:r>
              <a:rPr lang="de-DE" sz="1300" dirty="0" err="1"/>
              <a:t>implementation</a:t>
            </a:r>
            <a:r>
              <a:rPr lang="de-DE" sz="1300" dirty="0"/>
              <a:t> </a:t>
            </a:r>
            <a:r>
              <a:rPr lang="de-DE" sz="1300" dirty="0" err="1"/>
              <a:t>of</a:t>
            </a:r>
            <a:r>
              <a:rPr lang="de-DE" sz="1300" dirty="0"/>
              <a:t> </a:t>
            </a:r>
            <a:r>
              <a:rPr lang="de-DE" sz="1300" dirty="0" err="1"/>
              <a:t>multibit</a:t>
            </a:r>
            <a:r>
              <a:rPr lang="de-DE" sz="1300" dirty="0"/>
              <a:t> LFSR on FPGA </a:t>
            </a:r>
            <a:r>
              <a:rPr lang="de-DE" sz="1300" dirty="0" err="1"/>
              <a:t>to</a:t>
            </a:r>
            <a:r>
              <a:rPr lang="de-DE" sz="1300" dirty="0"/>
              <a:t> </a:t>
            </a:r>
            <a:r>
              <a:rPr lang="de-DE" sz="1300" dirty="0" err="1"/>
              <a:t>generate</a:t>
            </a:r>
            <a:r>
              <a:rPr lang="de-DE" sz="1300" dirty="0"/>
              <a:t> </a:t>
            </a:r>
            <a:r>
              <a:rPr lang="de-DE" sz="1300" dirty="0" err="1"/>
              <a:t>pseudorandom</a:t>
            </a:r>
            <a:r>
              <a:rPr lang="de-DE" sz="1300" dirty="0"/>
              <a:t> </a:t>
            </a:r>
            <a:r>
              <a:rPr lang="de-DE" sz="1300" dirty="0" err="1"/>
              <a:t>sequence</a:t>
            </a:r>
            <a:r>
              <a:rPr lang="de-DE" sz="1300" dirty="0"/>
              <a:t> </a:t>
            </a:r>
            <a:r>
              <a:rPr lang="de-DE" sz="1300" dirty="0" err="1"/>
              <a:t>number</a:t>
            </a:r>
            <a:r>
              <a:rPr lang="de-DE" sz="1300" dirty="0"/>
              <a:t>”, 2017 Devices </a:t>
            </a:r>
            <a:r>
              <a:rPr lang="de-DE" sz="1300" dirty="0" err="1"/>
              <a:t>for</a:t>
            </a:r>
            <a:r>
              <a:rPr lang="de-DE" sz="1300" dirty="0"/>
              <a:t> Integrated Circuit (DevIC), Kalyani, India, pp. 346–349, 2017. </a:t>
            </a:r>
            <a:r>
              <a:rPr lang="de-DE" sz="1300" dirty="0" err="1"/>
              <a:t>doi</a:t>
            </a:r>
            <a:r>
              <a:rPr lang="de-DE" sz="1300" dirty="0"/>
              <a:t>: 10.1109/DEVIC.2017.8073966.</a:t>
            </a:r>
          </a:p>
          <a:p>
            <a:r>
              <a:rPr lang="de-DE" sz="1300" dirty="0"/>
              <a:t>[3] R. Merrick, </a:t>
            </a:r>
            <a:r>
              <a:rPr lang="de-DE" sz="1300" i="1" dirty="0"/>
              <a:t>Getting </a:t>
            </a:r>
            <a:r>
              <a:rPr lang="de-DE" sz="1300" i="1" dirty="0" err="1"/>
              <a:t>Started</a:t>
            </a:r>
            <a:r>
              <a:rPr lang="de-DE" sz="1300" i="1" dirty="0"/>
              <a:t> </a:t>
            </a:r>
            <a:r>
              <a:rPr lang="de-DE" sz="1300" i="1" dirty="0" err="1"/>
              <a:t>with</a:t>
            </a:r>
            <a:r>
              <a:rPr lang="de-DE" sz="1300" i="1" dirty="0"/>
              <a:t> FPGAs: Digital Circuit Design, </a:t>
            </a:r>
            <a:r>
              <a:rPr lang="de-DE" sz="1300" i="1" dirty="0" err="1"/>
              <a:t>Verilog</a:t>
            </a:r>
            <a:r>
              <a:rPr lang="de-DE" sz="1300" i="1" dirty="0"/>
              <a:t>, and VHDL </a:t>
            </a:r>
            <a:r>
              <a:rPr lang="de-DE" sz="1300" i="1" dirty="0" err="1"/>
              <a:t>for</a:t>
            </a:r>
            <a:r>
              <a:rPr lang="de-DE" sz="1300" i="1" dirty="0"/>
              <a:t> Beginners, </a:t>
            </a:r>
            <a:r>
              <a:rPr lang="de-DE" sz="1300" i="1" dirty="0" err="1"/>
              <a:t>No</a:t>
            </a:r>
            <a:r>
              <a:rPr lang="de-DE" sz="1300" i="1" dirty="0"/>
              <a:t> Starch Press, 2023.</a:t>
            </a:r>
          </a:p>
          <a:p>
            <a:r>
              <a:rPr lang="de-DE" sz="1300" dirty="0"/>
              <a:t>[4] Xilinx, „7 Series DSP48E1 Slice User Guide (UG 479)“, 2018. </a:t>
            </a:r>
            <a:br>
              <a:rPr lang="de-DE" sz="1300" dirty="0"/>
            </a:br>
            <a:r>
              <a:rPr lang="de-DE" sz="1300" dirty="0">
                <a:hlinkClick r:id="rId3"/>
              </a:rPr>
              <a:t>https://docs.amd.com/v/u/en-US/ug479_7Series_DSP48E1</a:t>
            </a:r>
            <a:r>
              <a:rPr lang="de-DE" sz="1300" dirty="0"/>
              <a:t> (Zugriff: 15.06.2026)</a:t>
            </a:r>
            <a:endParaRPr lang="de-DE" sz="1300" b="1" dirty="0"/>
          </a:p>
          <a:p>
            <a:endParaRPr lang="de-DE" sz="130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3AEC4AD-256C-75B3-7729-607793F943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3980B-2C02-594B-9C73-A951FE425682}" type="slidenum">
              <a:rPr lang="de-DE" smtClean="0"/>
              <a:t>15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109997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953ABC-64DF-0A41-D9B8-C73FDE53EB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6BFD6E57-E331-76E7-A2DD-5D08E2AD043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2223" b="1"/>
          <a:stretch>
            <a:fillRect/>
          </a:stretch>
        </p:blipFill>
        <p:spPr>
          <a:xfrm>
            <a:off x="-54461" y="-29772"/>
            <a:ext cx="12297871" cy="6917543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3B98BB18-5F0B-4E2A-C399-6718D8A1CB8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0" y="325550"/>
            <a:ext cx="10058400" cy="3574778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/>
          <a:p>
            <a:r>
              <a:rPr lang="de-DE" sz="5200">
                <a:solidFill>
                  <a:srgbClr val="FFFFFF"/>
                </a:solidFill>
              </a:rPr>
              <a:t>FractalCore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697B6EBE-3DE2-5443-F30C-68C06D4D593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00051" y="4072043"/>
            <a:ext cx="10058400" cy="1282707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/>
          <a:p>
            <a:r>
              <a:rPr lang="de-DE">
                <a:solidFill>
                  <a:srgbClr val="FFFFFF"/>
                </a:solidFill>
              </a:rPr>
              <a:t>Markus Remy, Thomas Schiergl</a:t>
            </a:r>
          </a:p>
        </p:txBody>
      </p:sp>
    </p:spTree>
    <p:extLst>
      <p:ext uri="{BB962C8B-B14F-4D97-AF65-F5344CB8AC3E}">
        <p14:creationId xmlns:p14="http://schemas.microsoft.com/office/powerpoint/2010/main" val="208505425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9918E7D-F881-577C-DC8B-F8BACD7715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BACKUP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83D25E9-EC4D-BFD0-ED89-E875A9FD4A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1932862-AF49-5E81-7F3C-962191D44A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3980B-2C02-594B-9C73-A951FE425682}" type="slidenum">
              <a:rPr lang="de-DE" smtClean="0"/>
              <a:t>17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1661375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767810-F7BC-50DD-93F3-7CF89A9141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02FC251-3727-ED51-8DB9-9EC95AB755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1) Initialwerterzeugung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0AD21EF7-4ACA-B687-643B-D630CFBA48C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747533" y="1489586"/>
            <a:ext cx="8696933" cy="4998777"/>
          </a:xfrm>
          <a:prstGeom prst="rect">
            <a:avLst/>
          </a:prstGeom>
        </p:spPr>
      </p:pic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3E41A1A-2791-62A3-B8D4-1CBFAF4492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3980B-2C02-594B-9C73-A951FE425682}" type="slidenum">
              <a:rPr lang="de-DE" smtClean="0"/>
              <a:t>18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70326404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A3B46D-1276-6BCF-B7B3-B2A91CA3DF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85EA8C6-DA1D-EFAB-F1C1-CB0A2971D5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Juliamenge - Animationsmodi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7203243-A96B-453F-0774-106E833FDC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36961"/>
            <a:ext cx="4680000" cy="4140001"/>
          </a:xfrm>
        </p:spPr>
        <p:txBody>
          <a:bodyPr numCol="1">
            <a:normAutofit/>
          </a:bodyPr>
          <a:lstStyle/>
          <a:p>
            <a:pPr marL="0" indent="0">
              <a:lnSpc>
                <a:spcPct val="200000"/>
              </a:lnSpc>
              <a:buNone/>
            </a:pPr>
            <a:r>
              <a:rPr lang="de-DE" sz="2100"/>
              <a:t>Animationsverlauf:</a:t>
            </a:r>
          </a:p>
          <a:p>
            <a:pPr lvl="1">
              <a:lnSpc>
                <a:spcPct val="100000"/>
              </a:lnSpc>
            </a:pPr>
            <a:r>
              <a:rPr lang="de-DE" sz="2100"/>
              <a:t>Rautenförmig</a:t>
            </a:r>
          </a:p>
          <a:p>
            <a:pPr lvl="1">
              <a:lnSpc>
                <a:spcPct val="100000"/>
              </a:lnSpc>
            </a:pPr>
            <a:r>
              <a:rPr lang="de-DE" sz="2100"/>
              <a:t>Rautenecken als Ziele</a:t>
            </a:r>
          </a:p>
          <a:p>
            <a:pPr lvl="1">
              <a:lnSpc>
                <a:spcPct val="100000"/>
              </a:lnSpc>
            </a:pPr>
            <a:r>
              <a:rPr lang="de-DE" sz="2100"/>
              <a:t>Gegenuhrzeigersinn</a:t>
            </a:r>
          </a:p>
          <a:p>
            <a:pPr lvl="1">
              <a:lnSpc>
                <a:spcPct val="100000"/>
              </a:lnSpc>
            </a:pPr>
            <a:r>
              <a:rPr lang="de-DE" sz="2100"/>
              <a:t>Ziele sind Punkte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de-DE" sz="2100"/>
              <a:t>Einstellungsmöglichkeiten:</a:t>
            </a:r>
          </a:p>
          <a:p>
            <a:pPr lvl="1">
              <a:lnSpc>
                <a:spcPct val="100000"/>
              </a:lnSpc>
            </a:pPr>
            <a:r>
              <a:rPr lang="de-DE" sz="2100"/>
              <a:t>Breite (Re)</a:t>
            </a:r>
          </a:p>
          <a:p>
            <a:pPr lvl="1">
              <a:lnSpc>
                <a:spcPct val="100000"/>
              </a:lnSpc>
            </a:pPr>
            <a:r>
              <a:rPr lang="de-DE" sz="2100"/>
              <a:t>Höhe (Im)</a:t>
            </a:r>
          </a:p>
        </p:txBody>
      </p:sp>
      <p:sp>
        <p:nvSpPr>
          <p:cNvPr id="10" name="Inhaltsplatzhalter 2">
            <a:extLst>
              <a:ext uri="{FF2B5EF4-FFF2-40B4-BE49-F238E27FC236}">
                <a16:creationId xmlns:a16="http://schemas.microsoft.com/office/drawing/2014/main" id="{E6D3BF09-7044-8CEC-0EEC-E7A64E1BB380}"/>
              </a:ext>
            </a:extLst>
          </p:cNvPr>
          <p:cNvSpPr txBox="1">
            <a:spLocks/>
          </p:cNvSpPr>
          <p:nvPr/>
        </p:nvSpPr>
        <p:spPr>
          <a:xfrm>
            <a:off x="6096000" y="2036961"/>
            <a:ext cx="5257800" cy="4140002"/>
          </a:xfrm>
          <a:prstGeom prst="rect">
            <a:avLst/>
          </a:prstGeom>
        </p:spPr>
        <p:txBody>
          <a:bodyPr vert="horz" lIns="91440" tIns="45720" rIns="91440" bIns="45720" numCol="1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200000"/>
              </a:lnSpc>
              <a:buFont typeface="Arial" panose="020B0604020202020204" pitchFamily="34" charset="0"/>
              <a:buNone/>
            </a:pPr>
            <a:r>
              <a:rPr lang="de-DE" sz="2100"/>
              <a:t>Animationsverlauf:</a:t>
            </a:r>
          </a:p>
          <a:p>
            <a:pPr lvl="1">
              <a:lnSpc>
                <a:spcPct val="100000"/>
              </a:lnSpc>
            </a:pPr>
            <a:r>
              <a:rPr lang="de-DE" sz="2100"/>
              <a:t>Ziel je Dimension (=&gt; 2x LFSR)</a:t>
            </a:r>
          </a:p>
          <a:p>
            <a:pPr lvl="1">
              <a:lnSpc>
                <a:spcPct val="100000"/>
              </a:lnSpc>
            </a:pPr>
            <a:r>
              <a:rPr lang="de-DE" sz="2100"/>
              <a:t>LFSR-Wert als Ziel (pro Dim.)</a:t>
            </a:r>
          </a:p>
          <a:p>
            <a:pPr lvl="1">
              <a:lnSpc>
                <a:spcPct val="100000"/>
              </a:lnSpc>
            </a:pPr>
            <a:r>
              <a:rPr lang="de-DE" sz="2100"/>
              <a:t>Ziele sind Geraden parallel zur jeweiligen Achse</a:t>
            </a: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de-DE" sz="2100"/>
              <a:t>Einstellungsmöglichkeiten:</a:t>
            </a: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de-DE" sz="2100"/>
              <a:t>	- LFSR XOR Masken (Re &amp; Im)</a:t>
            </a: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de-DE" sz="2100"/>
              <a:t>	- LFSR Seeds (Re &amp; Im)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B601A2E6-1829-DDDF-96F0-74AC83CC25A5}"/>
              </a:ext>
            </a:extLst>
          </p:cNvPr>
          <p:cNvSpPr/>
          <p:nvPr/>
        </p:nvSpPr>
        <p:spPr>
          <a:xfrm>
            <a:off x="838200" y="2036963"/>
            <a:ext cx="4680000" cy="4140000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A3A54CFC-9A3B-945A-86FF-6BF4EB6D4D69}"/>
              </a:ext>
            </a:extLst>
          </p:cNvPr>
          <p:cNvSpPr/>
          <p:nvPr/>
        </p:nvSpPr>
        <p:spPr>
          <a:xfrm>
            <a:off x="6096000" y="2036963"/>
            <a:ext cx="5257800" cy="4140000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19B1ABDC-8035-E0F0-E022-89F1ABB107FF}"/>
              </a:ext>
            </a:extLst>
          </p:cNvPr>
          <p:cNvSpPr txBox="1"/>
          <p:nvPr/>
        </p:nvSpPr>
        <p:spPr>
          <a:xfrm>
            <a:off x="1014045" y="1806128"/>
            <a:ext cx="1463862" cy="461665"/>
          </a:xfrm>
          <a:prstGeom prst="rect">
            <a:avLst/>
          </a:prstGeom>
          <a:solidFill>
            <a:schemeClr val="bg1"/>
          </a:solidFill>
        </p:spPr>
        <p:txBody>
          <a:bodyPr wrap="none" rtlCol="0" anchor="ctr">
            <a:spAutoFit/>
          </a:bodyPr>
          <a:lstStyle/>
          <a:p>
            <a:r>
              <a:rPr lang="de-DE" sz="2400" b="1"/>
              <a:t>Diamond</a:t>
            </a: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DB734855-6EFE-FC03-CAC7-771CE2881A64}"/>
              </a:ext>
            </a:extLst>
          </p:cNvPr>
          <p:cNvSpPr txBox="1"/>
          <p:nvPr/>
        </p:nvSpPr>
        <p:spPr>
          <a:xfrm>
            <a:off x="6330460" y="1837386"/>
            <a:ext cx="4411510" cy="399148"/>
          </a:xfrm>
          <a:prstGeom prst="rect">
            <a:avLst/>
          </a:prstGeom>
          <a:solidFill>
            <a:schemeClr val="bg1"/>
          </a:solidFill>
        </p:spPr>
        <p:txBody>
          <a:bodyPr wrap="square" rtlCol="0" anchor="ctr">
            <a:spAutoFit/>
          </a:bodyPr>
          <a:lstStyle/>
          <a:p>
            <a:pPr>
              <a:lnSpc>
                <a:spcPct val="80000"/>
              </a:lnSpc>
              <a:spcBef>
                <a:spcPts val="1000"/>
              </a:spcBef>
            </a:pPr>
            <a:r>
              <a:rPr lang="de-DE" sz="2400" b="1"/>
              <a:t>LFSR </a:t>
            </a:r>
            <a:r>
              <a:rPr lang="de-DE" sz="2000"/>
              <a:t>(Linear Feedback Shift Register)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576D5CC3-FBC3-6A76-C3B9-FF39C0A116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3980B-2C02-594B-9C73-A951FE425682}" type="slidenum">
              <a:rPr lang="de-DE" smtClean="0"/>
              <a:t>19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67351308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AA80D71-9E92-53E7-E579-05EC2F8BC8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LFSR - Aufbau und Funktion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BFEC09BB-1F2F-CB88-0E56-BE5198364D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690688"/>
            <a:ext cx="12206988" cy="4148667"/>
          </a:xfrm>
          <a:prstGeom prst="rect">
            <a:avLst/>
          </a:prstGeom>
        </p:spPr>
      </p:pic>
      <p:sp>
        <p:nvSpPr>
          <p:cNvPr id="6" name="Rechteck 5">
            <a:extLst>
              <a:ext uri="{FF2B5EF4-FFF2-40B4-BE49-F238E27FC236}">
                <a16:creationId xmlns:a16="http://schemas.microsoft.com/office/drawing/2014/main" id="{FB67ACBF-8189-83F5-3283-8402B2B4F9A9}"/>
              </a:ext>
            </a:extLst>
          </p:cNvPr>
          <p:cNvSpPr/>
          <p:nvPr/>
        </p:nvSpPr>
        <p:spPr>
          <a:xfrm>
            <a:off x="-122720" y="5979308"/>
            <a:ext cx="12600000" cy="51356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00" dirty="0"/>
              <a:t>Pseudozufällige Zielwerte durch die Nutzung zweier 17 Bit LFSRs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710381E-4804-9267-DF98-63C737484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3980B-2C02-594B-9C73-A951FE425682}" type="slidenum">
              <a:rPr lang="de-DE" smtClean="0"/>
              <a:t>20</a:t>
            </a:fld>
            <a:endParaRPr lang="de-DE" dirty="0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E07B1DAA-10B2-561E-81AB-D770E31D8A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481039"/>
            <a:ext cx="11099800" cy="365125"/>
          </a:xfrm>
        </p:spPr>
        <p:txBody>
          <a:bodyPr/>
          <a:lstStyle/>
          <a:p>
            <a:r>
              <a:rPr lang="de-DE" i="1" dirty="0"/>
              <a:t>[2], [3]</a:t>
            </a:r>
          </a:p>
        </p:txBody>
      </p:sp>
    </p:spTree>
    <p:extLst>
      <p:ext uri="{BB962C8B-B14F-4D97-AF65-F5344CB8AC3E}">
        <p14:creationId xmlns:p14="http://schemas.microsoft.com/office/powerpoint/2010/main" val="170343492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A46F02-49E5-0E2F-5DB7-F742CB2290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347A8B3-8355-1EC3-78A8-38F3EF7285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2) Mengenberechnung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E36B7B0B-00AB-A489-DA95-CCE47F8C712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755369" y="1489586"/>
            <a:ext cx="8681261" cy="4998777"/>
          </a:xfrm>
          <a:prstGeom prst="rect">
            <a:avLst/>
          </a:prstGeom>
        </p:spPr>
      </p:pic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6138FC8-1745-1F1B-2B58-25CD9499E8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3980B-2C02-594B-9C73-A951FE425682}" type="slidenum">
              <a:rPr lang="de-DE" smtClean="0"/>
              <a:t>21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84107385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46970F0-2053-6135-A6A9-CC082F37C8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Berechnungsimplementierung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Inhaltsplatzhalter 2">
                <a:extLst>
                  <a:ext uri="{FF2B5EF4-FFF2-40B4-BE49-F238E27FC236}">
                    <a16:creationId xmlns:a16="http://schemas.microsoft.com/office/drawing/2014/main" id="{44151155-0A40-54FB-2237-22D6CD95E9A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199" y="4287444"/>
                <a:ext cx="10515601" cy="220543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fontScale="925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endParaRPr lang="de-DE" sz="2200"/>
              </a:p>
              <a:p>
                <a:pPr marL="0" indent="0">
                  <a:spcAft>
                    <a:spcPts val="500"/>
                  </a:spcAft>
                  <a:buFont typeface="Arial" panose="020B0604020202020204" pitchFamily="34" charset="0"/>
                  <a:buNone/>
                </a:pPr>
                <a:r>
                  <a:rPr lang="de-DE" sz="2300"/>
                  <a:t>Divergenz: </a:t>
                </a:r>
              </a:p>
              <a:p>
                <a:pPr marL="457200" lvl="1" indent="0">
                  <a:spcAft>
                    <a:spcPts val="500"/>
                  </a:spcAft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de-DE" sz="23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sz="23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de-DE" sz="2300" i="1">
                          <a:latin typeface="Cambria Math" panose="02040503050406030204" pitchFamily="18" charset="0"/>
                        </a:rPr>
                        <m:t>&lt;2⇔</m:t>
                      </m:r>
                      <m:d>
                        <m:dPr>
                          <m:begChr m:val="|"/>
                          <m:endChr m:val="|"/>
                          <m:ctrlPr>
                            <a:rPr lang="de-DE" sz="23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sz="23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𝑅𝑒</m:t>
                              </m:r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de-DE" sz="23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de-DE" sz="2300" i="1">
                              <a:latin typeface="Cambria Math" panose="02040503050406030204" pitchFamily="18" charset="0"/>
                            </a:rPr>
                            <m:t>𝑖</m:t>
                          </m:r>
                          <m:sSub>
                            <m:sSubPr>
                              <m:ctrlPr>
                                <a:rPr lang="de-DE" sz="23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𝐼𝑚</m:t>
                              </m:r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de-DE" sz="2300" i="1">
                          <a:latin typeface="Cambria Math" panose="02040503050406030204" pitchFamily="18" charset="0"/>
                        </a:rPr>
                        <m:t>&lt;2⇔</m:t>
                      </m:r>
                      <m:rad>
                        <m:radPr>
                          <m:degHide m:val="on"/>
                          <m:ctrlPr>
                            <a:rPr lang="de-DE" sz="2300"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bSup>
                            <m:sSubSupPr>
                              <m:ctrlPr>
                                <a:rPr lang="de-DE" sz="23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𝑅𝑒</m:t>
                              </m:r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  <m:sup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de-DE" sz="2300" i="1"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de-DE" sz="23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𝐼𝑚</m:t>
                              </m:r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  <m:sup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de-DE" sz="230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rad>
                      <m:r>
                        <a:rPr lang="de-DE" sz="2300" i="1">
                          <a:latin typeface="Cambria Math" panose="02040503050406030204" pitchFamily="18" charset="0"/>
                        </a:rPr>
                        <m:t>&lt;</m:t>
                      </m:r>
                      <m:r>
                        <a:rPr lang="de-DE" sz="230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de-DE" sz="2300" i="1">
                          <a:latin typeface="Cambria Math" panose="02040503050406030204" pitchFamily="18" charset="0"/>
                        </a:rPr>
                        <m:t>⇔</m:t>
                      </m:r>
                      <m:sSubSup>
                        <m:sSubSupPr>
                          <m:ctrlPr>
                            <a:rPr lang="de-DE" sz="23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de-DE" sz="2300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de-DE" sz="2300" i="1">
                              <a:latin typeface="Cambria Math" panose="02040503050406030204" pitchFamily="18" charset="0"/>
                            </a:rPr>
                            <m:t>𝑅𝑒</m:t>
                          </m:r>
                          <m:r>
                            <a:rPr lang="de-DE" sz="23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de-DE" sz="23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>
                          <m:r>
                            <a:rPr lang="de-DE" sz="23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de-DE" sz="2300" i="1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de-DE" sz="23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de-DE" sz="2300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de-DE" sz="2300" i="1">
                              <a:latin typeface="Cambria Math" panose="02040503050406030204" pitchFamily="18" charset="0"/>
                            </a:rPr>
                            <m:t>𝐼𝑚</m:t>
                          </m:r>
                          <m:r>
                            <a:rPr lang="de-DE" sz="23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de-DE" sz="23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>
                          <m:r>
                            <a:rPr lang="de-DE" sz="23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de-DE" sz="2300" i="1">
                          <a:latin typeface="Cambria Math" panose="02040503050406030204" pitchFamily="18" charset="0"/>
                        </a:rPr>
                        <m:t>&lt;4</m:t>
                      </m:r>
                    </m:oMath>
                  </m:oMathPara>
                </a14:m>
                <a:endParaRPr lang="de-DE" sz="2300"/>
              </a:p>
              <a:p>
                <a:pPr marL="0" indent="0">
                  <a:spcAft>
                    <a:spcPts val="1000"/>
                  </a:spcAft>
                  <a:buFont typeface="Arial" panose="020B0604020202020204" pitchFamily="34" charset="0"/>
                  <a:buNone/>
                </a:pPr>
                <a:r>
                  <a:rPr lang="de-DE" sz="2300"/>
                  <a:t>Konvergenz: </a:t>
                </a:r>
              </a:p>
              <a:p>
                <a:pPr marL="457200" lvl="1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DE" sz="2300" i="1">
                          <a:latin typeface="Cambria Math" panose="02040503050406030204" pitchFamily="18" charset="0"/>
                        </a:rPr>
                        <m:t>n</m:t>
                      </m:r>
                      <m:r>
                        <a:rPr lang="de-DE" sz="2300" i="1">
                          <a:latin typeface="Cambria Math" panose="02040503050406030204" pitchFamily="18" charset="0"/>
                        </a:rPr>
                        <m:t> = </m:t>
                      </m:r>
                      <m:r>
                        <m:rPr>
                          <m:sty m:val="p"/>
                        </m:rPr>
                        <a:rPr lang="de-DE" sz="2300" i="1">
                          <a:latin typeface="Cambria Math" panose="02040503050406030204" pitchFamily="18" charset="0"/>
                        </a:rPr>
                        <m:t>m</m:t>
                      </m:r>
                    </m:oMath>
                  </m:oMathPara>
                </a14:m>
                <a:endParaRPr lang="de-DE" sz="2300" i="1">
                  <a:latin typeface="Cambria Math" panose="02040503050406030204" pitchFamily="18" charset="0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de-DE"/>
              </a:p>
            </p:txBody>
          </p:sp>
        </mc:Choice>
        <mc:Fallback xmlns="">
          <p:sp>
            <p:nvSpPr>
              <p:cNvPr id="6" name="Inhaltsplatzhalter 2">
                <a:extLst>
                  <a:ext uri="{FF2B5EF4-FFF2-40B4-BE49-F238E27FC236}">
                    <a16:creationId xmlns:a16="http://schemas.microsoft.com/office/drawing/2014/main" id="{44151155-0A40-54FB-2237-22D6CD95E9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199" y="4287444"/>
                <a:ext cx="10515601" cy="2205430"/>
              </a:xfrm>
              <a:prstGeom prst="rect">
                <a:avLst/>
              </a:prstGeom>
              <a:blipFill>
                <a:blip r:embed="rId2"/>
                <a:stretch>
                  <a:fillRect l="-60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echteck 10">
            <a:extLst>
              <a:ext uri="{FF2B5EF4-FFF2-40B4-BE49-F238E27FC236}">
                <a16:creationId xmlns:a16="http://schemas.microsoft.com/office/drawing/2014/main" id="{8175C193-2DB7-4B7E-4EB8-388DF971ACDD}"/>
              </a:ext>
            </a:extLst>
          </p:cNvPr>
          <p:cNvSpPr/>
          <p:nvPr/>
        </p:nvSpPr>
        <p:spPr>
          <a:xfrm>
            <a:off x="838199" y="4287444"/>
            <a:ext cx="10515601" cy="2205429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2A910224-0DC8-435E-5723-43D6B0C7EC5C}"/>
              </a:ext>
            </a:extLst>
          </p:cNvPr>
          <p:cNvSpPr txBox="1"/>
          <p:nvPr/>
        </p:nvSpPr>
        <p:spPr>
          <a:xfrm>
            <a:off x="954249" y="4056610"/>
            <a:ext cx="3346814" cy="461665"/>
          </a:xfrm>
          <a:prstGeom prst="rect">
            <a:avLst/>
          </a:prstGeom>
          <a:solidFill>
            <a:schemeClr val="bg1"/>
          </a:solidFill>
        </p:spPr>
        <p:txBody>
          <a:bodyPr wrap="none" rtlCol="0" anchor="ctr">
            <a:spAutoFit/>
          </a:bodyPr>
          <a:lstStyle/>
          <a:p>
            <a:r>
              <a:rPr lang="de-DE" sz="2400" b="1"/>
              <a:t>Abbruchsbedingungen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Inhaltsplatzhalter 2">
                <a:extLst>
                  <a:ext uri="{FF2B5EF4-FFF2-40B4-BE49-F238E27FC236}">
                    <a16:creationId xmlns:a16="http://schemas.microsoft.com/office/drawing/2014/main" id="{766F5731-6251-9FE6-A143-35E2B34741F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199" y="1849335"/>
                <a:ext cx="10515601" cy="2007221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endParaRPr lang="de-DE" sz="2000" dirty="0"/>
              </a:p>
              <a:p>
                <a:pPr marL="0" indent="0">
                  <a:spcAft>
                    <a:spcPts val="2500"/>
                  </a:spcAft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de-DE" sz="2100" i="1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de-DE" sz="21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de-DE" sz="21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sz="2100" i="1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de-DE" sz="2100" i="1">
                          <a:latin typeface="Cambria Math" panose="02040503050406030204" pitchFamily="18" charset="0"/>
                        </a:rPr>
                        <m:t>⇔</m:t>
                      </m:r>
                      <m:sSub>
                        <m:sSubPr>
                          <m:ctrlPr>
                            <a:rPr lang="de-DE" sz="2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𝑅𝑒</m:t>
                          </m:r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de-DE" sz="21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sz="2100" i="1">
                          <a:latin typeface="Cambria Math" panose="02040503050406030204" pitchFamily="18" charset="0"/>
                        </a:rPr>
                        <m:t>𝑖</m:t>
                      </m:r>
                      <m:sSub>
                        <m:sSubPr>
                          <m:ctrlPr>
                            <a:rPr lang="de-DE" sz="2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𝐼𝑚</m:t>
                          </m:r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de-DE" sz="2100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de-DE" sz="21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de-DE" sz="21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de-DE" sz="21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100" i="1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  <m:sub>
                                  <m:r>
                                    <a:rPr lang="de-DE" sz="2100" i="1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  <m:r>
                                    <a:rPr lang="de-DE" sz="21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de-DE" sz="21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de-DE" sz="21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de-DE" sz="21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sSub>
                                <m:sSubPr>
                                  <m:ctrlPr>
                                    <a:rPr lang="de-DE" sz="21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100" i="1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  <m:sub>
                                  <m:r>
                                    <a:rPr lang="de-DE" sz="21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de-DE" sz="21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de-DE" sz="21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de-DE" sz="21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2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</m:sSub>
                      <m:r>
                        <a:rPr lang="de-DE" sz="21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sz="2100" i="1">
                          <a:latin typeface="Cambria Math" panose="02040503050406030204" pitchFamily="18" charset="0"/>
                        </a:rPr>
                        <m:t>𝑖</m:t>
                      </m:r>
                      <m:sSub>
                        <m:sSubPr>
                          <m:ctrlPr>
                            <a:rPr lang="de-DE" sz="2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de-DE" sz="2100" dirty="0"/>
              </a:p>
              <a:p>
                <a:pPr marL="0" indent="0">
                  <a:spcAft>
                    <a:spcPts val="1000"/>
                  </a:spcAft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1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100" i="1">
                              <a:latin typeface="Cambria Math" panose="02040503050406030204" pitchFamily="18" charset="0"/>
                            </a:rPr>
                            <m:t>Re</m:t>
                          </m:r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de-DE" sz="21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de-DE" sz="21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sz="21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1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2100" i="1">
                                  <a:latin typeface="Cambria Math" panose="02040503050406030204" pitchFamily="18" charset="0"/>
                                </a:rPr>
                                <m:t>Re</m:t>
                              </m:r>
                              <m:r>
                                <a:rPr lang="de-DE" sz="2100" i="1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de-DE" sz="21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de-DE" sz="21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1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2100" i="1">
                                  <a:latin typeface="Cambria Math" panose="02040503050406030204" pitchFamily="18" charset="0"/>
                                </a:rPr>
                                <m:t>Im</m:t>
                              </m:r>
                              <m:r>
                                <a:rPr lang="de-DE" sz="21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de-DE" sz="21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de-DE" sz="2100" b="0" i="1" smtClean="0">
                          <a:latin typeface="Cambria Math" panose="02040503050406030204" pitchFamily="18" charset="0"/>
                        </a:rPr>
                        <m:t> ⋅</m:t>
                      </m:r>
                      <m:d>
                        <m:dPr>
                          <m:ctrlPr>
                            <a:rPr lang="de-DE" sz="21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sz="21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1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2100" i="1">
                                  <a:latin typeface="Cambria Math" panose="02040503050406030204" pitchFamily="18" charset="0"/>
                                </a:rPr>
                                <m:t>Re</m:t>
                              </m:r>
                              <m:r>
                                <a:rPr lang="de-DE" sz="21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de-DE" sz="21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–</m:t>
                          </m:r>
                          <m:sSub>
                            <m:sSubPr>
                              <m:ctrlPr>
                                <a:rPr lang="de-DE" sz="21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1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2100" i="1">
                                  <a:latin typeface="Cambria Math" panose="02040503050406030204" pitchFamily="18" charset="0"/>
                                </a:rPr>
                                <m:t>Im</m:t>
                              </m:r>
                              <m:r>
                                <a:rPr lang="de-DE" sz="21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de-DE" sz="21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de-DE" sz="21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2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100" i="1">
                              <a:latin typeface="Cambria Math" panose="02040503050406030204" pitchFamily="18" charset="0"/>
                            </a:rPr>
                            <m:t>Re</m:t>
                          </m:r>
                        </m:sub>
                      </m:sSub>
                    </m:oMath>
                  </m:oMathPara>
                </a14:m>
                <a:endParaRPr lang="de-DE" sz="2100" dirty="0"/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1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100" i="1">
                              <a:latin typeface="Cambria Math" panose="02040503050406030204" pitchFamily="18" charset="0"/>
                            </a:rPr>
                            <m:t>z</m:t>
                          </m:r>
                        </m:e>
                        <m:sub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𝐼𝑚</m:t>
                          </m:r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de-DE" sz="21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de-DE" sz="21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sz="21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1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de-DE" sz="2100" i="1">
                                  <a:latin typeface="Cambria Math" panose="02040503050406030204" pitchFamily="18" charset="0"/>
                                </a:rPr>
                                <m:t>𝑅𝑒</m:t>
                              </m:r>
                              <m:r>
                                <a:rPr lang="de-DE" sz="21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de-DE" sz="21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de-DE" sz="21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1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de-DE" sz="2100" i="1">
                                  <a:latin typeface="Cambria Math" panose="02040503050406030204" pitchFamily="18" charset="0"/>
                                </a:rPr>
                                <m:t>𝑅𝑒</m:t>
                              </m:r>
                              <m:r>
                                <a:rPr lang="de-DE" sz="21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de-DE" sz="21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de-DE" sz="2100" b="0" i="1" smtClean="0">
                          <a:latin typeface="Cambria Math" panose="02040503050406030204" pitchFamily="18" charset="0"/>
                        </a:rPr>
                        <m:t> ⋅</m:t>
                      </m:r>
                      <m:sSub>
                        <m:sSubPr>
                          <m:ctrlPr>
                            <a:rPr lang="de-DE" sz="2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𝐼𝑚</m:t>
                          </m:r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de-DE" sz="21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2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𝐼𝑚</m:t>
                          </m:r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de-DE" sz="2100" dirty="0"/>
              </a:p>
            </p:txBody>
          </p:sp>
        </mc:Choice>
        <mc:Fallback xmlns="">
          <p:sp>
            <p:nvSpPr>
              <p:cNvPr id="5" name="Inhaltsplatzhalter 2">
                <a:extLst>
                  <a:ext uri="{FF2B5EF4-FFF2-40B4-BE49-F238E27FC236}">
                    <a16:creationId xmlns:a16="http://schemas.microsoft.com/office/drawing/2014/main" id="{766F5731-6251-9FE6-A143-35E2B34741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199" y="1849335"/>
                <a:ext cx="10515601" cy="200722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hteck 3">
            <a:extLst>
              <a:ext uri="{FF2B5EF4-FFF2-40B4-BE49-F238E27FC236}">
                <a16:creationId xmlns:a16="http://schemas.microsoft.com/office/drawing/2014/main" id="{CA4E01EE-CBBC-5F4E-93FE-1BBAB6DCB94F}"/>
              </a:ext>
            </a:extLst>
          </p:cNvPr>
          <p:cNvSpPr/>
          <p:nvPr/>
        </p:nvSpPr>
        <p:spPr>
          <a:xfrm>
            <a:off x="838199" y="1849336"/>
            <a:ext cx="10515601" cy="2007220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4B17C85E-F775-0DA4-1897-1C945A5BB114}"/>
              </a:ext>
            </a:extLst>
          </p:cNvPr>
          <p:cNvSpPr txBox="1"/>
          <p:nvPr/>
        </p:nvSpPr>
        <p:spPr>
          <a:xfrm>
            <a:off x="935680" y="1618501"/>
            <a:ext cx="2791085" cy="461665"/>
          </a:xfrm>
          <a:prstGeom prst="rect">
            <a:avLst/>
          </a:prstGeom>
          <a:solidFill>
            <a:schemeClr val="bg1"/>
          </a:solidFill>
        </p:spPr>
        <p:txBody>
          <a:bodyPr wrap="none" rtlCol="0" anchor="ctr">
            <a:spAutoFit/>
          </a:bodyPr>
          <a:lstStyle/>
          <a:p>
            <a:r>
              <a:rPr lang="de-DE" sz="2400" b="1"/>
              <a:t>Folgenberechnung</a:t>
            </a:r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E600E28D-B405-0408-A30C-FE3B423FEE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3980B-2C02-594B-9C73-A951FE425682}" type="slidenum">
              <a:rPr lang="de-DE" smtClean="0"/>
              <a:t>22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2475957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815AE2-F354-80B1-6898-332EACF665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E461526-1282-F015-2D7F-916CC1CC70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Berechnungsimplementierung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Inhaltsplatzhalter 2">
                <a:extLst>
                  <a:ext uri="{FF2B5EF4-FFF2-40B4-BE49-F238E27FC236}">
                    <a16:creationId xmlns:a16="http://schemas.microsoft.com/office/drawing/2014/main" id="{A62E790F-2956-7A79-42A5-A0A3D4ACC226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199" y="4287444"/>
                <a:ext cx="10515601" cy="220543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fontScale="925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endParaRPr lang="de-DE" sz="2200" dirty="0"/>
              </a:p>
              <a:p>
                <a:pPr marL="0" indent="0">
                  <a:spcAft>
                    <a:spcPts val="500"/>
                  </a:spcAft>
                  <a:buFont typeface="Arial" panose="020B0604020202020204" pitchFamily="34" charset="0"/>
                  <a:buNone/>
                </a:pPr>
                <a:r>
                  <a:rPr lang="de-DE" sz="2300" dirty="0"/>
                  <a:t>Divergenz: </a:t>
                </a:r>
              </a:p>
              <a:p>
                <a:pPr marL="457200" lvl="1" indent="0">
                  <a:spcAft>
                    <a:spcPts val="500"/>
                  </a:spcAft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de-DE" sz="23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sz="23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de-DE" sz="2300" i="1">
                          <a:latin typeface="Cambria Math" panose="02040503050406030204" pitchFamily="18" charset="0"/>
                        </a:rPr>
                        <m:t>&lt;2⇔</m:t>
                      </m:r>
                      <m:d>
                        <m:dPr>
                          <m:begChr m:val="|"/>
                          <m:endChr m:val="|"/>
                          <m:ctrlPr>
                            <a:rPr lang="de-DE" sz="23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sz="23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𝑅𝑒</m:t>
                              </m:r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de-DE" sz="23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de-DE" sz="2300" i="1">
                              <a:latin typeface="Cambria Math" panose="02040503050406030204" pitchFamily="18" charset="0"/>
                            </a:rPr>
                            <m:t>𝑖</m:t>
                          </m:r>
                          <m:sSub>
                            <m:sSubPr>
                              <m:ctrlPr>
                                <a:rPr lang="de-DE" sz="23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𝐼𝑚</m:t>
                              </m:r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de-DE" sz="2300" i="1">
                          <a:latin typeface="Cambria Math" panose="02040503050406030204" pitchFamily="18" charset="0"/>
                        </a:rPr>
                        <m:t>&lt;2⇔</m:t>
                      </m:r>
                      <m:rad>
                        <m:radPr>
                          <m:degHide m:val="on"/>
                          <m:ctrlPr>
                            <a:rPr lang="de-DE" sz="2300"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bSup>
                            <m:sSubSupPr>
                              <m:ctrlPr>
                                <a:rPr lang="de-DE" sz="23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𝑅𝑒</m:t>
                              </m:r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  <m:sup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de-DE" sz="2300" i="1"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de-DE" sz="23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𝐼𝑚</m:t>
                              </m:r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  <m:sup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de-DE" sz="230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rad>
                      <m:r>
                        <a:rPr lang="de-DE" sz="2300" i="1">
                          <a:latin typeface="Cambria Math" panose="02040503050406030204" pitchFamily="18" charset="0"/>
                        </a:rPr>
                        <m:t>&lt;</m:t>
                      </m:r>
                      <m:r>
                        <a:rPr lang="de-DE" sz="230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de-DE" sz="2300" i="1">
                          <a:latin typeface="Cambria Math" panose="02040503050406030204" pitchFamily="18" charset="0"/>
                        </a:rPr>
                        <m:t>⇔</m:t>
                      </m:r>
                      <m:sSubSup>
                        <m:sSubSupPr>
                          <m:ctrlPr>
                            <a:rPr lang="de-DE" sz="2300" i="1" smtClean="0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de-DE" sz="2300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de-DE" sz="2300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𝑅𝑒</m:t>
                          </m:r>
                          <m:r>
                            <a:rPr lang="de-DE" sz="2300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de-DE" sz="2300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>
                          <m:r>
                            <a:rPr lang="de-DE" sz="2300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de-DE" sz="2300" i="1">
                          <a:solidFill>
                            <a:schemeClr val="accent5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de-DE" sz="2300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de-DE" sz="2300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de-DE" sz="2300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𝐼𝑚</m:t>
                          </m:r>
                          <m:r>
                            <a:rPr lang="de-DE" sz="2300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de-DE" sz="2300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>
                          <m:r>
                            <a:rPr lang="de-DE" sz="2300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de-DE" sz="2300" i="1">
                          <a:solidFill>
                            <a:schemeClr val="accent5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&lt;4</m:t>
                      </m:r>
                    </m:oMath>
                  </m:oMathPara>
                </a14:m>
                <a:endParaRPr lang="de-DE" sz="2300" dirty="0">
                  <a:solidFill>
                    <a:schemeClr val="accent5">
                      <a:lumMod val="60000"/>
                      <a:lumOff val="40000"/>
                    </a:schemeClr>
                  </a:solidFill>
                </a:endParaRPr>
              </a:p>
              <a:p>
                <a:pPr marL="0" indent="0">
                  <a:spcAft>
                    <a:spcPts val="1000"/>
                  </a:spcAft>
                  <a:buFont typeface="Arial" panose="020B0604020202020204" pitchFamily="34" charset="0"/>
                  <a:buNone/>
                </a:pPr>
                <a:r>
                  <a:rPr lang="de-DE" sz="2300" dirty="0"/>
                  <a:t>Konvergenz: </a:t>
                </a:r>
              </a:p>
              <a:p>
                <a:pPr marL="457200" lvl="1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DE" sz="2300" i="1" smtClean="0">
                          <a:solidFill>
                            <a:schemeClr val="accent5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n</m:t>
                      </m:r>
                      <m:r>
                        <a:rPr lang="de-DE" sz="2300" i="1" smtClean="0">
                          <a:solidFill>
                            <a:schemeClr val="accent5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 = 100</m:t>
                      </m:r>
                    </m:oMath>
                  </m:oMathPara>
                </a14:m>
                <a:endParaRPr lang="de-DE" sz="2300" i="1" dirty="0">
                  <a:solidFill>
                    <a:schemeClr val="accent5">
                      <a:lumMod val="60000"/>
                      <a:lumOff val="40000"/>
                    </a:schemeClr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6" name="Inhaltsplatzhalter 2">
                <a:extLst>
                  <a:ext uri="{FF2B5EF4-FFF2-40B4-BE49-F238E27FC236}">
                    <a16:creationId xmlns:a16="http://schemas.microsoft.com/office/drawing/2014/main" id="{A62E790F-2956-7A79-42A5-A0A3D4ACC2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199" y="4287444"/>
                <a:ext cx="10515601" cy="2205430"/>
              </a:xfrm>
              <a:prstGeom prst="rect">
                <a:avLst/>
              </a:prstGeom>
              <a:blipFill>
                <a:blip r:embed="rId2"/>
                <a:stretch>
                  <a:fillRect l="-60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echteck 10">
            <a:extLst>
              <a:ext uri="{FF2B5EF4-FFF2-40B4-BE49-F238E27FC236}">
                <a16:creationId xmlns:a16="http://schemas.microsoft.com/office/drawing/2014/main" id="{CFD0329A-136D-22D6-ADFC-AAAC807E7367}"/>
              </a:ext>
            </a:extLst>
          </p:cNvPr>
          <p:cNvSpPr/>
          <p:nvPr/>
        </p:nvSpPr>
        <p:spPr>
          <a:xfrm>
            <a:off x="838199" y="4287444"/>
            <a:ext cx="10515601" cy="2205429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59E0C8CA-741C-FB81-A793-DA88BBB0DBAD}"/>
              </a:ext>
            </a:extLst>
          </p:cNvPr>
          <p:cNvSpPr txBox="1"/>
          <p:nvPr/>
        </p:nvSpPr>
        <p:spPr>
          <a:xfrm>
            <a:off x="954249" y="4056610"/>
            <a:ext cx="3346814" cy="461665"/>
          </a:xfrm>
          <a:prstGeom prst="rect">
            <a:avLst/>
          </a:prstGeom>
          <a:solidFill>
            <a:schemeClr val="bg1"/>
          </a:solidFill>
        </p:spPr>
        <p:txBody>
          <a:bodyPr wrap="none" rtlCol="0" anchor="ctr">
            <a:spAutoFit/>
          </a:bodyPr>
          <a:lstStyle/>
          <a:p>
            <a:r>
              <a:rPr lang="de-DE" sz="2400" b="1"/>
              <a:t>Abbruchsbedingungen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Inhaltsplatzhalter 2">
                <a:extLst>
                  <a:ext uri="{FF2B5EF4-FFF2-40B4-BE49-F238E27FC236}">
                    <a16:creationId xmlns:a16="http://schemas.microsoft.com/office/drawing/2014/main" id="{2A6939DB-48E4-3AB9-FBC8-4437AD0D0EF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199" y="1849335"/>
                <a:ext cx="10515601" cy="2007221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endParaRPr lang="de-DE" sz="2000" dirty="0"/>
              </a:p>
              <a:p>
                <a:pPr marL="0" indent="0">
                  <a:spcAft>
                    <a:spcPts val="2500"/>
                  </a:spcAft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de-DE" sz="2100" i="1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de-DE" sz="21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de-DE" sz="21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sz="2100" i="1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de-DE" sz="2100" i="1">
                          <a:latin typeface="Cambria Math" panose="02040503050406030204" pitchFamily="18" charset="0"/>
                        </a:rPr>
                        <m:t>⇔</m:t>
                      </m:r>
                      <m:sSub>
                        <m:sSubPr>
                          <m:ctrlPr>
                            <a:rPr lang="de-DE" sz="2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𝑅𝑒</m:t>
                          </m:r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de-DE" sz="21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sz="2100" i="1">
                          <a:latin typeface="Cambria Math" panose="02040503050406030204" pitchFamily="18" charset="0"/>
                        </a:rPr>
                        <m:t>𝑖</m:t>
                      </m:r>
                      <m:sSub>
                        <m:sSubPr>
                          <m:ctrlPr>
                            <a:rPr lang="de-DE" sz="2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𝐼𝑚</m:t>
                          </m:r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de-DE" sz="2100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de-DE" sz="21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de-DE" sz="21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de-DE" sz="21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100" i="1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  <m:sub>
                                  <m:r>
                                    <a:rPr lang="de-DE" sz="2100" i="1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  <m:r>
                                    <a:rPr lang="de-DE" sz="21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de-DE" sz="21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de-DE" sz="21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de-DE" sz="21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sSub>
                                <m:sSubPr>
                                  <m:ctrlPr>
                                    <a:rPr lang="de-DE" sz="21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100" i="1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  <m:sub>
                                  <m:r>
                                    <a:rPr lang="de-DE" sz="21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de-DE" sz="21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de-DE" sz="21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de-DE" sz="21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2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</m:sSub>
                      <m:r>
                        <a:rPr lang="de-DE" sz="21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sz="2100" i="1">
                          <a:latin typeface="Cambria Math" panose="02040503050406030204" pitchFamily="18" charset="0"/>
                        </a:rPr>
                        <m:t>𝑖</m:t>
                      </m:r>
                      <m:sSub>
                        <m:sSubPr>
                          <m:ctrlPr>
                            <a:rPr lang="de-DE" sz="2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de-DE" sz="2100" dirty="0"/>
              </a:p>
              <a:p>
                <a:pPr marL="0" indent="0">
                  <a:spcAft>
                    <a:spcPts val="1000"/>
                  </a:spcAft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1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100" i="1">
                              <a:latin typeface="Cambria Math" panose="02040503050406030204" pitchFamily="18" charset="0"/>
                            </a:rPr>
                            <m:t>Re</m:t>
                          </m:r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de-DE" sz="21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de-DE" sz="2100" i="1" smtClean="0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sz="21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1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21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Re</m:t>
                              </m:r>
                              <m:r>
                                <a:rPr lang="de-DE" sz="21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de-DE" sz="21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de-DE" sz="2100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de-DE" sz="21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1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21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Im</m:t>
                              </m:r>
                              <m:r>
                                <a:rPr lang="de-DE" sz="21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de-DE" sz="21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de-DE" sz="2100" b="0" i="1" smtClean="0">
                          <a:solidFill>
                            <a:schemeClr val="accent5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 ⋅</m:t>
                      </m:r>
                      <m:d>
                        <m:dPr>
                          <m:ctrlPr>
                            <a:rPr lang="de-DE" sz="2100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sz="21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1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21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Re</m:t>
                              </m:r>
                              <m:r>
                                <a:rPr lang="de-DE" sz="21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de-DE" sz="21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de-DE" sz="2100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–</m:t>
                          </m:r>
                          <m:sSub>
                            <m:sSubPr>
                              <m:ctrlPr>
                                <a:rPr lang="de-DE" sz="21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1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21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Im</m:t>
                              </m:r>
                              <m:r>
                                <a:rPr lang="de-DE" sz="21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de-DE" sz="21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de-DE" sz="2100" i="1">
                          <a:solidFill>
                            <a:schemeClr val="accent5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2100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100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100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Re</m:t>
                          </m:r>
                        </m:sub>
                      </m:sSub>
                    </m:oMath>
                  </m:oMathPara>
                </a14:m>
                <a:endParaRPr lang="de-DE" sz="2100" dirty="0"/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1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100" i="1">
                              <a:latin typeface="Cambria Math" panose="02040503050406030204" pitchFamily="18" charset="0"/>
                            </a:rPr>
                            <m:t>z</m:t>
                          </m:r>
                        </m:e>
                        <m:sub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𝐼𝑚</m:t>
                          </m:r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de-DE" sz="21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de-DE" sz="2100" i="1" smtClean="0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sz="21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1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de-DE" sz="21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𝑅𝑒</m:t>
                              </m:r>
                              <m:r>
                                <a:rPr lang="de-DE" sz="21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de-DE" sz="21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de-DE" sz="2100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de-DE" sz="21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1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de-DE" sz="21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𝑅𝑒</m:t>
                              </m:r>
                              <m:r>
                                <a:rPr lang="de-DE" sz="21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de-DE" sz="21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de-DE" sz="2100" b="0" i="1" smtClean="0">
                          <a:solidFill>
                            <a:schemeClr val="accent5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 ⋅</m:t>
                      </m:r>
                      <m:sSub>
                        <m:sSubPr>
                          <m:ctrlPr>
                            <a:rPr lang="de-DE" sz="2100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100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de-DE" sz="2100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𝐼𝑚</m:t>
                          </m:r>
                          <m:r>
                            <a:rPr lang="de-DE" sz="2100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de-DE" sz="2100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de-DE" sz="2100" i="1">
                          <a:solidFill>
                            <a:schemeClr val="accent5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2100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100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DE" sz="2100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𝐼𝑚</m:t>
                          </m:r>
                          <m:r>
                            <a:rPr lang="de-DE" sz="2100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de-DE" sz="2100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de-DE" sz="2100" dirty="0"/>
              </a:p>
            </p:txBody>
          </p:sp>
        </mc:Choice>
        <mc:Fallback xmlns="">
          <p:sp>
            <p:nvSpPr>
              <p:cNvPr id="5" name="Inhaltsplatzhalter 2">
                <a:extLst>
                  <a:ext uri="{FF2B5EF4-FFF2-40B4-BE49-F238E27FC236}">
                    <a16:creationId xmlns:a16="http://schemas.microsoft.com/office/drawing/2014/main" id="{2A6939DB-48E4-3AB9-FBC8-4437AD0D0E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199" y="1849335"/>
                <a:ext cx="10515601" cy="200722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hteck 3">
            <a:extLst>
              <a:ext uri="{FF2B5EF4-FFF2-40B4-BE49-F238E27FC236}">
                <a16:creationId xmlns:a16="http://schemas.microsoft.com/office/drawing/2014/main" id="{2E3C3F4F-563D-07F6-D003-901A11433E84}"/>
              </a:ext>
            </a:extLst>
          </p:cNvPr>
          <p:cNvSpPr/>
          <p:nvPr/>
        </p:nvSpPr>
        <p:spPr>
          <a:xfrm>
            <a:off x="838199" y="1849336"/>
            <a:ext cx="10515601" cy="2007220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BF85AA80-27F5-15B6-7C5E-8FBE37AA340D}"/>
              </a:ext>
            </a:extLst>
          </p:cNvPr>
          <p:cNvSpPr txBox="1"/>
          <p:nvPr/>
        </p:nvSpPr>
        <p:spPr>
          <a:xfrm>
            <a:off x="935680" y="1618501"/>
            <a:ext cx="2791085" cy="461665"/>
          </a:xfrm>
          <a:prstGeom prst="rect">
            <a:avLst/>
          </a:prstGeom>
          <a:solidFill>
            <a:schemeClr val="bg1"/>
          </a:solidFill>
        </p:spPr>
        <p:txBody>
          <a:bodyPr wrap="none" rtlCol="0" anchor="ctr">
            <a:spAutoFit/>
          </a:bodyPr>
          <a:lstStyle/>
          <a:p>
            <a:r>
              <a:rPr lang="de-DE" sz="2400" b="1" dirty="0"/>
              <a:t>Folgenberechnung</a:t>
            </a:r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45321E21-DB94-FC9E-5341-84E7B13B65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3980B-2C02-594B-9C73-A951FE425682}" type="slidenum">
              <a:rPr lang="de-DE" smtClean="0"/>
              <a:t>23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05046398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4C07E4C-DDE4-C650-A8EE-3E16B12307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Berechnungsimplementierung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1B0832F4-1104-EA50-1DBC-FF197229D61A}"/>
              </a:ext>
            </a:extLst>
          </p:cNvPr>
          <p:cNvSpPr/>
          <p:nvPr/>
        </p:nvSpPr>
        <p:spPr>
          <a:xfrm>
            <a:off x="852628" y="1916179"/>
            <a:ext cx="3169356" cy="3606803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90BF6C35-2267-13E3-5932-4A30C31D4012}"/>
              </a:ext>
            </a:extLst>
          </p:cNvPr>
          <p:cNvSpPr/>
          <p:nvPr/>
        </p:nvSpPr>
        <p:spPr>
          <a:xfrm>
            <a:off x="4525750" y="1916179"/>
            <a:ext cx="3169356" cy="3606803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FA5A7710-CA46-4537-7944-B5965E397B40}"/>
              </a:ext>
            </a:extLst>
          </p:cNvPr>
          <p:cNvSpPr/>
          <p:nvPr/>
        </p:nvSpPr>
        <p:spPr>
          <a:xfrm>
            <a:off x="8198872" y="1916179"/>
            <a:ext cx="3169356" cy="3606803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DB9FCCA2-B1C4-52CC-3DEF-1023D4EBC754}"/>
              </a:ext>
            </a:extLst>
          </p:cNvPr>
          <p:cNvSpPr txBox="1"/>
          <p:nvPr/>
        </p:nvSpPr>
        <p:spPr>
          <a:xfrm>
            <a:off x="1036978" y="1685346"/>
            <a:ext cx="1199944" cy="461665"/>
          </a:xfrm>
          <a:prstGeom prst="rect">
            <a:avLst/>
          </a:prstGeom>
          <a:solidFill>
            <a:schemeClr val="bg1"/>
          </a:solidFill>
        </p:spPr>
        <p:txBody>
          <a:bodyPr wrap="none" rtlCol="0" anchor="ctr">
            <a:spAutoFit/>
          </a:bodyPr>
          <a:lstStyle/>
          <a:p>
            <a:r>
              <a:rPr lang="de-DE" sz="2400" b="1" dirty="0"/>
              <a:t>Stage 1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AEB92748-4980-3C8F-BCBA-F034A9D30E12}"/>
              </a:ext>
            </a:extLst>
          </p:cNvPr>
          <p:cNvSpPr txBox="1"/>
          <p:nvPr/>
        </p:nvSpPr>
        <p:spPr>
          <a:xfrm>
            <a:off x="4717474" y="1685346"/>
            <a:ext cx="1199944" cy="461665"/>
          </a:xfrm>
          <a:prstGeom prst="rect">
            <a:avLst/>
          </a:prstGeom>
          <a:solidFill>
            <a:schemeClr val="bg1"/>
          </a:solidFill>
        </p:spPr>
        <p:txBody>
          <a:bodyPr wrap="none" rtlCol="0" anchor="ctr">
            <a:spAutoFit/>
          </a:bodyPr>
          <a:lstStyle/>
          <a:p>
            <a:r>
              <a:rPr lang="de-DE" sz="2400" b="1" dirty="0"/>
              <a:t>Stage 2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B351129E-6779-44B3-224C-0306AFF712EA}"/>
              </a:ext>
            </a:extLst>
          </p:cNvPr>
          <p:cNvSpPr txBox="1"/>
          <p:nvPr/>
        </p:nvSpPr>
        <p:spPr>
          <a:xfrm>
            <a:off x="8383222" y="1685345"/>
            <a:ext cx="1199944" cy="461665"/>
          </a:xfrm>
          <a:prstGeom prst="rect">
            <a:avLst/>
          </a:prstGeom>
          <a:solidFill>
            <a:schemeClr val="bg1"/>
          </a:solidFill>
        </p:spPr>
        <p:txBody>
          <a:bodyPr wrap="none" rtlCol="0" anchor="ctr">
            <a:spAutoFit/>
          </a:bodyPr>
          <a:lstStyle/>
          <a:p>
            <a:r>
              <a:rPr lang="de-DE" sz="2400" b="1" dirty="0"/>
              <a:t>Stage 3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feld 11">
                <a:extLst>
                  <a:ext uri="{FF2B5EF4-FFF2-40B4-BE49-F238E27FC236}">
                    <a16:creationId xmlns:a16="http://schemas.microsoft.com/office/drawing/2014/main" id="{C0EA9264-4296-9A9C-7E2C-28A7E235A529}"/>
                  </a:ext>
                </a:extLst>
              </p:cNvPr>
              <p:cNvSpPr txBox="1"/>
              <p:nvPr/>
            </p:nvSpPr>
            <p:spPr>
              <a:xfrm>
                <a:off x="852627" y="2398931"/>
                <a:ext cx="3169357" cy="7176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1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de-DE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sz="1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1800" b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1800" b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Re</m:t>
                              </m:r>
                              <m:r>
                                <a:rPr lang="de-DE" sz="1800" b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de-DE" sz="1800" b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de-DE" sz="1800" b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de-DE" sz="1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1800" b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1800" b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Im</m:t>
                              </m:r>
                              <m:r>
                                <a:rPr lang="de-DE" sz="1800" b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de-DE" sz="1800" b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de-DE" sz="18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sz="1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de-DE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sz="1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1800" b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1800" b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Re</m:t>
                              </m:r>
                              <m:r>
                                <a:rPr lang="de-DE" sz="1800" b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de-DE" sz="1800" b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de-DE" sz="1800" b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–</m:t>
                          </m:r>
                          <m:sSub>
                            <m:sSubPr>
                              <m:ctrlPr>
                                <a:rPr lang="de-DE" sz="1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1800" b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1800" b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Im</m:t>
                              </m:r>
                              <m:r>
                                <a:rPr lang="de-DE" sz="1800" b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de-DE" sz="1800" b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2" name="Textfeld 11">
                <a:extLst>
                  <a:ext uri="{FF2B5EF4-FFF2-40B4-BE49-F238E27FC236}">
                    <a16:creationId xmlns:a16="http://schemas.microsoft.com/office/drawing/2014/main" id="{C0EA9264-4296-9A9C-7E2C-28A7E235A5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2627" y="2398931"/>
                <a:ext cx="3169357" cy="7176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Gerade Verbindung 13">
            <a:extLst>
              <a:ext uri="{FF2B5EF4-FFF2-40B4-BE49-F238E27FC236}">
                <a16:creationId xmlns:a16="http://schemas.microsoft.com/office/drawing/2014/main" id="{0C27A163-BA67-DFC9-5019-A00B16A416FE}"/>
              </a:ext>
            </a:extLst>
          </p:cNvPr>
          <p:cNvCxnSpPr>
            <a:cxnSpLocks/>
          </p:cNvCxnSpPr>
          <p:nvPr/>
        </p:nvCxnSpPr>
        <p:spPr>
          <a:xfrm flipV="1">
            <a:off x="852628" y="3266047"/>
            <a:ext cx="3169356" cy="15160"/>
          </a:xfrm>
          <a:prstGeom prst="line">
            <a:avLst/>
          </a:prstGeom>
          <a:ln w="38100"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feld 16">
            <a:extLst>
              <a:ext uri="{FF2B5EF4-FFF2-40B4-BE49-F238E27FC236}">
                <a16:creationId xmlns:a16="http://schemas.microsoft.com/office/drawing/2014/main" id="{525AFA59-11D8-7A14-AD98-ABC5E18D5151}"/>
              </a:ext>
            </a:extLst>
          </p:cNvPr>
          <p:cNvSpPr txBox="1"/>
          <p:nvPr/>
        </p:nvSpPr>
        <p:spPr>
          <a:xfrm>
            <a:off x="847819" y="2031835"/>
            <a:ext cx="5116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Re:</a:t>
            </a: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033C6D74-DB55-E840-0221-70FDD8E509F2}"/>
              </a:ext>
            </a:extLst>
          </p:cNvPr>
          <p:cNvSpPr txBox="1"/>
          <p:nvPr/>
        </p:nvSpPr>
        <p:spPr>
          <a:xfrm>
            <a:off x="4520941" y="2048711"/>
            <a:ext cx="5116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Re:</a:t>
            </a:r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10695051-CF14-BA26-43C9-C596077E41DC}"/>
              </a:ext>
            </a:extLst>
          </p:cNvPr>
          <p:cNvSpPr txBox="1"/>
          <p:nvPr/>
        </p:nvSpPr>
        <p:spPr>
          <a:xfrm>
            <a:off x="8194063" y="2029599"/>
            <a:ext cx="5116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Re:</a:t>
            </a: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63BC6DFC-2FAB-CB60-8118-96586C49A6F4}"/>
              </a:ext>
            </a:extLst>
          </p:cNvPr>
          <p:cNvSpPr txBox="1"/>
          <p:nvPr/>
        </p:nvSpPr>
        <p:spPr>
          <a:xfrm>
            <a:off x="852628" y="3268283"/>
            <a:ext cx="5068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Im: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B01FBB60-8821-0B97-497C-9884A976D8C7}"/>
              </a:ext>
            </a:extLst>
          </p:cNvPr>
          <p:cNvSpPr txBox="1"/>
          <p:nvPr/>
        </p:nvSpPr>
        <p:spPr>
          <a:xfrm>
            <a:off x="4525750" y="3285159"/>
            <a:ext cx="5068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Im: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9C534E34-60C3-1533-2848-82CC32205370}"/>
              </a:ext>
            </a:extLst>
          </p:cNvPr>
          <p:cNvSpPr txBox="1"/>
          <p:nvPr/>
        </p:nvSpPr>
        <p:spPr>
          <a:xfrm>
            <a:off x="8198872" y="3266047"/>
            <a:ext cx="5068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Im: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feld 22">
                <a:extLst>
                  <a:ext uri="{FF2B5EF4-FFF2-40B4-BE49-F238E27FC236}">
                    <a16:creationId xmlns:a16="http://schemas.microsoft.com/office/drawing/2014/main" id="{B309DEAE-2338-3606-EC73-0E096F131D43}"/>
                  </a:ext>
                </a:extLst>
              </p:cNvPr>
              <p:cNvSpPr txBox="1"/>
              <p:nvPr/>
            </p:nvSpPr>
            <p:spPr>
              <a:xfrm>
                <a:off x="4520941" y="2418043"/>
                <a:ext cx="317897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23" name="Textfeld 22">
                <a:extLst>
                  <a:ext uri="{FF2B5EF4-FFF2-40B4-BE49-F238E27FC236}">
                    <a16:creationId xmlns:a16="http://schemas.microsoft.com/office/drawing/2014/main" id="{B309DEAE-2338-3606-EC73-0E096F131D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0941" y="2418043"/>
                <a:ext cx="3178974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feld 23">
                <a:extLst>
                  <a:ext uri="{FF2B5EF4-FFF2-40B4-BE49-F238E27FC236}">
                    <a16:creationId xmlns:a16="http://schemas.microsoft.com/office/drawing/2014/main" id="{C43094F8-F615-FF15-E4AB-52A650BF2907}"/>
                  </a:ext>
                </a:extLst>
              </p:cNvPr>
              <p:cNvSpPr txBox="1"/>
              <p:nvPr/>
            </p:nvSpPr>
            <p:spPr>
              <a:xfrm>
                <a:off x="8203681" y="2379485"/>
                <a:ext cx="3178974" cy="38151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z</m:t>
                          </m:r>
                        </m:e>
                        <m:sub>
                          <m:r>
                            <a:rPr lang="de-DE" b="0" i="0" smtClean="0">
                              <a:latin typeface="Cambria Math" panose="02040503050406030204" pitchFamily="18" charset="0"/>
                            </a:rPr>
                            <m:t>𝑅𝑒</m:t>
                          </m:r>
                          <m:r>
                            <a:rPr lang="de-DE" b="0" i="0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m:rPr>
                              <m:sty m:val="p"/>
                            </m:rPr>
                            <a:rPr lang="de-DE" b="0" i="0" smtClean="0">
                              <a:latin typeface="Cambria Math" panose="02040503050406030204" pitchFamily="18" charset="0"/>
                            </a:rPr>
                            <m:t>n</m:t>
                          </m:r>
                          <m:r>
                            <a:rPr lang="de-DE" b="0" i="0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de-DE" b="0" i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de-DE" b="0" i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𝑅𝑒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24" name="Textfeld 23">
                <a:extLst>
                  <a:ext uri="{FF2B5EF4-FFF2-40B4-BE49-F238E27FC236}">
                    <a16:creationId xmlns:a16="http://schemas.microsoft.com/office/drawing/2014/main" id="{C43094F8-F615-FF15-E4AB-52A650BF29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03681" y="2379485"/>
                <a:ext cx="3178974" cy="381515"/>
              </a:xfrm>
              <a:prstGeom prst="rect">
                <a:avLst/>
              </a:prstGeom>
              <a:blipFill>
                <a:blip r:embed="rId5"/>
                <a:stretch>
                  <a:fillRect b="-1290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Gerade Verbindung 25">
            <a:extLst>
              <a:ext uri="{FF2B5EF4-FFF2-40B4-BE49-F238E27FC236}">
                <a16:creationId xmlns:a16="http://schemas.microsoft.com/office/drawing/2014/main" id="{3761BF6D-A8F4-F212-58BE-B80BAD6F7BAD}"/>
              </a:ext>
            </a:extLst>
          </p:cNvPr>
          <p:cNvCxnSpPr>
            <a:cxnSpLocks/>
          </p:cNvCxnSpPr>
          <p:nvPr/>
        </p:nvCxnSpPr>
        <p:spPr>
          <a:xfrm flipV="1">
            <a:off x="4532964" y="3250887"/>
            <a:ext cx="3169356" cy="15160"/>
          </a:xfrm>
          <a:prstGeom prst="line">
            <a:avLst/>
          </a:prstGeom>
          <a:ln w="38100"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Gerade Verbindung 26">
            <a:extLst>
              <a:ext uri="{FF2B5EF4-FFF2-40B4-BE49-F238E27FC236}">
                <a16:creationId xmlns:a16="http://schemas.microsoft.com/office/drawing/2014/main" id="{457F5382-8593-E951-82D0-94EB72F80AB3}"/>
              </a:ext>
            </a:extLst>
          </p:cNvPr>
          <p:cNvCxnSpPr>
            <a:cxnSpLocks/>
          </p:cNvCxnSpPr>
          <p:nvPr/>
        </p:nvCxnSpPr>
        <p:spPr>
          <a:xfrm flipV="1">
            <a:off x="8213299" y="3235727"/>
            <a:ext cx="3169356" cy="15160"/>
          </a:xfrm>
          <a:prstGeom prst="line">
            <a:avLst/>
          </a:prstGeom>
          <a:ln w="38100"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feld 28">
                <a:extLst>
                  <a:ext uri="{FF2B5EF4-FFF2-40B4-BE49-F238E27FC236}">
                    <a16:creationId xmlns:a16="http://schemas.microsoft.com/office/drawing/2014/main" id="{5258F7CE-8850-5B09-988A-AC2660D11130}"/>
                  </a:ext>
                </a:extLst>
              </p:cNvPr>
              <p:cNvSpPr txBox="1"/>
              <p:nvPr/>
            </p:nvSpPr>
            <p:spPr>
              <a:xfrm>
                <a:off x="847819" y="3639129"/>
                <a:ext cx="3169356" cy="40498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800" b="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</m:e>
                        <m:sub>
                          <m:r>
                            <a:rPr lang="de-DE" sz="1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de-DE" sz="1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1800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de-DE" sz="1800" b="0" i="1" smtClean="0">
                                  <a:latin typeface="Cambria Math" panose="02040503050406030204" pitchFamily="18" charset="0"/>
                                </a:rPr>
                                <m:t>𝑅𝑒</m:t>
                              </m:r>
                              <m:r>
                                <a:rPr lang="de-DE" sz="18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de-DE" sz="18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de-DE" sz="1800" b="0" i="1" smtClean="0">
                              <a:latin typeface="Cambria Math" panose="02040503050406030204" pitchFamily="18" charset="0"/>
                            </a:rPr>
                            <m:t>≪1</m:t>
                          </m:r>
                        </m:e>
                      </m:d>
                      <m:r>
                        <a:rPr lang="de-DE" sz="1800" b="0" i="1" smtClean="0"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𝐼𝑚</m:t>
                          </m:r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29" name="Textfeld 28">
                <a:extLst>
                  <a:ext uri="{FF2B5EF4-FFF2-40B4-BE49-F238E27FC236}">
                    <a16:creationId xmlns:a16="http://schemas.microsoft.com/office/drawing/2014/main" id="{5258F7CE-8850-5B09-988A-AC2660D111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7819" y="3639129"/>
                <a:ext cx="3169356" cy="404983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feld 29">
                <a:extLst>
                  <a:ext uri="{FF2B5EF4-FFF2-40B4-BE49-F238E27FC236}">
                    <a16:creationId xmlns:a16="http://schemas.microsoft.com/office/drawing/2014/main" id="{513B26BB-F800-ACF1-FE1B-2F87F8D15733}"/>
                  </a:ext>
                </a:extLst>
              </p:cNvPr>
              <p:cNvSpPr txBox="1"/>
              <p:nvPr/>
            </p:nvSpPr>
            <p:spPr>
              <a:xfrm>
                <a:off x="4518536" y="3641532"/>
                <a:ext cx="3169356" cy="38151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de-DE" sz="1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de-DE" sz="1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𝐼𝑚</m:t>
                          </m:r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30" name="Textfeld 29">
                <a:extLst>
                  <a:ext uri="{FF2B5EF4-FFF2-40B4-BE49-F238E27FC236}">
                    <a16:creationId xmlns:a16="http://schemas.microsoft.com/office/drawing/2014/main" id="{513B26BB-F800-ACF1-FE1B-2F87F8D157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18536" y="3641532"/>
                <a:ext cx="3169356" cy="38151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feld 30">
                <a:extLst>
                  <a:ext uri="{FF2B5EF4-FFF2-40B4-BE49-F238E27FC236}">
                    <a16:creationId xmlns:a16="http://schemas.microsoft.com/office/drawing/2014/main" id="{55032909-20C1-FD02-19B5-7071800AD9FB}"/>
                  </a:ext>
                </a:extLst>
              </p:cNvPr>
              <p:cNvSpPr txBox="1"/>
              <p:nvPr/>
            </p:nvSpPr>
            <p:spPr>
              <a:xfrm>
                <a:off x="8213299" y="3643285"/>
                <a:ext cx="3169356" cy="38151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800" i="1">
                              <a:latin typeface="Cambria Math" panose="02040503050406030204" pitchFamily="18" charset="0"/>
                            </a:rPr>
                            <m:t>z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𝐼𝑚</m:t>
                          </m:r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de-DE" sz="1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31" name="Textfeld 30">
                <a:extLst>
                  <a:ext uri="{FF2B5EF4-FFF2-40B4-BE49-F238E27FC236}">
                    <a16:creationId xmlns:a16="http://schemas.microsoft.com/office/drawing/2014/main" id="{55032909-20C1-FD02-19B5-7071800AD9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13299" y="3643285"/>
                <a:ext cx="3169356" cy="38151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" name="Gerade Verbindung 31">
            <a:extLst>
              <a:ext uri="{FF2B5EF4-FFF2-40B4-BE49-F238E27FC236}">
                <a16:creationId xmlns:a16="http://schemas.microsoft.com/office/drawing/2014/main" id="{35EFAA19-3245-554B-E7EC-A69359CDC776}"/>
              </a:ext>
            </a:extLst>
          </p:cNvPr>
          <p:cNvCxnSpPr>
            <a:cxnSpLocks/>
          </p:cNvCxnSpPr>
          <p:nvPr/>
        </p:nvCxnSpPr>
        <p:spPr>
          <a:xfrm flipV="1">
            <a:off x="838201" y="4222740"/>
            <a:ext cx="3169356" cy="15160"/>
          </a:xfrm>
          <a:prstGeom prst="line">
            <a:avLst/>
          </a:prstGeom>
          <a:ln w="38100"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Gerade Verbindung 32">
            <a:extLst>
              <a:ext uri="{FF2B5EF4-FFF2-40B4-BE49-F238E27FC236}">
                <a16:creationId xmlns:a16="http://schemas.microsoft.com/office/drawing/2014/main" id="{8698CD82-B0ED-6A59-234D-7065C5998710}"/>
              </a:ext>
            </a:extLst>
          </p:cNvPr>
          <p:cNvCxnSpPr>
            <a:cxnSpLocks/>
          </p:cNvCxnSpPr>
          <p:nvPr/>
        </p:nvCxnSpPr>
        <p:spPr>
          <a:xfrm flipV="1">
            <a:off x="4518537" y="4207580"/>
            <a:ext cx="3169356" cy="15160"/>
          </a:xfrm>
          <a:prstGeom prst="line">
            <a:avLst/>
          </a:prstGeom>
          <a:ln w="38100"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Gerade Verbindung 33">
            <a:extLst>
              <a:ext uri="{FF2B5EF4-FFF2-40B4-BE49-F238E27FC236}">
                <a16:creationId xmlns:a16="http://schemas.microsoft.com/office/drawing/2014/main" id="{5BE88983-AC23-3EF6-4F78-91CA5EC7402E}"/>
              </a:ext>
            </a:extLst>
          </p:cNvPr>
          <p:cNvCxnSpPr>
            <a:cxnSpLocks/>
          </p:cNvCxnSpPr>
          <p:nvPr/>
        </p:nvCxnSpPr>
        <p:spPr>
          <a:xfrm flipV="1">
            <a:off x="8198872" y="4192420"/>
            <a:ext cx="3169356" cy="15160"/>
          </a:xfrm>
          <a:prstGeom prst="line">
            <a:avLst/>
          </a:prstGeom>
          <a:ln w="38100"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feld 34">
            <a:extLst>
              <a:ext uri="{FF2B5EF4-FFF2-40B4-BE49-F238E27FC236}">
                <a16:creationId xmlns:a16="http://schemas.microsoft.com/office/drawing/2014/main" id="{B4F1D3D2-C1C6-9411-11A7-36DB2BB057D5}"/>
              </a:ext>
            </a:extLst>
          </p:cNvPr>
          <p:cNvSpPr txBox="1"/>
          <p:nvPr/>
        </p:nvSpPr>
        <p:spPr>
          <a:xfrm>
            <a:off x="857822" y="4230320"/>
            <a:ext cx="22541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Abbruchsbedingung:</a:t>
            </a:r>
          </a:p>
        </p:txBody>
      </p:sp>
      <p:sp>
        <p:nvSpPr>
          <p:cNvPr id="36" name="Textfeld 35">
            <a:extLst>
              <a:ext uri="{FF2B5EF4-FFF2-40B4-BE49-F238E27FC236}">
                <a16:creationId xmlns:a16="http://schemas.microsoft.com/office/drawing/2014/main" id="{1109E996-B530-22A7-5F44-D1CD7D0FEE78}"/>
              </a:ext>
            </a:extLst>
          </p:cNvPr>
          <p:cNvSpPr txBox="1"/>
          <p:nvPr/>
        </p:nvSpPr>
        <p:spPr>
          <a:xfrm>
            <a:off x="4532964" y="4230320"/>
            <a:ext cx="23006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Abbruchsbedingung :</a:t>
            </a:r>
          </a:p>
        </p:txBody>
      </p:sp>
      <p:sp>
        <p:nvSpPr>
          <p:cNvPr id="37" name="Textfeld 36">
            <a:extLst>
              <a:ext uri="{FF2B5EF4-FFF2-40B4-BE49-F238E27FC236}">
                <a16:creationId xmlns:a16="http://schemas.microsoft.com/office/drawing/2014/main" id="{95F3FFFB-BCF4-F177-862D-642D46695FE1}"/>
              </a:ext>
            </a:extLst>
          </p:cNvPr>
          <p:cNvSpPr txBox="1"/>
          <p:nvPr/>
        </p:nvSpPr>
        <p:spPr>
          <a:xfrm>
            <a:off x="8213299" y="4207580"/>
            <a:ext cx="23006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Abbruchsbedingung 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feld 37">
                <a:extLst>
                  <a:ext uri="{FF2B5EF4-FFF2-40B4-BE49-F238E27FC236}">
                    <a16:creationId xmlns:a16="http://schemas.microsoft.com/office/drawing/2014/main" id="{17632B11-710A-A35E-80E4-12471E5BE454}"/>
                  </a:ext>
                </a:extLst>
              </p:cNvPr>
              <p:cNvSpPr txBox="1"/>
              <p:nvPr/>
            </p:nvSpPr>
            <p:spPr>
              <a:xfrm>
                <a:off x="838200" y="4606770"/>
                <a:ext cx="3169357" cy="7176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1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de-DE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sz="1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1800" b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1800" b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Re</m:t>
                              </m:r>
                              <m:r>
                                <a:rPr lang="de-DE" sz="1800" b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de-DE" sz="1800" b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de-DE" sz="1800" b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de-DE" sz="1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1800" b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18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Re</m:t>
                              </m:r>
                              <m:r>
                                <a:rPr lang="de-DE" sz="1800" b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de-DE" sz="1800" b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de-DE" sz="18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sz="1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de-DE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sz="1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1800" b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18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Im</m:t>
                              </m:r>
                              <m:r>
                                <a:rPr lang="de-DE" sz="1800" b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de-DE" sz="1800" b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de-DE" sz="1800" b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–</m:t>
                          </m:r>
                          <m:sSub>
                            <m:sSubPr>
                              <m:ctrlPr>
                                <a:rPr lang="de-DE" sz="1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1800" b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1800" b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Im</m:t>
                              </m:r>
                              <m:r>
                                <a:rPr lang="de-DE" sz="1800" b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de-DE" sz="1800" b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38" name="Textfeld 37">
                <a:extLst>
                  <a:ext uri="{FF2B5EF4-FFF2-40B4-BE49-F238E27FC236}">
                    <a16:creationId xmlns:a16="http://schemas.microsoft.com/office/drawing/2014/main" id="{17632B11-710A-A35E-80E4-12471E5BE4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4606770"/>
                <a:ext cx="3169357" cy="7176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feld 38">
                <a:extLst>
                  <a:ext uri="{FF2B5EF4-FFF2-40B4-BE49-F238E27FC236}">
                    <a16:creationId xmlns:a16="http://schemas.microsoft.com/office/drawing/2014/main" id="{AC7AF2AE-08B0-4873-F15B-1C5B721D2FF0}"/>
                  </a:ext>
                </a:extLst>
              </p:cNvPr>
              <p:cNvSpPr txBox="1"/>
              <p:nvPr/>
            </p:nvSpPr>
            <p:spPr>
              <a:xfrm>
                <a:off x="4532964" y="4604637"/>
                <a:ext cx="3169356" cy="38151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800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de-DE" sz="1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800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de-DE" sz="1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800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de-DE" sz="1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39" name="Textfeld 38">
                <a:extLst>
                  <a:ext uri="{FF2B5EF4-FFF2-40B4-BE49-F238E27FC236}">
                    <a16:creationId xmlns:a16="http://schemas.microsoft.com/office/drawing/2014/main" id="{AC7AF2AE-08B0-4873-F15B-1C5B721D2F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32964" y="4604637"/>
                <a:ext cx="3169356" cy="381515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feld 39">
                <a:extLst>
                  <a:ext uri="{FF2B5EF4-FFF2-40B4-BE49-F238E27FC236}">
                    <a16:creationId xmlns:a16="http://schemas.microsoft.com/office/drawing/2014/main" id="{4AF07F83-9896-D5B1-CCDE-568F62965E8A}"/>
                  </a:ext>
                </a:extLst>
              </p:cNvPr>
              <p:cNvSpPr txBox="1"/>
              <p:nvPr/>
            </p:nvSpPr>
            <p:spPr>
              <a:xfrm>
                <a:off x="8206086" y="4599652"/>
                <a:ext cx="3169356" cy="92333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800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de-DE" sz="1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de-DE" sz="1800" b="0" i="1" smtClean="0">
                          <a:latin typeface="Cambria Math" panose="02040503050406030204" pitchFamily="18" charset="0"/>
                        </a:rPr>
                        <m:t>&gt;= 4</m:t>
                      </m:r>
                    </m:oMath>
                  </m:oMathPara>
                </a14:m>
                <a:endParaRPr lang="de-DE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DE" b="0" i="1" smtClean="0">
                          <a:latin typeface="Cambria Math" panose="02040503050406030204" pitchFamily="18" charset="0"/>
                        </a:rPr>
                        <m:t>n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 &gt;= 100</m:t>
                      </m:r>
                    </m:oMath>
                  </m:oMathPara>
                </a14:m>
                <a:endParaRPr lang="de-DE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DE" b="0" i="1" smtClean="0">
                          <a:latin typeface="Cambria Math" panose="02040503050406030204" pitchFamily="18" charset="0"/>
                        </a:rPr>
                        <m:t>n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++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40" name="Textfeld 39">
                <a:extLst>
                  <a:ext uri="{FF2B5EF4-FFF2-40B4-BE49-F238E27FC236}">
                    <a16:creationId xmlns:a16="http://schemas.microsoft.com/office/drawing/2014/main" id="{4AF07F83-9896-D5B1-CCDE-568F62965E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06086" y="4599652"/>
                <a:ext cx="3169356" cy="92333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Rechteck 40">
            <a:extLst>
              <a:ext uri="{FF2B5EF4-FFF2-40B4-BE49-F238E27FC236}">
                <a16:creationId xmlns:a16="http://schemas.microsoft.com/office/drawing/2014/main" id="{7FB08DEC-E577-026B-74AD-0551304EA372}"/>
              </a:ext>
            </a:extLst>
          </p:cNvPr>
          <p:cNvSpPr/>
          <p:nvPr/>
        </p:nvSpPr>
        <p:spPr>
          <a:xfrm>
            <a:off x="-122720" y="5979308"/>
            <a:ext cx="12600000" cy="51356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00" dirty="0"/>
              <a:t>Aufgrund der maximalen Multiplikationsbreite des FPGAs wird ein 3.15 Festkommaformat verwendet</a:t>
            </a:r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16F11BD6-1297-7537-7FC6-67EA52F33D0E}"/>
              </a:ext>
            </a:extLst>
          </p:cNvPr>
          <p:cNvSpPr/>
          <p:nvPr/>
        </p:nvSpPr>
        <p:spPr>
          <a:xfrm>
            <a:off x="644064" y="1554503"/>
            <a:ext cx="10903872" cy="419664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5" name="Textfeld 44">
            <a:extLst>
              <a:ext uri="{FF2B5EF4-FFF2-40B4-BE49-F238E27FC236}">
                <a16:creationId xmlns:a16="http://schemas.microsoft.com/office/drawing/2014/main" id="{4FBCE0CA-2B8F-1171-064D-5B445CEAC91A}"/>
              </a:ext>
            </a:extLst>
          </p:cNvPr>
          <p:cNvSpPr txBox="1"/>
          <p:nvPr/>
        </p:nvSpPr>
        <p:spPr>
          <a:xfrm>
            <a:off x="798291" y="1323594"/>
            <a:ext cx="860877" cy="461665"/>
          </a:xfrm>
          <a:prstGeom prst="rect">
            <a:avLst/>
          </a:prstGeom>
          <a:solidFill>
            <a:schemeClr val="bg1"/>
          </a:solidFill>
        </p:spPr>
        <p:txBody>
          <a:bodyPr wrap="none" rtlCol="0" anchor="ctr">
            <a:spAutoFit/>
          </a:bodyPr>
          <a:lstStyle/>
          <a:p>
            <a:r>
              <a:rPr lang="de-DE" sz="2400" b="1" dirty="0"/>
              <a:t>Core</a:t>
            </a:r>
          </a:p>
        </p:txBody>
      </p:sp>
      <p:sp>
        <p:nvSpPr>
          <p:cNvPr id="13" name="Foliennummernplatzhalter 12">
            <a:extLst>
              <a:ext uri="{FF2B5EF4-FFF2-40B4-BE49-F238E27FC236}">
                <a16:creationId xmlns:a16="http://schemas.microsoft.com/office/drawing/2014/main" id="{EF6706F5-8228-4CB3-83C8-2A95DA0EDD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3980B-2C02-594B-9C73-A951FE425682}" type="slidenum">
              <a:rPr lang="de-DE" smtClean="0"/>
              <a:t>24</a:t>
            </a:fld>
            <a:endParaRPr lang="de-DE" dirty="0"/>
          </a:p>
        </p:txBody>
      </p:sp>
      <p:sp>
        <p:nvSpPr>
          <p:cNvPr id="15" name="Fußzeilenplatzhalter 14">
            <a:extLst>
              <a:ext uri="{FF2B5EF4-FFF2-40B4-BE49-F238E27FC236}">
                <a16:creationId xmlns:a16="http://schemas.microsoft.com/office/drawing/2014/main" id="{5386D885-EA8E-C386-3FB8-9045C19373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64141" y="6500498"/>
            <a:ext cx="9663718" cy="365125"/>
          </a:xfrm>
        </p:spPr>
        <p:txBody>
          <a:bodyPr/>
          <a:lstStyle/>
          <a:p>
            <a:r>
              <a:rPr lang="de-DE" dirty="0"/>
              <a:t>[4]</a:t>
            </a:r>
          </a:p>
        </p:txBody>
      </p:sp>
    </p:spTree>
    <p:extLst>
      <p:ext uri="{BB962C8B-B14F-4D97-AF65-F5344CB8AC3E}">
        <p14:creationId xmlns:p14="http://schemas.microsoft.com/office/powerpoint/2010/main" val="237818292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C723E3-5A6C-36B6-D6AE-C9BF556304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elle 3">
                <a:extLst>
                  <a:ext uri="{FF2B5EF4-FFF2-40B4-BE49-F238E27FC236}">
                    <a16:creationId xmlns:a16="http://schemas.microsoft.com/office/drawing/2014/main" id="{372C1ECE-96CC-7CA3-BA4D-CC1F0023051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953763020"/>
                  </p:ext>
                </p:extLst>
              </p:nvPr>
            </p:nvGraphicFramePr>
            <p:xfrm>
              <a:off x="838200" y="1825626"/>
              <a:ext cx="10515600" cy="3941040"/>
            </p:xfrm>
            <a:graphic>
              <a:graphicData uri="http://schemas.openxmlformats.org/drawingml/2006/table">
                <a:tbl>
                  <a:tblPr firstRow="1" bandRow="1">
                    <a:tableStyleId>{7E9639D4-E3E2-4D34-9284-5A2195B3D0D7}</a:tableStyleId>
                  </a:tblPr>
                  <a:tblGrid>
                    <a:gridCol w="4338234">
                      <a:extLst>
                        <a:ext uri="{9D8B030D-6E8A-4147-A177-3AD203B41FA5}">
                          <a16:colId xmlns:a16="http://schemas.microsoft.com/office/drawing/2014/main" val="2508158368"/>
                        </a:ext>
                      </a:extLst>
                    </a:gridCol>
                    <a:gridCol w="2386739">
                      <a:extLst>
                        <a:ext uri="{9D8B030D-6E8A-4147-A177-3AD203B41FA5}">
                          <a16:colId xmlns:a16="http://schemas.microsoft.com/office/drawing/2014/main" val="384541877"/>
                        </a:ext>
                      </a:extLst>
                    </a:gridCol>
                    <a:gridCol w="1782305">
                      <a:extLst>
                        <a:ext uri="{9D8B030D-6E8A-4147-A177-3AD203B41FA5}">
                          <a16:colId xmlns:a16="http://schemas.microsoft.com/office/drawing/2014/main" val="2439222675"/>
                        </a:ext>
                      </a:extLst>
                    </a:gridCol>
                    <a:gridCol w="2008322">
                      <a:extLst>
                        <a:ext uri="{9D8B030D-6E8A-4147-A177-3AD203B41FA5}">
                          <a16:colId xmlns:a16="http://schemas.microsoft.com/office/drawing/2014/main" val="2152207462"/>
                        </a:ext>
                      </a:extLst>
                    </a:gridCol>
                  </a:tblGrid>
                  <a:tr h="5400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000">
                              <a:solidFill>
                                <a:sysClr val="windowText" lastClr="000000"/>
                              </a:solidFill>
                            </a:rPr>
                            <a:t>Rechnung</a:t>
                          </a: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miter lim="800000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miter lim="800000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000">
                              <a:solidFill>
                                <a:sysClr val="windowText" lastClr="000000"/>
                              </a:solidFill>
                            </a:rPr>
                            <a:t>Anzahl Multiplikationen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miter lim="800000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000">
                              <a:solidFill>
                                <a:sysClr val="windowText" lastClr="000000"/>
                              </a:solidFill>
                            </a:rPr>
                            <a:t>Anzahl Additionen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miter lim="800000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000">
                              <a:solidFill>
                                <a:sysClr val="windowText" lastClr="000000"/>
                              </a:solidFill>
                            </a:rPr>
                            <a:t>Anzahl Vergleiche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miter lim="800000"/>
                        </a:lnR>
                        <a:lnT w="12700" cap="flat" cmpd="sng" algn="ctr">
                          <a:noFill/>
                          <a:prstDash val="solid"/>
                          <a:miter lim="800000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538513869"/>
                      </a:ext>
                    </a:extLst>
                  </a:tr>
                  <a:tr h="54000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ctrlPr>
                                      <a:rPr lang="de-DE" sz="21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de-DE" sz="21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de-DE" sz="2100" b="0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𝑧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de-DE" sz="2100" b="0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Re</m:t>
                                        </m:r>
                                        <m:r>
                                          <a:rPr lang="de-DE" sz="2100" b="0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,  </m:t>
                                        </m:r>
                                        <m:r>
                                          <a:rPr lang="de-DE" sz="2100" b="0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  <m:r>
                                      <a:rPr lang="de-DE" sz="21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sSub>
                                      <m:sSubPr>
                                        <m:ctrlPr>
                                          <a:rPr lang="de-DE" sz="21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de-DE" sz="2100" b="0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𝑧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de-DE" sz="2100" b="0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Im</m:t>
                                        </m:r>
                                        <m:r>
                                          <a:rPr lang="de-DE" sz="2100" b="0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de-DE" sz="2100" b="0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</m:e>
                                </m:d>
                                <m:r>
                                  <a:rPr lang="de-DE" sz="2100" b="0" i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 ⋅</m:t>
                                </m:r>
                                <m:d>
                                  <m:dPr>
                                    <m:ctrlPr>
                                      <a:rPr lang="de-DE" sz="21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de-DE" sz="21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de-DE" sz="2100" b="0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𝑧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de-DE" sz="2100" b="0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Re</m:t>
                                        </m:r>
                                        <m:r>
                                          <a:rPr lang="de-DE" sz="2100" b="0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de-DE" sz="2100" b="0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  <m:r>
                                      <a:rPr lang="de-DE" sz="21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–</m:t>
                                    </m:r>
                                    <m:sSub>
                                      <m:sSubPr>
                                        <m:ctrlPr>
                                          <a:rPr lang="de-DE" sz="21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de-DE" sz="2100" b="0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𝑧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de-DE" sz="2100" b="0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Im</m:t>
                                        </m:r>
                                        <m:r>
                                          <a:rPr lang="de-DE" sz="2100" b="0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de-DE" sz="2100" b="0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</m:e>
                                </m:d>
                                <m:r>
                                  <a:rPr lang="de-DE" sz="2100" b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de-DE" sz="21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21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de-DE" sz="21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Re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sz="21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miter lim="800000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miter lim="800000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/>
                            <a:t>1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miter lim="800000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/>
                            <a:t>3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miter lim="800000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miter lim="800000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miter lim="800000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2052168403"/>
                      </a:ext>
                    </a:extLst>
                  </a:tr>
                  <a:tr h="54000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ctrlPr>
                                      <a:rPr lang="de-DE" sz="21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de-DE" sz="21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de-DE" sz="2100" b="0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𝑧</m:t>
                                        </m:r>
                                      </m:e>
                                      <m:sub>
                                        <m:r>
                                          <a:rPr lang="de-DE" sz="2100" b="0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𝑅𝑒</m:t>
                                        </m:r>
                                        <m:r>
                                          <a:rPr lang="de-DE" sz="2100" b="0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de-DE" sz="2100" b="0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  <m:r>
                                      <a:rPr lang="de-DE" sz="21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sSub>
                                      <m:sSubPr>
                                        <m:ctrlPr>
                                          <a:rPr lang="de-DE" sz="21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de-DE" sz="2100" b="0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𝑧</m:t>
                                        </m:r>
                                      </m:e>
                                      <m:sub>
                                        <m:r>
                                          <a:rPr lang="de-DE" sz="2100" b="0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𝑅𝑒</m:t>
                                        </m:r>
                                        <m:r>
                                          <a:rPr lang="de-DE" sz="2100" b="0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de-DE" sz="2100" b="0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</m:e>
                                </m:d>
                                <m:r>
                                  <a:rPr lang="de-DE" sz="2100" b="0" i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 ⋅</m:t>
                                </m:r>
                                <m:sSub>
                                  <m:sSubPr>
                                    <m:ctrlPr>
                                      <a:rPr lang="de-DE" sz="21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21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e>
                                  <m:sub>
                                    <m:r>
                                      <a:rPr lang="de-DE" sz="21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𝐼𝑚</m:t>
                                    </m:r>
                                    <m:r>
                                      <a:rPr lang="de-DE" sz="21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de-DE" sz="21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  <m:r>
                                  <a:rPr lang="de-DE" sz="2100" b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de-DE" sz="21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21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de-DE" sz="21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𝐼𝑚</m:t>
                                    </m:r>
                                    <m:r>
                                      <a:rPr lang="de-DE" sz="21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de-DE" sz="21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sz="21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miter lim="800000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miter lim="800000"/>
                        </a:lnT>
                        <a:lnB w="12700" cap="flat" cmpd="sng" algn="ctr">
                          <a:noFill/>
                          <a:prstDash val="solid"/>
                          <a:miter lim="800000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/>
                            <a:t>1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miter lim="800000"/>
                        </a:lnT>
                        <a:lnB w="12700" cap="flat" cmpd="sng" algn="ctr">
                          <a:noFill/>
                          <a:prstDash val="solid"/>
                          <a:miter lim="800000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/>
                            <a:t>2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miter lim="800000"/>
                        </a:lnT>
                        <a:lnB w="12700" cap="flat" cmpd="sng" algn="ctr">
                          <a:noFill/>
                          <a:prstDash val="solid"/>
                          <a:miter lim="800000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miter lim="800000"/>
                        </a:lnR>
                        <a:lnT w="12700" cap="flat" cmpd="sng" algn="ctr">
                          <a:noFill/>
                          <a:prstDash val="solid"/>
                          <a:miter lim="800000"/>
                        </a:lnT>
                        <a:lnB w="12700" cap="flat" cmpd="sng" algn="ctr">
                          <a:noFill/>
                          <a:prstDash val="solid"/>
                          <a:miter lim="800000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3071915781"/>
                      </a:ext>
                    </a:extLst>
                  </a:tr>
                  <a:tr h="54000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de-DE" sz="21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de-DE" sz="21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e>
                                  <m:sub>
                                    <m:r>
                                      <a:rPr lang="de-DE" sz="21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𝑅𝑒</m:t>
                                    </m:r>
                                    <m:r>
                                      <a:rPr lang="de-DE" sz="21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de-DE" sz="21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  <m:sup>
                                    <m:r>
                                      <a:rPr lang="de-DE" sz="21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bSup>
                                <m:r>
                                  <a:rPr lang="de-DE" sz="2100" b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Sup>
                                  <m:sSubSupPr>
                                    <m:ctrlPr>
                                      <a:rPr lang="de-DE" sz="21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de-DE" sz="21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e>
                                  <m:sub>
                                    <m:r>
                                      <a:rPr lang="de-DE" sz="21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𝐼𝑚</m:t>
                                    </m:r>
                                    <m:r>
                                      <a:rPr lang="de-DE" sz="21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de-DE" sz="21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  <m:sup>
                                    <m:r>
                                      <a:rPr lang="de-DE" sz="21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bSup>
                                <m:r>
                                  <a:rPr lang="de-DE" sz="2100" b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&lt;4</m:t>
                                </m:r>
                              </m:oMath>
                            </m:oMathPara>
                          </a14:m>
                          <a:endParaRPr lang="de-DE" sz="21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miter lim="800000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miter lim="800000"/>
                        </a:lnT>
                        <a:lnB w="12700" cap="flat" cmpd="sng" algn="ctr">
                          <a:noFill/>
                          <a:prstDash val="sysDash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/>
                            <a:t>2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miter lim="800000"/>
                        </a:lnT>
                        <a:lnB w="12700" cap="flat" cmpd="sng" algn="ctr">
                          <a:noFill/>
                          <a:prstDash val="sysDash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/>
                            <a:t>1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miter lim="800000"/>
                        </a:lnT>
                        <a:lnB w="12700" cap="flat" cmpd="sng" algn="ctr">
                          <a:noFill/>
                          <a:prstDash val="sysDash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/>
                            <a:t>1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miter lim="800000"/>
                        </a:lnT>
                        <a:lnB w="12700" cap="flat" cmpd="sng" algn="ctr">
                          <a:noFill/>
                          <a:prstDash val="sysDash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3947318029"/>
                      </a:ext>
                    </a:extLst>
                  </a:tr>
                  <a:tr h="54000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de-DE" sz="21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n</m:t>
                                </m:r>
                                <m:r>
                                  <a:rPr lang="de-DE" sz="21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++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miter lim="800000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miter lim="800000"/>
                        </a:lnT>
                        <a:lnB w="12700" cap="flat" cmpd="sng" algn="ctr">
                          <a:noFill/>
                          <a:prstDash val="sysDash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miter lim="800000"/>
                        </a:lnT>
                        <a:lnB w="12700" cap="flat" cmpd="sng" algn="ctr">
                          <a:noFill/>
                          <a:prstDash val="sysDash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/>
                            <a:t>1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miter lim="800000"/>
                        </a:lnT>
                        <a:lnB w="12700" cap="flat" cmpd="sng" algn="ctr">
                          <a:noFill/>
                          <a:prstDash val="sysDash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miter lim="800000"/>
                        </a:lnT>
                        <a:lnB w="12700" cap="flat" cmpd="sng" algn="ctr">
                          <a:noFill/>
                          <a:prstDash val="sysDash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1595023922"/>
                      </a:ext>
                    </a:extLst>
                  </a:tr>
                  <a:tr h="54000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de-DE" sz="210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n</m:t>
                                </m:r>
                                <m:r>
                                  <a:rPr lang="de-DE" sz="210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 == 100</m:t>
                                </m:r>
                              </m:oMath>
                            </m:oMathPara>
                          </a14:m>
                          <a:endParaRPr lang="de-DE" sz="21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miter lim="800000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ysDash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ysDash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ysDash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/>
                            <a:t>1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miter lim="800000"/>
                        </a:lnR>
                        <a:lnT w="12700" cap="flat" cmpd="sng" algn="ctr">
                          <a:noFill/>
                          <a:prstDash val="sysDash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713672641"/>
                      </a:ext>
                    </a:extLst>
                  </a:tr>
                  <a:tr h="5400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 b="1"/>
                            <a:t>SUMME</a:t>
                          </a: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miter lim="800000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miter lim="800000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 b="1"/>
                            <a:t>4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miter lim="800000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 b="1"/>
                            <a:t>7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miter lim="800000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 b="1" dirty="0"/>
                            <a:t>2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miter lim="800000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miter lim="800000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301558924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elle 3">
                <a:extLst>
                  <a:ext uri="{FF2B5EF4-FFF2-40B4-BE49-F238E27FC236}">
                    <a16:creationId xmlns:a16="http://schemas.microsoft.com/office/drawing/2014/main" id="{372C1ECE-96CC-7CA3-BA4D-CC1F0023051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953763020"/>
                  </p:ext>
                </p:extLst>
              </p:nvPr>
            </p:nvGraphicFramePr>
            <p:xfrm>
              <a:off x="838200" y="1825626"/>
              <a:ext cx="10515600" cy="3941040"/>
            </p:xfrm>
            <a:graphic>
              <a:graphicData uri="http://schemas.openxmlformats.org/drawingml/2006/table">
                <a:tbl>
                  <a:tblPr firstRow="1" bandRow="1">
                    <a:tableStyleId>{7E9639D4-E3E2-4D34-9284-5A2195B3D0D7}</a:tableStyleId>
                  </a:tblPr>
                  <a:tblGrid>
                    <a:gridCol w="4338234">
                      <a:extLst>
                        <a:ext uri="{9D8B030D-6E8A-4147-A177-3AD203B41FA5}">
                          <a16:colId xmlns:a16="http://schemas.microsoft.com/office/drawing/2014/main" val="2508158368"/>
                        </a:ext>
                      </a:extLst>
                    </a:gridCol>
                    <a:gridCol w="2386739">
                      <a:extLst>
                        <a:ext uri="{9D8B030D-6E8A-4147-A177-3AD203B41FA5}">
                          <a16:colId xmlns:a16="http://schemas.microsoft.com/office/drawing/2014/main" val="384541877"/>
                        </a:ext>
                      </a:extLst>
                    </a:gridCol>
                    <a:gridCol w="1782305">
                      <a:extLst>
                        <a:ext uri="{9D8B030D-6E8A-4147-A177-3AD203B41FA5}">
                          <a16:colId xmlns:a16="http://schemas.microsoft.com/office/drawing/2014/main" val="2439222675"/>
                        </a:ext>
                      </a:extLst>
                    </a:gridCol>
                    <a:gridCol w="2008322">
                      <a:extLst>
                        <a:ext uri="{9D8B030D-6E8A-4147-A177-3AD203B41FA5}">
                          <a16:colId xmlns:a16="http://schemas.microsoft.com/office/drawing/2014/main" val="2152207462"/>
                        </a:ext>
                      </a:extLst>
                    </a:gridCol>
                  </a:tblGrid>
                  <a:tr h="7010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000">
                              <a:solidFill>
                                <a:sysClr val="windowText" lastClr="000000"/>
                              </a:solidFill>
                            </a:rPr>
                            <a:t>Rechnung</a:t>
                          </a: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miter lim="800000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miter lim="800000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000">
                              <a:solidFill>
                                <a:sysClr val="windowText" lastClr="000000"/>
                              </a:solidFill>
                            </a:rPr>
                            <a:t>Anzahl Multiplikationen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miter lim="800000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000">
                              <a:solidFill>
                                <a:sysClr val="windowText" lastClr="000000"/>
                              </a:solidFill>
                            </a:rPr>
                            <a:t>Anzahl Additionen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miter lim="800000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000">
                              <a:solidFill>
                                <a:sysClr val="windowText" lastClr="000000"/>
                              </a:solidFill>
                            </a:rPr>
                            <a:t>Anzahl Vergleiche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miter lim="800000"/>
                        </a:lnR>
                        <a:lnT w="12700" cap="flat" cmpd="sng" algn="ctr">
                          <a:noFill/>
                          <a:prstDash val="solid"/>
                          <a:miter lim="800000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538513869"/>
                      </a:ext>
                    </a:extLst>
                  </a:tr>
                  <a:tr h="54000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miter lim="800000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miter lim="800000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92" t="-132558" r="-142690" b="-5046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/>
                            <a:t>1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miter lim="800000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/>
                            <a:t>3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miter lim="800000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miter lim="800000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miter lim="800000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2052168403"/>
                      </a:ext>
                    </a:extLst>
                  </a:tr>
                  <a:tr h="54000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miter lim="800000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miter lim="800000"/>
                        </a:lnT>
                        <a:lnB w="12700" cap="flat" cmpd="sng" algn="ctr">
                          <a:noFill/>
                          <a:prstDash val="solid"/>
                          <a:miter lim="800000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92" t="-232558" r="-142690" b="-4046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/>
                            <a:t>1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miter lim="800000"/>
                        </a:lnT>
                        <a:lnB w="12700" cap="flat" cmpd="sng" algn="ctr">
                          <a:noFill/>
                          <a:prstDash val="solid"/>
                          <a:miter lim="800000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/>
                            <a:t>2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miter lim="800000"/>
                        </a:lnT>
                        <a:lnB w="12700" cap="flat" cmpd="sng" algn="ctr">
                          <a:noFill/>
                          <a:prstDash val="solid"/>
                          <a:miter lim="800000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miter lim="800000"/>
                        </a:lnR>
                        <a:lnT w="12700" cap="flat" cmpd="sng" algn="ctr">
                          <a:noFill/>
                          <a:prstDash val="solid"/>
                          <a:miter lim="800000"/>
                        </a:lnT>
                        <a:lnB w="12700" cap="flat" cmpd="sng" algn="ctr">
                          <a:noFill/>
                          <a:prstDash val="solid"/>
                          <a:miter lim="800000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3071915781"/>
                      </a:ext>
                    </a:extLst>
                  </a:tr>
                  <a:tr h="54000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miter lim="800000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miter lim="800000"/>
                        </a:lnT>
                        <a:lnB w="12700" cap="flat" cmpd="sng" algn="ctr">
                          <a:noFill/>
                          <a:prstDash val="sysDash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92" t="-332558" r="-142690" b="-3046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/>
                            <a:t>2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miter lim="800000"/>
                        </a:lnT>
                        <a:lnB w="12700" cap="flat" cmpd="sng" algn="ctr">
                          <a:noFill/>
                          <a:prstDash val="sysDash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/>
                            <a:t>1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miter lim="800000"/>
                        </a:lnT>
                        <a:lnB w="12700" cap="flat" cmpd="sng" algn="ctr">
                          <a:noFill/>
                          <a:prstDash val="sysDash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/>
                            <a:t>1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miter lim="800000"/>
                        </a:lnT>
                        <a:lnB w="12700" cap="flat" cmpd="sng" algn="ctr">
                          <a:noFill/>
                          <a:prstDash val="sysDash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3947318029"/>
                      </a:ext>
                    </a:extLst>
                  </a:tr>
                  <a:tr h="54000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miter lim="800000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miter lim="800000"/>
                        </a:lnT>
                        <a:lnB w="12700" cap="flat" cmpd="sng" algn="ctr">
                          <a:noFill/>
                          <a:prstDash val="sysDash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92" t="-442857" r="-142690" b="-21190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miter lim="800000"/>
                        </a:lnT>
                        <a:lnB w="12700" cap="flat" cmpd="sng" algn="ctr">
                          <a:noFill/>
                          <a:prstDash val="sysDash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/>
                            <a:t>1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miter lim="800000"/>
                        </a:lnT>
                        <a:lnB w="12700" cap="flat" cmpd="sng" algn="ctr">
                          <a:noFill/>
                          <a:prstDash val="sysDash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miter lim="800000"/>
                        </a:lnT>
                        <a:lnB w="12700" cap="flat" cmpd="sng" algn="ctr">
                          <a:noFill/>
                          <a:prstDash val="sysDash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1595023922"/>
                      </a:ext>
                    </a:extLst>
                  </a:tr>
                  <a:tr h="54000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miter lim="800000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ysDash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92" t="-530233" r="-142690" b="-10697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ysDash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ysDash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/>
                            <a:t>1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miter lim="800000"/>
                        </a:lnR>
                        <a:lnT w="12700" cap="flat" cmpd="sng" algn="ctr">
                          <a:noFill/>
                          <a:prstDash val="sysDash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713672641"/>
                      </a:ext>
                    </a:extLst>
                  </a:tr>
                  <a:tr h="5400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 b="1"/>
                            <a:t>SUMME</a:t>
                          </a: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miter lim="800000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miter lim="800000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 b="1"/>
                            <a:t>4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miter lim="800000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 b="1"/>
                            <a:t>7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miter lim="800000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 b="1" dirty="0"/>
                            <a:t>2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miter lim="800000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miter lim="800000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3015589241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2" name="Titel 1">
            <a:extLst>
              <a:ext uri="{FF2B5EF4-FFF2-40B4-BE49-F238E27FC236}">
                <a16:creationId xmlns:a16="http://schemas.microsoft.com/office/drawing/2014/main" id="{54868A6D-77DC-A8F4-2763-834215D1AE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Berechnungsimplementierung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D88FB4B3-4AEF-CBB1-7341-41EED0C341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3980B-2C02-594B-9C73-A951FE425682}" type="slidenum">
              <a:rPr lang="de-DE" smtClean="0"/>
              <a:t>25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5943207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CBB391-FDEF-BB0F-5D01-0AAC7F6905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1D3FFD9-6604-04EC-9FFE-2DED46B6B8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Arty A7 vs. Arty Z7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72057388-1A5A-5961-E17C-7ECA0D24F61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755370" y="1489586"/>
            <a:ext cx="8681259" cy="4998775"/>
          </a:xfrm>
          <a:prstGeom prst="rect">
            <a:avLst/>
          </a:prstGeom>
        </p:spPr>
      </p:pic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ABF4ACF-10BD-2AAB-82F4-B409518D65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3980B-2C02-594B-9C73-A951FE425682}" type="slidenum">
              <a:rPr lang="de-DE" smtClean="0"/>
              <a:t>26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274315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4AAECF-B5D1-B796-5941-82178EEFAE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7B2D482-2647-3382-918B-5B5650D9E2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Implementierung Arty A7 vs. Arty Z7</a:t>
            </a:r>
          </a:p>
        </p:txBody>
      </p:sp>
      <p:graphicFrame>
        <p:nvGraphicFramePr>
          <p:cNvPr id="9" name="Tabelle 8">
            <a:extLst>
              <a:ext uri="{FF2B5EF4-FFF2-40B4-BE49-F238E27FC236}">
                <a16:creationId xmlns:a16="http://schemas.microsoft.com/office/drawing/2014/main" id="{A80398F4-40CF-1945-B139-B0DF3CBFBBF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15709526"/>
              </p:ext>
            </p:extLst>
          </p:nvPr>
        </p:nvGraphicFramePr>
        <p:xfrm>
          <a:off x="838200" y="1825626"/>
          <a:ext cx="10515600" cy="397152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2807368">
                  <a:extLst>
                    <a:ext uri="{9D8B030D-6E8A-4147-A177-3AD203B41FA5}">
                      <a16:colId xmlns:a16="http://schemas.microsoft.com/office/drawing/2014/main" val="2508158368"/>
                    </a:ext>
                  </a:extLst>
                </a:gridCol>
                <a:gridCol w="4030579">
                  <a:extLst>
                    <a:ext uri="{9D8B030D-6E8A-4147-A177-3AD203B41FA5}">
                      <a16:colId xmlns:a16="http://schemas.microsoft.com/office/drawing/2014/main" val="384541877"/>
                    </a:ext>
                  </a:extLst>
                </a:gridCol>
                <a:gridCol w="3677653">
                  <a:extLst>
                    <a:ext uri="{9D8B030D-6E8A-4147-A177-3AD203B41FA5}">
                      <a16:colId xmlns:a16="http://schemas.microsoft.com/office/drawing/2014/main" val="2439222675"/>
                    </a:ext>
                  </a:extLst>
                </a:gridCol>
              </a:tblGrid>
              <a:tr h="540000">
                <a:tc>
                  <a:txBody>
                    <a:bodyPr/>
                    <a:lstStyle/>
                    <a:p>
                      <a:pPr algn="ctr"/>
                      <a:r>
                        <a:rPr lang="de-DE" sz="2000">
                          <a:solidFill>
                            <a:sysClr val="windowText" lastClr="000000"/>
                          </a:solidFill>
                        </a:rPr>
                        <a:t>Feature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miter lim="800000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miter lim="800000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2000">
                          <a:solidFill>
                            <a:sysClr val="windowText" lastClr="000000"/>
                          </a:solidFill>
                        </a:rPr>
                        <a:t>Arty A7-100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miter lim="800000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2000" dirty="0">
                          <a:solidFill>
                            <a:sysClr val="windowText" lastClr="000000"/>
                          </a:solidFill>
                        </a:rPr>
                        <a:t>Arty Z7-20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miter lim="800000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38513869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pPr algn="ctr"/>
                      <a:r>
                        <a:rPr lang="de-DE" sz="2100">
                          <a:solidFill>
                            <a:schemeClr val="tx1"/>
                          </a:solidFill>
                        </a:rPr>
                        <a:t>Minimap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miter lim="800000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2100"/>
                        <a:t>Nein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2100" dirty="0"/>
                        <a:t>Ja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156379989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pPr algn="ctr"/>
                      <a:r>
                        <a:rPr lang="de-DE" sz="2100">
                          <a:solidFill>
                            <a:schemeClr val="tx1"/>
                          </a:solidFill>
                        </a:rPr>
                        <a:t>Ausgabe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miter lim="800000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2100"/>
                        <a:t>VGA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2100" dirty="0"/>
                        <a:t>DVI über HDMI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71915781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2100">
                          <a:solidFill>
                            <a:schemeClr val="tx1"/>
                          </a:solidFill>
                        </a:rPr>
                        <a:t>Auflösung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miter lim="800000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miter lim="800000"/>
                    </a:lnT>
                    <a:lnB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2100"/>
                        <a:t>640x480@60 Hz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miter lim="800000"/>
                    </a:lnT>
                    <a:lnB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2100" dirty="0"/>
                        <a:t>640x480@60 Hz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miter lim="800000"/>
                    </a:lnT>
                    <a:lnB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947318029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2100">
                          <a:solidFill>
                            <a:schemeClr val="tx1"/>
                          </a:solidFill>
                        </a:rPr>
                        <a:t>Farbtiefe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miter lim="800000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miter lim="800000"/>
                    </a:lnT>
                    <a:lnB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2100"/>
                        <a:t>12 Bits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miter lim="800000"/>
                    </a:lnT>
                    <a:lnB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2100" dirty="0"/>
                        <a:t>24 Bits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miter lim="800000"/>
                    </a:lnT>
                    <a:lnB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595023922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2100" dirty="0">
                          <a:solidFill>
                            <a:schemeClr val="tx1"/>
                          </a:solidFill>
                        </a:rPr>
                        <a:t>Farbschema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miter lim="800000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2100" dirty="0"/>
                        <a:t>SW-seitig auswählbar, hardwarebeschleunigt realisiert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2100" dirty="0"/>
                        <a:t>SW-seitig konfigurierbar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3672641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2100" dirty="0">
                          <a:solidFill>
                            <a:schemeClr val="tx1"/>
                          </a:solidFill>
                        </a:rPr>
                        <a:t>UART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miter lim="800000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2100" dirty="0"/>
                        <a:t>9600 Baud, 8N1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2100" dirty="0"/>
                        <a:t>115200 Baud, 8N1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22883985"/>
                  </a:ext>
                </a:extLst>
              </a:tr>
            </a:tbl>
          </a:graphicData>
        </a:graphic>
      </p:graphicFrame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C12321B-1ABE-A1DE-E00A-8FC0BDB315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3980B-2C02-594B-9C73-A951FE425682}" type="slidenum">
              <a:rPr lang="de-DE" smtClean="0"/>
              <a:t>27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2112689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1145</Words>
  <Application>Microsoft Macintosh PowerPoint</Application>
  <PresentationFormat>Breitbild</PresentationFormat>
  <Paragraphs>279</Paragraphs>
  <Slides>27</Slides>
  <Notes>17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27</vt:i4>
      </vt:variant>
    </vt:vector>
  </HeadingPairs>
  <TitlesOfParts>
    <vt:vector size="34" baseType="lpstr">
      <vt:lpstr>Aptos</vt:lpstr>
      <vt:lpstr>Aptos Display</vt:lpstr>
      <vt:lpstr>Arial</vt:lpstr>
      <vt:lpstr>Cambria Math</vt:lpstr>
      <vt:lpstr>Courier New</vt:lpstr>
      <vt:lpstr>Wingdings</vt:lpstr>
      <vt:lpstr>Office</vt:lpstr>
      <vt:lpstr>FractalCore</vt:lpstr>
      <vt:lpstr>Systemüberblick</vt:lpstr>
      <vt:lpstr>1) Initialwerterzeugung</vt:lpstr>
      <vt:lpstr>Folgenberechnung</vt:lpstr>
      <vt:lpstr>Pixelmapping</vt:lpstr>
      <vt:lpstr>Julia- &amp; Mandelbrotmenge</vt:lpstr>
      <vt:lpstr>2) Mengenberechnung</vt:lpstr>
      <vt:lpstr>Parallelisierung der Berechnung</vt:lpstr>
      <vt:lpstr>Prozessor vs. FPGA</vt:lpstr>
      <vt:lpstr>3) Visualisierung</vt:lpstr>
      <vt:lpstr>Farbcodierung</vt:lpstr>
      <vt:lpstr>Speicheroptimierung und Bildausgabe</vt:lpstr>
      <vt:lpstr>4) Steuerung</vt:lpstr>
      <vt:lpstr>Steuerung über MicroBlaze und UART</vt:lpstr>
      <vt:lpstr>Literatur</vt:lpstr>
      <vt:lpstr>FractalCore</vt:lpstr>
      <vt:lpstr>BACKUP</vt:lpstr>
      <vt:lpstr>1) Initialwerterzeugung</vt:lpstr>
      <vt:lpstr>Juliamenge - Animationsmodi</vt:lpstr>
      <vt:lpstr>LFSR - Aufbau und Funktion</vt:lpstr>
      <vt:lpstr>2) Mengenberechnung</vt:lpstr>
      <vt:lpstr>Berechnungsimplementierung</vt:lpstr>
      <vt:lpstr>Berechnungsimplementierung</vt:lpstr>
      <vt:lpstr>Berechnungsimplementierung</vt:lpstr>
      <vt:lpstr>Berechnungsimplementierung</vt:lpstr>
      <vt:lpstr>Arty A7 vs. Arty Z7</vt:lpstr>
      <vt:lpstr>Implementierung Arty A7 vs. Arty Z7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Markus Remy</dc:creator>
  <cp:lastModifiedBy>Markus Remy</cp:lastModifiedBy>
  <cp:revision>470</cp:revision>
  <dcterms:created xsi:type="dcterms:W3CDTF">2026-06-12T13:14:21Z</dcterms:created>
  <dcterms:modified xsi:type="dcterms:W3CDTF">2026-06-24T04:14:37Z</dcterms:modified>
</cp:coreProperties>
</file>