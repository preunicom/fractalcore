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3" r:id="rId3"/>
    <p:sldId id="275" r:id="rId4"/>
    <p:sldId id="260" r:id="rId5"/>
    <p:sldId id="261" r:id="rId6"/>
    <p:sldId id="262" r:id="rId7"/>
    <p:sldId id="270" r:id="rId8"/>
    <p:sldId id="268" r:id="rId9"/>
    <p:sldId id="276" r:id="rId10"/>
    <p:sldId id="257" r:id="rId11"/>
    <p:sldId id="271" r:id="rId12"/>
    <p:sldId id="265" r:id="rId13"/>
    <p:sldId id="258" r:id="rId14"/>
    <p:sldId id="266" r:id="rId15"/>
    <p:sldId id="272" r:id="rId16"/>
    <p:sldId id="277" r:id="rId17"/>
    <p:sldId id="274" r:id="rId18"/>
    <p:sldId id="278" r:id="rId19"/>
    <p:sldId id="279" r:id="rId20"/>
    <p:sldId id="280" r:id="rId21"/>
    <p:sldId id="273" r:id="rId22"/>
    <p:sldId id="281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/>
    <p:restoredTop sz="92631"/>
  </p:normalViewPr>
  <p:slideViewPr>
    <p:cSldViewPr snapToGrid="0">
      <p:cViewPr>
        <p:scale>
          <a:sx n="179" d="100"/>
          <a:sy n="179" d="100"/>
        </p:scale>
        <p:origin x="228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90DA4-8E7E-0941-AA18-ABC55D37EF0E}" type="datetimeFigureOut">
              <a:rPr lang="de-DE" smtClean="0"/>
              <a:t>15.06.26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36D80-E674-C74A-9C41-C7D9BE4A5A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31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TODO: Hintergrundbild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953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Entspricht der Gliederung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644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126A-B3C0-0D6B-9958-30E22743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02D160E-0923-1AC1-6F2B-39F2629E8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A8BFA9-5FDA-1480-CA7E-AABD55356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Entspricht der Gliederung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99DAE0-4975-A5ED-AAFE-60E5AA8C7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859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Um zu verstehen, wie so ein Bild entsteht, müssen wir zuerst die Mathematik dahinter verstehen.</a:t>
            </a:r>
          </a:p>
          <a:p>
            <a:r>
              <a:rPr lang="de-DE" dirty="0"/>
              <a:t>Und dabei steht die Folge z_n+1 = z_n^2 + c und ihr Grenzverhalten im Zentrum.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439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59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591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NICHT AUF DEN AUFBAU EINGEHEN!</a:t>
            </a:r>
            <a:br>
              <a:rPr lang="de-DE" dirty="0"/>
            </a:br>
            <a:r>
              <a:rPr lang="de-DE" dirty="0"/>
              <a:t>NUR GROB MIT CRC VERGLEICHEN!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5757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187B-05A9-563A-1B16-CBDF8655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C34808-9FA6-A849-84C3-3258A5EC6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D747CC-A51F-C56B-0FCD-91331FEA7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Entspricht der Gliederung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DCC72C-6FD4-1792-EEE1-B7E38584A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380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896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FPGA: 303 Takte, da jede Iteration 3 Stages </a:t>
            </a:r>
            <a:r>
              <a:rPr lang="de-DE">
                <a:sym typeface="Wingdings" pitchFamily="2" charset="2"/>
              </a:rPr>
              <a:t> 300 Takte + 3 Takte für eine Iteration in der das Ergebnis weggeschrieben wird und neue Startwerte geladen werden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991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709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57C5-2C3B-8A6E-713E-EAA61041B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5F904F-B20D-517A-10C4-167EB057C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2BCFB3-4CE1-A872-534B-290564D52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Entspricht der Gliederung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905205-3ECE-18EF-6A19-980DD241A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864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D7AC-D7F0-5FDD-59AB-DD01A46B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6326F75-16FD-AAB7-1A69-6DA16D3AC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99BF6A-FE38-65DE-CE6F-373FF5207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Entspricht der Gliederung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D2160E-2B76-AD10-86B0-3AD0063DC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446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BB2B2-F221-7669-5B48-35869E18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EEB85D-612D-D8B7-C592-08FA2D62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ECDE8D-4B4D-79EF-119E-31138BE17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Entspricht der Gliederung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424F95-8B32-A310-36E3-6E9690EC4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6D80-E674-C74A-9C41-C7D9BE4A5ABE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810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5E9F0-91BC-9F1B-E607-FCD34AD5A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DD6755-60CA-94F3-7EC6-715D8898F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819F97-62E4-6FFA-9BA1-29128574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A5A1-A813-7B43-85D4-C153DE6EEC5D}" type="datetime1">
              <a:rPr lang="de-DE" smtClean="0"/>
              <a:t>15.06.26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0660A-E33E-DCF5-3160-22DF2F4B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4267AC-E8BE-28C5-1203-E23B8B64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70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D4F1E-6183-D673-0E48-E72FF9281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FB6A01-5331-BA1D-7827-3486DE92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6F72EE-9D47-B6AA-BD1C-9FB9527F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1040"/>
            <a:ext cx="2743200" cy="365125"/>
          </a:xfrm>
        </p:spPr>
        <p:txBody>
          <a:bodyPr/>
          <a:lstStyle/>
          <a:p>
            <a:fld id="{04634442-C186-E94E-B304-D4E0857BF857}" type="datetime1">
              <a:rPr lang="de-DE" smtClean="0"/>
              <a:t>15.06.26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CE0F29-265C-A27B-BDDA-FA35B631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1039"/>
            <a:ext cx="4114800" cy="36512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EC115B-A682-1FCB-5794-467A0812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1039"/>
            <a:ext cx="2743200" cy="365125"/>
          </a:xfrm>
        </p:spPr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7061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A41094-A3B1-443B-B54C-2A668FD3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FD2EDE-69D9-48F3-5E6E-FF4CFD08E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973CB9-1EDB-C21C-2DF5-5C0E2EF8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E65F1-39AD-D942-81CC-A8B185C49E41}" type="datetime1">
              <a:rPr lang="de-DE" smtClean="0"/>
              <a:t>15.06.26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9D53FE-52DE-A8D0-F807-EA9E106D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5E8088-9A49-2424-1D64-661EB71F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380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A1C29-768B-E2D9-9F2F-364B8695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DDA49-D107-9859-95F9-208C729C1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F5FFB5-34D3-7EF7-D7A1-D4325FC07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B11B59-95DF-F79C-8736-4E04444C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11CB-D684-6D4F-A48A-21B70AE7BE5E}" type="datetime1">
              <a:rPr lang="de-DE" smtClean="0"/>
              <a:t>15.06.26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758F3E-CA89-79EF-F970-D32D6985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64884A-0EE1-73FD-8C36-E24D0549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6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99C43-CE70-CB4B-7251-4A9D98DA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C0738A-256F-AE20-2C04-8A107CC5F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E1F246-0663-51B0-BD6A-615A50633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1D7A3CC-4758-7A0E-9ECA-AEEA7AD75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1B5FE4-F52C-DA24-29B1-F92C78583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56BDA0-8394-7F5C-1AFB-D27B69E4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E48E-21DA-704B-B06E-619E9794DDDC}" type="datetime1">
              <a:rPr lang="de-DE" smtClean="0"/>
              <a:t>15.06.26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0D4A62-E643-64CF-2703-F4C302D5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81C7957-4ABC-DEBF-FE04-7A50D78E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34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C05A0-BDD2-56E1-C675-5FBFB6D6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1C6ED1-0D51-E1F5-1576-BD99C8A4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E8C2-ED39-FA4A-892C-5D69F297ACBF}" type="datetime1">
              <a:rPr lang="de-DE" smtClean="0"/>
              <a:t>15.06.26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FFC75D-DE0D-BC30-4E99-D2D774D2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77CF6F-F9DB-00D5-FB8F-542754B2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93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363860-87EF-2A36-9A3A-2A6B2B99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4A7F1-D4D8-1545-AA93-BB835A9F7A8B}" type="datetime1">
              <a:rPr lang="de-DE" smtClean="0"/>
              <a:t>15.06.26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4ECE4C-9ED1-2057-99B2-15C9000A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8678A0-AB39-D6AA-23A0-D57988B5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53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6D286-B7A5-4BB2-3BEE-0E9E496F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F18FE4-5EF7-7FAF-8F25-150C96CF0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5B6CBE-A0B6-1885-F713-A47DD5EA7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87DF34-03C2-89DC-691A-FD01B236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B4EF1-1BB5-A140-8507-2D8B6A510087}" type="datetime1">
              <a:rPr lang="de-DE" smtClean="0"/>
              <a:t>15.06.26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D02A94-944A-A976-EC09-65DE47FA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AF99A7-735F-ACA7-78EB-46594B69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145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158DF-3871-0077-39D3-F30305EE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AEB852-4240-E9A9-1E54-6563AF8F8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16686F-0A39-409F-A292-6004D3615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5D566B-3502-3617-38E0-7A3DC8FA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BA3A3-CA4A-E644-9084-D797594CB804}" type="datetime1">
              <a:rPr lang="de-DE" smtClean="0"/>
              <a:t>15.06.26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4B50D3-499F-6935-A3BE-A8A24274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DEB3B2-1360-2267-44E1-E3CCAD10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054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EDE42-0702-E5E4-94C4-8C76F458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BAF454-059A-2BF2-C7F5-C8723331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B7B421-0FAF-07C8-7182-A0511FAC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F633-92B1-A640-B682-55DDF7097609}" type="datetime1">
              <a:rPr lang="de-DE" smtClean="0"/>
              <a:t>15.06.26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5AD420-5ED6-2FF1-3CB3-DAA96862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CA6CC-84BC-2B32-D736-E0228CAF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72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89D0416-02C0-9EB2-ECA4-E701AEBA6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BD512A-BA37-18C0-D552-02E4E1211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BE7305-9B13-8940-4CBA-5749FE1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DB9B7-7C2A-CA43-A176-0C82CB77F997}" type="datetime1">
              <a:rPr lang="de-DE" smtClean="0"/>
              <a:t>15.06.26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EA708E-DCB2-3EA1-C943-8FB584C58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059B6E-A2C0-00CE-104F-8707AA86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733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85600D-8AD8-019B-D456-361609E4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581F8C-B25F-4A74-51A4-7C12B413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DA8EAA-CF2D-D351-AE66-68987CE0F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63E4-7209-8D4B-B12D-5159794EF612}" type="datetime1">
              <a:rPr lang="de-DE" smtClean="0"/>
              <a:t>15.06.26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D78B45-9D52-D483-66A5-E9E551C22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E0233E-A807-8B3D-8164-1E9CACAB4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3980B-2C02-594B-9C73-A951FE425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63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md.com/v/u/en-US/ug479_7Series_DSP48E1" TargetMode="External"/><Relationship Id="rId2" Type="http://schemas.openxmlformats.org/officeDocument/2006/relationships/hyperlink" Target="https://www.mathematik.uni-ulm.de/stochastik/lehre/ws06_07/seminar_fraktale/ausarbeitung_voelkel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3BAD41-56DB-2787-605F-54CB9C297D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23" b="1"/>
          <a:stretch>
            <a:fillRect/>
          </a:stretch>
        </p:blipFill>
        <p:spPr>
          <a:xfrm>
            <a:off x="-54461" y="-29772"/>
            <a:ext cx="12297871" cy="69175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E5EAD6-B1AD-D20E-7E56-F0900BED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sz="5200">
                <a:solidFill>
                  <a:srgbClr val="FFFFFF"/>
                </a:solidFill>
              </a:rPr>
              <a:t>FractalCore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83F261-BA5D-56CE-D95D-0230CC6AA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Markus Remy, Thomas Schiergl</a:t>
            </a:r>
          </a:p>
        </p:txBody>
      </p:sp>
    </p:spTree>
    <p:extLst>
      <p:ext uri="{BB962C8B-B14F-4D97-AF65-F5344CB8AC3E}">
        <p14:creationId xmlns:p14="http://schemas.microsoft.com/office/powerpoint/2010/main" val="340773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DF80EC-CD95-0B1A-565E-9E71C350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Systemüberblick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3EC115-1820-E513-0021-FAF480BA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47533" y="1485074"/>
            <a:ext cx="8696933" cy="5007801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405529-831B-213E-5F34-8F66C31A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070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A7DE-088E-FFB7-4D51-4DE64142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49E69-4B1F-073B-9DC0-F94EAC56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1) Initialwerterzeugung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E441645-4DA5-044D-CB5D-A705731457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47533" y="1489586"/>
            <a:ext cx="8696933" cy="499877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F440DB-B584-8D55-4A24-12ACE6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958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496F-1CDE-593A-BB0D-B9502DA2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994AD1-DBF4-9098-494C-436AD593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Folgenberechnung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8B54E49-1A7E-108E-47D7-A8D2BBA077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668884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000"/>
                  </a:spcAft>
                  <a:buNone/>
                </a:pPr>
                <a:r>
                  <a:rPr lang="de-DE" sz="2100" b="0" dirty="0"/>
                  <a:t>Berechnung der Folge 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1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de-DE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de-DE" sz="2100" b="0" dirty="0"/>
              </a:p>
              <a:p>
                <a:pPr marL="0" indent="0">
                  <a:spcAft>
                    <a:spcPts val="1000"/>
                  </a:spcAft>
                  <a:buNone/>
                </a:pPr>
                <a:r>
                  <a:rPr lang="de-DE" sz="2100" dirty="0"/>
                  <a:t>bis zur Divergenz bei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&gt;= 2</m:t>
                      </m:r>
                    </m:oMath>
                  </m:oMathPara>
                </a14:m>
                <a:endParaRPr lang="de-DE" sz="2100" dirty="0"/>
              </a:p>
              <a:p>
                <a:pPr marL="0" indent="0">
                  <a:buNone/>
                </a:pPr>
                <a:r>
                  <a:rPr lang="de-DE" sz="2100" dirty="0"/>
                  <a:t>oder zur Konvergenz nach einer festgelegten maximalen Anzahl an </a:t>
                </a:r>
                <a:r>
                  <a:rPr lang="de-DE" sz="2100" dirty="0" err="1"/>
                  <a:t>Interationen</a:t>
                </a:r>
                <a:r>
                  <a:rPr lang="de-DE" sz="2100" dirty="0"/>
                  <a:t> </a:t>
                </a:r>
                <a14:m>
                  <m:oMath xmlns:m="http://schemas.openxmlformats.org/officeDocument/2006/math">
                    <m:r>
                      <a:rPr lang="de-DE" sz="210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sz="21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21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de-DE" sz="2100" dirty="0"/>
                  <a:t> für jeden Pixel des Bildes.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8B54E49-1A7E-108E-47D7-A8D2BBA07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668884"/>
              </a:xfrm>
              <a:blipFill>
                <a:blip r:embed="rId3"/>
                <a:stretch>
                  <a:fillRect l="-724" t="-2370" b="-28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>
            <a:extLst>
              <a:ext uri="{FF2B5EF4-FFF2-40B4-BE49-F238E27FC236}">
                <a16:creationId xmlns:a16="http://schemas.microsoft.com/office/drawing/2014/main" id="{72A2840F-B669-6FB7-1EE5-33759729EC12}"/>
              </a:ext>
            </a:extLst>
          </p:cNvPr>
          <p:cNvSpPr/>
          <p:nvPr/>
        </p:nvSpPr>
        <p:spPr>
          <a:xfrm>
            <a:off x="-204000" y="5979308"/>
            <a:ext cx="12600000" cy="513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00"/>
              <a:t> Pixelfärbung abhängig vom Grenzwertverhalten der Folge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336AE1-15F2-B1B7-E359-6F5DC353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4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ED522EE-C212-A5D6-B2F4-B6A152D5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8472" y="6492875"/>
            <a:ext cx="9615055" cy="365125"/>
          </a:xfrm>
        </p:spPr>
        <p:txBody>
          <a:bodyPr/>
          <a:lstStyle/>
          <a:p>
            <a:r>
              <a:rPr lang="de-DE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179035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A066C-06B0-9296-CFEC-96904EA2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Pixelmapping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28B930-525E-C0D8-3AF7-514D8404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7461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100" dirty="0"/>
              <a:t>Jeder Pixel wird einem Punkt in der komplexen Ebene zugeordnet.</a:t>
            </a:r>
          </a:p>
          <a:p>
            <a:pPr marL="0" indent="0">
              <a:buNone/>
            </a:pPr>
            <a:r>
              <a:rPr lang="de-DE" sz="2100" dirty="0"/>
              <a:t>Die Variable d entspricht dabei einer konfigurierbaren Distanz zwischen zwei Pixeln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A94A69-28C5-BB9B-E1DD-CAAD6C2CE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224" y="3159244"/>
            <a:ext cx="6051551" cy="3333630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0EA3258-52D5-45CB-46A1-95658A5CA412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3070224" y="4826059"/>
            <a:ext cx="605155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D82AB3F-28ED-87AD-112C-15579E1EAE27}"/>
              </a:ext>
            </a:extLst>
          </p:cNvPr>
          <p:cNvCxnSpPr>
            <a:cxnSpLocks/>
            <a:stCxn id="5" idx="2"/>
            <a:endCxn id="5" idx="0"/>
          </p:cNvCxnSpPr>
          <p:nvPr/>
        </p:nvCxnSpPr>
        <p:spPr>
          <a:xfrm flipV="1">
            <a:off x="6096000" y="3159244"/>
            <a:ext cx="0" cy="333363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D94B567F-A907-A48E-1456-5B20A608ADAC}"/>
              </a:ext>
            </a:extLst>
          </p:cNvPr>
          <p:cNvSpPr txBox="1"/>
          <p:nvPr/>
        </p:nvSpPr>
        <p:spPr>
          <a:xfrm>
            <a:off x="6096000" y="2737247"/>
            <a:ext cx="48442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00" dirty="0">
                <a:solidFill>
                  <a:schemeClr val="bg1"/>
                </a:solidFill>
              </a:rPr>
              <a:t>Im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1512027-75B6-81F1-6A90-14D917ECF83F}"/>
              </a:ext>
            </a:extLst>
          </p:cNvPr>
          <p:cNvSpPr txBox="1"/>
          <p:nvPr/>
        </p:nvSpPr>
        <p:spPr>
          <a:xfrm>
            <a:off x="9010756" y="4615060"/>
            <a:ext cx="49084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00" dirty="0">
                <a:solidFill>
                  <a:schemeClr val="bg1"/>
                </a:solidFill>
              </a:rPr>
              <a:t>Re</a:t>
            </a: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36E8DE9-1160-CDCA-BB2B-629045A2A409}"/>
              </a:ext>
            </a:extLst>
          </p:cNvPr>
          <p:cNvCxnSpPr>
            <a:cxnSpLocks/>
          </p:cNvCxnSpPr>
          <p:nvPr/>
        </p:nvCxnSpPr>
        <p:spPr>
          <a:xfrm>
            <a:off x="9309280" y="3159244"/>
            <a:ext cx="3206" cy="334012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719B2846-DD1B-5433-28A8-F24C371A60B8}"/>
              </a:ext>
            </a:extLst>
          </p:cNvPr>
          <p:cNvCxnSpPr>
            <a:cxnSpLocks/>
          </p:cNvCxnSpPr>
          <p:nvPr/>
        </p:nvCxnSpPr>
        <p:spPr>
          <a:xfrm>
            <a:off x="3049666" y="2972377"/>
            <a:ext cx="6072109" cy="14877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A8CA2070-0475-A591-B63C-C876CF280DAA}"/>
              </a:ext>
            </a:extLst>
          </p:cNvPr>
          <p:cNvSpPr txBox="1"/>
          <p:nvPr/>
        </p:nvSpPr>
        <p:spPr>
          <a:xfrm>
            <a:off x="9309280" y="4621559"/>
            <a:ext cx="12190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00" dirty="0"/>
              <a:t>480 Pixel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64BEFEF-328B-A28D-496E-C2961113B0B5}"/>
              </a:ext>
            </a:extLst>
          </p:cNvPr>
          <p:cNvSpPr txBox="1"/>
          <p:nvPr/>
        </p:nvSpPr>
        <p:spPr>
          <a:xfrm>
            <a:off x="5476194" y="2550380"/>
            <a:ext cx="12190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00" dirty="0"/>
              <a:t>640 Pixel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B0026843-EE4F-C743-CC06-61287F06D0CB}"/>
                  </a:ext>
                </a:extLst>
              </p:cNvPr>
              <p:cNvSpPr txBox="1"/>
              <p:nvPr/>
            </p:nvSpPr>
            <p:spPr>
              <a:xfrm>
                <a:off x="838200" y="3146792"/>
                <a:ext cx="199355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2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−320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lit/>
                            </m:rP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240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B0026843-EE4F-C743-CC06-61287F06D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6792"/>
                <a:ext cx="1993559" cy="415498"/>
              </a:xfrm>
              <a:prstGeom prst="rect">
                <a:avLst/>
              </a:prstGeom>
              <a:blipFill>
                <a:blip r:embed="rId4"/>
                <a:stretch>
                  <a:fillRect t="-8824" r="-3797" b="-264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A58C3C4A-EDC7-EC7E-287A-AF7A3FB59F19}"/>
                  </a:ext>
                </a:extLst>
              </p:cNvPr>
              <p:cNvSpPr txBox="1"/>
              <p:nvPr/>
            </p:nvSpPr>
            <p:spPr>
              <a:xfrm>
                <a:off x="838200" y="6073441"/>
                <a:ext cx="208332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2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−320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lit/>
                            </m:rP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lit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−239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A58C3C4A-EDC7-EC7E-287A-AF7A3FB59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73441"/>
                <a:ext cx="2083327" cy="415498"/>
              </a:xfrm>
              <a:prstGeom prst="rect">
                <a:avLst/>
              </a:prstGeom>
              <a:blipFill>
                <a:blip r:embed="rId5"/>
                <a:stretch>
                  <a:fillRect t="-9091" r="-4878" b="-30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96A3B505-BB36-F437-6E53-31EFDB5DA7B0}"/>
                  </a:ext>
                </a:extLst>
              </p:cNvPr>
              <p:cNvSpPr txBox="1"/>
              <p:nvPr/>
            </p:nvSpPr>
            <p:spPr>
              <a:xfrm>
                <a:off x="9499991" y="6073441"/>
                <a:ext cx="1881349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2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320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lit/>
                            </m:rP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lit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−239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96A3B505-BB36-F437-6E53-31EFDB5D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991" y="6073441"/>
                <a:ext cx="1881349" cy="415498"/>
              </a:xfrm>
              <a:prstGeom prst="rect">
                <a:avLst/>
              </a:prstGeom>
              <a:blipFill>
                <a:blip r:embed="rId6"/>
                <a:stretch>
                  <a:fillRect t="-9091" r="-4667" b="-30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BFF9E082-8C8D-CD34-46D9-25588823C767}"/>
                  </a:ext>
                </a:extLst>
              </p:cNvPr>
              <p:cNvSpPr txBox="1"/>
              <p:nvPr/>
            </p:nvSpPr>
            <p:spPr>
              <a:xfrm>
                <a:off x="9495361" y="3163178"/>
                <a:ext cx="179158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2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lit/>
                            </m:rP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sz="2100" i="1" dirty="0" smtClean="0">
                              <a:latin typeface="Cambria Math" panose="02040503050406030204" pitchFamily="18" charset="0"/>
                            </a:rPr>
                            <m:t>240</m:t>
                          </m:r>
                          <m:r>
                            <m:rPr>
                              <m:sty m:val="p"/>
                            </m:rPr>
                            <a:rPr lang="de-DE" sz="21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BFF9E082-8C8D-CD34-46D9-25588823C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361" y="3163178"/>
                <a:ext cx="1791581" cy="415498"/>
              </a:xfrm>
              <a:prstGeom prst="rect">
                <a:avLst/>
              </a:prstGeom>
              <a:blipFill>
                <a:blip r:embed="rId7"/>
                <a:stretch>
                  <a:fillRect t="-9091" r="-4930" b="-30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Bogen 46">
            <a:extLst>
              <a:ext uri="{FF2B5EF4-FFF2-40B4-BE49-F238E27FC236}">
                <a16:creationId xmlns:a16="http://schemas.microsoft.com/office/drawing/2014/main" id="{84B33D49-68E5-645C-FB49-DC38D7B8A495}"/>
              </a:ext>
            </a:extLst>
          </p:cNvPr>
          <p:cNvSpPr/>
          <p:nvPr/>
        </p:nvSpPr>
        <p:spPr>
          <a:xfrm>
            <a:off x="2234391" y="2944996"/>
            <a:ext cx="886581" cy="799930"/>
          </a:xfrm>
          <a:prstGeom prst="arc">
            <a:avLst>
              <a:gd name="adj1" fmla="val 11999773"/>
              <a:gd name="adj2" fmla="val 20019971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Bogen 47">
            <a:extLst>
              <a:ext uri="{FF2B5EF4-FFF2-40B4-BE49-F238E27FC236}">
                <a16:creationId xmlns:a16="http://schemas.microsoft.com/office/drawing/2014/main" id="{12B90C8F-776E-38FF-D98B-2EAD1185703C}"/>
              </a:ext>
            </a:extLst>
          </p:cNvPr>
          <p:cNvSpPr/>
          <p:nvPr/>
        </p:nvSpPr>
        <p:spPr>
          <a:xfrm flipH="1">
            <a:off x="9071029" y="2962866"/>
            <a:ext cx="933052" cy="799930"/>
          </a:xfrm>
          <a:prstGeom prst="arc">
            <a:avLst>
              <a:gd name="adj1" fmla="val 11999773"/>
              <a:gd name="adj2" fmla="val 20019971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Bogen 50">
            <a:extLst>
              <a:ext uri="{FF2B5EF4-FFF2-40B4-BE49-F238E27FC236}">
                <a16:creationId xmlns:a16="http://schemas.microsoft.com/office/drawing/2014/main" id="{4678FC48-C97C-CF31-77AD-A75F8ABEB29B}"/>
              </a:ext>
            </a:extLst>
          </p:cNvPr>
          <p:cNvSpPr/>
          <p:nvPr/>
        </p:nvSpPr>
        <p:spPr>
          <a:xfrm flipH="1" flipV="1">
            <a:off x="9071029" y="5938304"/>
            <a:ext cx="933052" cy="772068"/>
          </a:xfrm>
          <a:prstGeom prst="arc">
            <a:avLst>
              <a:gd name="adj1" fmla="val 11999773"/>
              <a:gd name="adj2" fmla="val 2023815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Bogen 51">
            <a:extLst>
              <a:ext uri="{FF2B5EF4-FFF2-40B4-BE49-F238E27FC236}">
                <a16:creationId xmlns:a16="http://schemas.microsoft.com/office/drawing/2014/main" id="{F2766B3B-960C-9AA3-8313-F2723943016E}"/>
              </a:ext>
            </a:extLst>
          </p:cNvPr>
          <p:cNvSpPr/>
          <p:nvPr/>
        </p:nvSpPr>
        <p:spPr>
          <a:xfrm flipV="1">
            <a:off x="2234391" y="5910451"/>
            <a:ext cx="886581" cy="799921"/>
          </a:xfrm>
          <a:prstGeom prst="arc">
            <a:avLst>
              <a:gd name="adj1" fmla="val 11999773"/>
              <a:gd name="adj2" fmla="val 20019971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BA9DA3-E009-A754-7CF1-19D93A5D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5</a:t>
            </a:fld>
            <a:endParaRPr lang="de-DE" dirty="0"/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417384DA-4E77-8137-5AF8-BA3C2327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8472" y="6492875"/>
            <a:ext cx="9615055" cy="365125"/>
          </a:xfrm>
        </p:spPr>
        <p:txBody>
          <a:bodyPr/>
          <a:lstStyle/>
          <a:p>
            <a:r>
              <a:rPr lang="de-DE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68799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BE833-A1F1-4744-1FD2-E936713D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Julia- &amp; Mandelbrotmenge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52D63B8-6396-3591-0F91-F9A6E50736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175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sz="2100" dirty="0"/>
                  <a:t>Die Werte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100" dirty="0"/>
                  <a:t> und </a:t>
                </a:r>
                <a14:m>
                  <m:oMath xmlns:m="http://schemas.openxmlformats.org/officeDocument/2006/math">
                    <m:r>
                      <a:rPr lang="de-DE" sz="21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e-DE" sz="2100" dirty="0"/>
                  <a:t> der Folge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21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sz="2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sz="2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sz="2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1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e-DE" sz="2100" dirty="0"/>
                  <a:t> entscheiden über Julia-/Mandelbrotmenge: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52D63B8-6396-3591-0F91-F9A6E50736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17525"/>
              </a:xfrm>
              <a:blipFill>
                <a:blip r:embed="rId3"/>
                <a:stretch>
                  <a:fillRect l="-724" t="-119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7796F471-E6B3-9403-7F33-06A794241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457" y="2343150"/>
            <a:ext cx="7959085" cy="383381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F7225F-1D51-734E-83AB-308DF4B7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6</a:t>
            </a:fld>
            <a:endParaRPr lang="de-DE" dirty="0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1680BF89-DB0D-F9D2-4646-941D50CA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8472" y="6492875"/>
            <a:ext cx="9615055" cy="365125"/>
          </a:xfrm>
        </p:spPr>
        <p:txBody>
          <a:bodyPr/>
          <a:lstStyle/>
          <a:p>
            <a:r>
              <a:rPr lang="de-DE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405026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B46D-1276-6BCF-B7B3-B2A91CA3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EA8C6-DA1D-EFAB-F1C1-CB0A2971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Juliamenge - Animationsmodi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203243-A96B-453F-0774-106E833F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6961"/>
            <a:ext cx="4680000" cy="4140001"/>
          </a:xfrm>
        </p:spPr>
        <p:txBody>
          <a:bodyPr numCol="1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de-DE" sz="2100"/>
              <a:t>Animationsverlauf: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Rautenförmig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Rautenecken als Ziele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Gegenuhrzeigersinn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Ziele sind Punkte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2100"/>
              <a:t>Einstellungsmöglichkeiten: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Breite (Re)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Höhe (Im)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E6D3BF09-7044-8CEC-0EEC-E7A64E1BB380}"/>
              </a:ext>
            </a:extLst>
          </p:cNvPr>
          <p:cNvSpPr txBox="1">
            <a:spLocks/>
          </p:cNvSpPr>
          <p:nvPr/>
        </p:nvSpPr>
        <p:spPr>
          <a:xfrm>
            <a:off x="6096000" y="2036961"/>
            <a:ext cx="5257800" cy="4140002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de-DE" sz="2100"/>
              <a:t>Animationsverlauf: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Ziel je Dimension (=&gt; 2x LFSR)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LFSR-Wert als Ziel (pro Dim.)</a:t>
            </a:r>
          </a:p>
          <a:p>
            <a:pPr lvl="1">
              <a:lnSpc>
                <a:spcPct val="100000"/>
              </a:lnSpc>
            </a:pPr>
            <a:r>
              <a:rPr lang="de-DE" sz="2100"/>
              <a:t>Ziele sind Geraden parallel zur jeweiligen Achse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2100"/>
              <a:t>Einstellungsmöglichkeiten: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2100"/>
              <a:t>	- LFSR XOR Masken (Re &amp; Im)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2100"/>
              <a:t>	- LFSR Seeds (Re &amp; Im)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601A2E6-1829-DDDF-96F0-74AC83CC25A5}"/>
              </a:ext>
            </a:extLst>
          </p:cNvPr>
          <p:cNvSpPr/>
          <p:nvPr/>
        </p:nvSpPr>
        <p:spPr>
          <a:xfrm>
            <a:off x="838200" y="2036963"/>
            <a:ext cx="4680000" cy="4140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3A54CFC-9A3B-945A-86FF-6BF4EB6D4D69}"/>
              </a:ext>
            </a:extLst>
          </p:cNvPr>
          <p:cNvSpPr/>
          <p:nvPr/>
        </p:nvSpPr>
        <p:spPr>
          <a:xfrm>
            <a:off x="6096000" y="2036963"/>
            <a:ext cx="5257800" cy="4140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9B1ABDC-8035-E0F0-E022-89F1ABB107FF}"/>
              </a:ext>
            </a:extLst>
          </p:cNvPr>
          <p:cNvSpPr txBox="1"/>
          <p:nvPr/>
        </p:nvSpPr>
        <p:spPr>
          <a:xfrm>
            <a:off x="1014045" y="1806128"/>
            <a:ext cx="146386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/>
              <a:t>Diamond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B734855-6EFE-FC03-CAC7-771CE2881A64}"/>
              </a:ext>
            </a:extLst>
          </p:cNvPr>
          <p:cNvSpPr txBox="1"/>
          <p:nvPr/>
        </p:nvSpPr>
        <p:spPr>
          <a:xfrm>
            <a:off x="6330460" y="1837386"/>
            <a:ext cx="4411510" cy="39914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de-DE" sz="2400" b="1"/>
              <a:t>LFSR </a:t>
            </a:r>
            <a:r>
              <a:rPr lang="de-DE" sz="2000"/>
              <a:t>(Linear Feedback Shift Register)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6D5CC3-FBC3-6A76-C3B9-FF39C0A1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351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80D71-9E92-53E7-E579-05EC2F8B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LFSR - Aufbau und Funktion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EC09BB-1F2F-CB88-0E56-BE5198364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12206988" cy="4148667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B67ACBF-8189-83F5-3283-8402B2B4F9A9}"/>
              </a:ext>
            </a:extLst>
          </p:cNvPr>
          <p:cNvSpPr/>
          <p:nvPr/>
        </p:nvSpPr>
        <p:spPr>
          <a:xfrm>
            <a:off x="-122720" y="5979308"/>
            <a:ext cx="12600000" cy="513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00" dirty="0"/>
              <a:t>Pseudozufällige Zielwerte durch die Nutzung zweier 17 Bit LFSRs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10381E-4804-9267-DF98-63C73748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8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07B1DAA-10B2-561E-81AB-D770E31D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1039"/>
            <a:ext cx="11099800" cy="365125"/>
          </a:xfrm>
        </p:spPr>
        <p:txBody>
          <a:bodyPr/>
          <a:lstStyle/>
          <a:p>
            <a:r>
              <a:rPr lang="de-DE" i="1" dirty="0"/>
              <a:t>[2], [3]</a:t>
            </a:r>
          </a:p>
        </p:txBody>
      </p:sp>
    </p:spTree>
    <p:extLst>
      <p:ext uri="{BB962C8B-B14F-4D97-AF65-F5344CB8AC3E}">
        <p14:creationId xmlns:p14="http://schemas.microsoft.com/office/powerpoint/2010/main" val="1703434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05A04-F725-44DA-B1A8-40DE82E0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708BB6-2980-5FF6-09FA-D086E16B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2) Mengenberechnung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4E54D5E-C812-6FD4-4C8F-2E0BBD919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5369" y="1489586"/>
            <a:ext cx="8681261" cy="499877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6E271D-3E3B-339F-A697-A8CE1316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312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970F0-2053-6135-A6A9-CC082F37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Berechnungsimplementierung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44151155-0A40-54FB-2237-22D6CD95E9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287444"/>
                <a:ext cx="10515601" cy="22054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de-DE" sz="2200"/>
              </a:p>
              <a:p>
                <a:pPr marL="0" indent="0">
                  <a:spcAft>
                    <a:spcPts val="500"/>
                  </a:spcAft>
                  <a:buFont typeface="Arial" panose="020B0604020202020204" pitchFamily="34" charset="0"/>
                  <a:buNone/>
                </a:pPr>
                <a:r>
                  <a:rPr lang="de-DE" sz="2300"/>
                  <a:t>Divergenz: </a:t>
                </a:r>
              </a:p>
              <a:p>
                <a:pPr marL="457200" lvl="1" indent="0">
                  <a:spcAft>
                    <a:spcPts val="5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300" i="1">
                          <a:latin typeface="Cambria Math" panose="02040503050406030204" pitchFamily="18" charset="0"/>
                        </a:rPr>
                        <m:t>&lt;2⇔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𝐼𝑚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300" i="1">
                          <a:latin typeface="Cambria Math" panose="02040503050406030204" pitchFamily="18" charset="0"/>
                        </a:rPr>
                        <m:t>&lt;2⇔</m:t>
                      </m:r>
                      <m:rad>
                        <m:radPr>
                          <m:degHide m:val="on"/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𝐼𝑚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de-DE" sz="23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e-DE" sz="23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2300" i="1">
                          <a:latin typeface="Cambria Math" panose="02040503050406030204" pitchFamily="18" charset="0"/>
                        </a:rPr>
                        <m:t>⇔</m:t>
                      </m:r>
                      <m:sSubSup>
                        <m:sSubSupPr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3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300" i="1">
                          <a:latin typeface="Cambria Math" panose="02040503050406030204" pitchFamily="18" charset="0"/>
                        </a:rPr>
                        <m:t>&lt;4</m:t>
                      </m:r>
                    </m:oMath>
                  </m:oMathPara>
                </a14:m>
                <a:endParaRPr lang="de-DE" sz="2300"/>
              </a:p>
              <a:p>
                <a:pPr marL="0" indent="0">
                  <a:spcAft>
                    <a:spcPts val="1000"/>
                  </a:spcAft>
                  <a:buFont typeface="Arial" panose="020B0604020202020204" pitchFamily="34" charset="0"/>
                  <a:buNone/>
                </a:pPr>
                <a:r>
                  <a:rPr lang="de-DE" sz="2300"/>
                  <a:t>Konvergenz: 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3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sz="23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de-DE" sz="2300" i="1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de-DE" sz="2300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44151155-0A40-54FB-2237-22D6CD95E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287444"/>
                <a:ext cx="10515601" cy="2205430"/>
              </a:xfrm>
              <a:prstGeom prst="rect">
                <a:avLst/>
              </a:prstGeom>
              <a:blipFill>
                <a:blip r:embed="rId2"/>
                <a:stretch>
                  <a:fillRect l="-6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8175C193-2DB7-4B7E-4EB8-388DF971ACDD}"/>
              </a:ext>
            </a:extLst>
          </p:cNvPr>
          <p:cNvSpPr/>
          <p:nvPr/>
        </p:nvSpPr>
        <p:spPr>
          <a:xfrm>
            <a:off x="838199" y="4287444"/>
            <a:ext cx="10515601" cy="220542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A910224-0DC8-435E-5723-43D6B0C7EC5C}"/>
              </a:ext>
            </a:extLst>
          </p:cNvPr>
          <p:cNvSpPr txBox="1"/>
          <p:nvPr/>
        </p:nvSpPr>
        <p:spPr>
          <a:xfrm>
            <a:off x="954249" y="4056610"/>
            <a:ext cx="334681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/>
              <a:t>Abbruchsbedingungen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766F5731-6251-9FE6-A143-35E2B34741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849335"/>
                <a:ext cx="10515601" cy="20072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de-DE" sz="2000" dirty="0"/>
              </a:p>
              <a:p>
                <a:pPr marL="0" indent="0">
                  <a:spcAft>
                    <a:spcPts val="25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sz="2100" dirty="0"/>
              </a:p>
              <a:p>
                <a:pPr marL="0" indent="0">
                  <a:spcAft>
                    <a:spcPts val="10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100" i="1">
                              <a:latin typeface="Cambria Math" panose="02040503050406030204" pitchFamily="18" charset="0"/>
                            </a:rPr>
                            <m:t>Re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 ⋅</m:t>
                      </m:r>
                      <m:d>
                        <m:d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100" i="1">
                              <a:latin typeface="Cambria Math" panose="02040503050406030204" pitchFamily="18" charset="0"/>
                            </a:rPr>
                            <m:t>Re</m:t>
                          </m:r>
                        </m:sub>
                      </m:sSub>
                    </m:oMath>
                  </m:oMathPara>
                </a14:m>
                <a:endParaRPr lang="de-DE" sz="21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1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 ⋅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2100" dirty="0"/>
              </a:p>
            </p:txBody>
          </p:sp>
        </mc:Choice>
        <mc:Fallback xmlns="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766F5731-6251-9FE6-A143-35E2B3474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49335"/>
                <a:ext cx="10515601" cy="2007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>
            <a:extLst>
              <a:ext uri="{FF2B5EF4-FFF2-40B4-BE49-F238E27FC236}">
                <a16:creationId xmlns:a16="http://schemas.microsoft.com/office/drawing/2014/main" id="{CA4E01EE-CBBC-5F4E-93FE-1BBAB6DCB94F}"/>
              </a:ext>
            </a:extLst>
          </p:cNvPr>
          <p:cNvSpPr/>
          <p:nvPr/>
        </p:nvSpPr>
        <p:spPr>
          <a:xfrm>
            <a:off x="838199" y="1849336"/>
            <a:ext cx="10515601" cy="2007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B17C85E-F775-0DA4-1897-1C945A5BB114}"/>
              </a:ext>
            </a:extLst>
          </p:cNvPr>
          <p:cNvSpPr txBox="1"/>
          <p:nvPr/>
        </p:nvSpPr>
        <p:spPr>
          <a:xfrm>
            <a:off x="935680" y="1618501"/>
            <a:ext cx="279108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/>
              <a:t>Folgenberechnung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00E28D-B405-0408-A30C-FE3B423F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4759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15AE2-F354-80B1-6898-332EACF6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61526-1282-F015-2D7F-916CC1CC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Berechnungsimplementierung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A62E790F-2956-7A79-42A5-A0A3D4ACC2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287444"/>
                <a:ext cx="10515601" cy="22054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de-DE" sz="2200" dirty="0"/>
              </a:p>
              <a:p>
                <a:pPr marL="0" indent="0">
                  <a:spcAft>
                    <a:spcPts val="500"/>
                  </a:spcAft>
                  <a:buFont typeface="Arial" panose="020B0604020202020204" pitchFamily="34" charset="0"/>
                  <a:buNone/>
                </a:pPr>
                <a:r>
                  <a:rPr lang="de-DE" sz="2300" dirty="0"/>
                  <a:t>Divergenz: </a:t>
                </a:r>
              </a:p>
              <a:p>
                <a:pPr marL="457200" lvl="1" indent="0">
                  <a:spcAft>
                    <a:spcPts val="5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300" i="1">
                          <a:latin typeface="Cambria Math" panose="02040503050406030204" pitchFamily="18" charset="0"/>
                        </a:rPr>
                        <m:t>&lt;2⇔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𝐼𝑚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300" i="1">
                          <a:latin typeface="Cambria Math" panose="02040503050406030204" pitchFamily="18" charset="0"/>
                        </a:rPr>
                        <m:t>&lt;2⇔</m:t>
                      </m:r>
                      <m:rad>
                        <m:radPr>
                          <m:degHide m:val="on"/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de-DE" sz="23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𝐼𝑚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de-DE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de-DE" sz="23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e-DE" sz="23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2300" i="1">
                          <a:latin typeface="Cambria Math" panose="02040503050406030204" pitchFamily="18" charset="0"/>
                        </a:rPr>
                        <m:t>⇔</m:t>
                      </m:r>
                      <m:sSubSup>
                        <m:sSubSupPr>
                          <m:ctrlPr>
                            <a:rPr lang="de-DE" sz="23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3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3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3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&lt;4</m:t>
                      </m:r>
                    </m:oMath>
                  </m:oMathPara>
                </a14:m>
                <a:endParaRPr lang="de-DE" sz="23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spcAft>
                    <a:spcPts val="1000"/>
                  </a:spcAft>
                  <a:buFont typeface="Arial" panose="020B0604020202020204" pitchFamily="34" charset="0"/>
                  <a:buNone/>
                </a:pPr>
                <a:r>
                  <a:rPr lang="de-DE" sz="2300" dirty="0"/>
                  <a:t>Konvergenz: 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3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sz="23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= 100</m:t>
                      </m:r>
                    </m:oMath>
                  </m:oMathPara>
                </a14:m>
                <a:endParaRPr lang="de-DE" sz="2300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A62E790F-2956-7A79-42A5-A0A3D4ACC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287444"/>
                <a:ext cx="10515601" cy="2205430"/>
              </a:xfrm>
              <a:prstGeom prst="rect">
                <a:avLst/>
              </a:prstGeom>
              <a:blipFill>
                <a:blip r:embed="rId2"/>
                <a:stretch>
                  <a:fillRect l="-6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CFD0329A-136D-22D6-ADFC-AAAC807E7367}"/>
              </a:ext>
            </a:extLst>
          </p:cNvPr>
          <p:cNvSpPr/>
          <p:nvPr/>
        </p:nvSpPr>
        <p:spPr>
          <a:xfrm>
            <a:off x="838199" y="4287444"/>
            <a:ext cx="10515601" cy="220542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9E0C8CA-741C-FB81-A793-DA88BBB0DBAD}"/>
              </a:ext>
            </a:extLst>
          </p:cNvPr>
          <p:cNvSpPr txBox="1"/>
          <p:nvPr/>
        </p:nvSpPr>
        <p:spPr>
          <a:xfrm>
            <a:off x="954249" y="4056610"/>
            <a:ext cx="334681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/>
              <a:t>Abbruchsbedingungen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2A6939DB-48E4-3AB9-FBC8-4437AD0D0E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849335"/>
                <a:ext cx="10515601" cy="20072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de-DE" sz="2000" dirty="0"/>
              </a:p>
              <a:p>
                <a:pPr marL="0" indent="0">
                  <a:spcAft>
                    <a:spcPts val="25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1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de-DE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sz="2100" dirty="0"/>
              </a:p>
              <a:p>
                <a:pPr marL="0" indent="0">
                  <a:spcAft>
                    <a:spcPts val="10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100" i="1">
                              <a:latin typeface="Cambria Math" panose="02040503050406030204" pitchFamily="18" charset="0"/>
                            </a:rPr>
                            <m:t>Re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1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⋅</m:t>
                      </m:r>
                      <m:d>
                        <m:dPr>
                          <m:ctrlP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Re</m:t>
                          </m:r>
                        </m:sub>
                      </m:sSub>
                    </m:oMath>
                  </m:oMathPara>
                </a14:m>
                <a:endParaRPr lang="de-DE" sz="21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1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2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1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1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de-DE" sz="21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⋅</m:t>
                      </m:r>
                      <m:sSub>
                        <m:sSubPr>
                          <m:ctrlP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1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2100" dirty="0"/>
              </a:p>
            </p:txBody>
          </p:sp>
        </mc:Choice>
        <mc:Fallback xmlns="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2A6939DB-48E4-3AB9-FBC8-4437AD0D0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49335"/>
                <a:ext cx="10515601" cy="2007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>
            <a:extLst>
              <a:ext uri="{FF2B5EF4-FFF2-40B4-BE49-F238E27FC236}">
                <a16:creationId xmlns:a16="http://schemas.microsoft.com/office/drawing/2014/main" id="{2E3C3F4F-563D-07F6-D003-901A11433E84}"/>
              </a:ext>
            </a:extLst>
          </p:cNvPr>
          <p:cNvSpPr/>
          <p:nvPr/>
        </p:nvSpPr>
        <p:spPr>
          <a:xfrm>
            <a:off x="838199" y="1849336"/>
            <a:ext cx="10515601" cy="2007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F85AA80-27F5-15B6-7C5E-8FBE37AA340D}"/>
              </a:ext>
            </a:extLst>
          </p:cNvPr>
          <p:cNvSpPr txBox="1"/>
          <p:nvPr/>
        </p:nvSpPr>
        <p:spPr>
          <a:xfrm>
            <a:off x="935680" y="1618501"/>
            <a:ext cx="279108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 dirty="0"/>
              <a:t>Folgenberechnung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5321E21-DB94-FC9E-5341-84E7B13B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046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07E4C-DDE4-C650-A8EE-3E16B123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Berechnungsimplementierung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B0832F4-1104-EA50-1DBC-FF197229D61A}"/>
              </a:ext>
            </a:extLst>
          </p:cNvPr>
          <p:cNvSpPr/>
          <p:nvPr/>
        </p:nvSpPr>
        <p:spPr>
          <a:xfrm>
            <a:off x="852628" y="1916179"/>
            <a:ext cx="3169356" cy="36068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BF6C35-2267-13E3-5932-4A30C31D4012}"/>
              </a:ext>
            </a:extLst>
          </p:cNvPr>
          <p:cNvSpPr/>
          <p:nvPr/>
        </p:nvSpPr>
        <p:spPr>
          <a:xfrm>
            <a:off x="4525750" y="1916179"/>
            <a:ext cx="3169356" cy="36068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A5A7710-CA46-4537-7944-B5965E397B40}"/>
              </a:ext>
            </a:extLst>
          </p:cNvPr>
          <p:cNvSpPr/>
          <p:nvPr/>
        </p:nvSpPr>
        <p:spPr>
          <a:xfrm>
            <a:off x="8198872" y="1916179"/>
            <a:ext cx="3169356" cy="36068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B9FCCA2-B1C4-52CC-3DEF-1023D4EBC754}"/>
              </a:ext>
            </a:extLst>
          </p:cNvPr>
          <p:cNvSpPr txBox="1"/>
          <p:nvPr/>
        </p:nvSpPr>
        <p:spPr>
          <a:xfrm>
            <a:off x="1036978" y="1685346"/>
            <a:ext cx="119994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 dirty="0"/>
              <a:t>Stage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EB92748-4980-3C8F-BCBA-F034A9D30E12}"/>
              </a:ext>
            </a:extLst>
          </p:cNvPr>
          <p:cNvSpPr txBox="1"/>
          <p:nvPr/>
        </p:nvSpPr>
        <p:spPr>
          <a:xfrm>
            <a:off x="4717474" y="1685346"/>
            <a:ext cx="119994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 dirty="0"/>
              <a:t>Stage 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51129E-6779-44B3-224C-0306AFF712EA}"/>
              </a:ext>
            </a:extLst>
          </p:cNvPr>
          <p:cNvSpPr txBox="1"/>
          <p:nvPr/>
        </p:nvSpPr>
        <p:spPr>
          <a:xfrm>
            <a:off x="8383222" y="1685345"/>
            <a:ext cx="119994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 dirty="0"/>
              <a:t>Stage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C0EA9264-4296-9A9C-7E2C-28A7E235A529}"/>
                  </a:ext>
                </a:extLst>
              </p:cNvPr>
              <p:cNvSpPr txBox="1"/>
              <p:nvPr/>
            </p:nvSpPr>
            <p:spPr>
              <a:xfrm>
                <a:off x="852627" y="2398931"/>
                <a:ext cx="3169357" cy="71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8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8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C0EA9264-4296-9A9C-7E2C-28A7E235A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27" y="2398931"/>
                <a:ext cx="3169357" cy="717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0C27A163-BA67-DFC9-5019-A00B16A416FE}"/>
              </a:ext>
            </a:extLst>
          </p:cNvPr>
          <p:cNvCxnSpPr>
            <a:cxnSpLocks/>
          </p:cNvCxnSpPr>
          <p:nvPr/>
        </p:nvCxnSpPr>
        <p:spPr>
          <a:xfrm flipV="1">
            <a:off x="852628" y="3266047"/>
            <a:ext cx="3169356" cy="15160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25AFA59-11D8-7A14-AD98-ABC5E18D5151}"/>
              </a:ext>
            </a:extLst>
          </p:cNvPr>
          <p:cNvSpPr txBox="1"/>
          <p:nvPr/>
        </p:nvSpPr>
        <p:spPr>
          <a:xfrm>
            <a:off x="847819" y="2031835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Re: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33C6D74-DB55-E840-0221-70FDD8E509F2}"/>
              </a:ext>
            </a:extLst>
          </p:cNvPr>
          <p:cNvSpPr txBox="1"/>
          <p:nvPr/>
        </p:nvSpPr>
        <p:spPr>
          <a:xfrm>
            <a:off x="4520941" y="2048711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Re: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0695051-CF14-BA26-43C9-C596077E41DC}"/>
              </a:ext>
            </a:extLst>
          </p:cNvPr>
          <p:cNvSpPr txBox="1"/>
          <p:nvPr/>
        </p:nvSpPr>
        <p:spPr>
          <a:xfrm>
            <a:off x="8194063" y="202959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Re: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3BC6DFC-2FAB-CB60-8118-96586C49A6F4}"/>
              </a:ext>
            </a:extLst>
          </p:cNvPr>
          <p:cNvSpPr txBox="1"/>
          <p:nvPr/>
        </p:nvSpPr>
        <p:spPr>
          <a:xfrm>
            <a:off x="852628" y="3268283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Im: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1FBB60-8821-0B97-497C-9884A976D8C7}"/>
              </a:ext>
            </a:extLst>
          </p:cNvPr>
          <p:cNvSpPr txBox="1"/>
          <p:nvPr/>
        </p:nvSpPr>
        <p:spPr>
          <a:xfrm>
            <a:off x="4525750" y="328515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Im: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C534E34-60C3-1533-2848-82CC32205370}"/>
              </a:ext>
            </a:extLst>
          </p:cNvPr>
          <p:cNvSpPr txBox="1"/>
          <p:nvPr/>
        </p:nvSpPr>
        <p:spPr>
          <a:xfrm>
            <a:off x="8198872" y="3266047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B309DEAE-2338-3606-EC73-0E096F131D43}"/>
                  </a:ext>
                </a:extLst>
              </p:cNvPr>
              <p:cNvSpPr txBox="1"/>
              <p:nvPr/>
            </p:nvSpPr>
            <p:spPr>
              <a:xfrm>
                <a:off x="4520941" y="2418043"/>
                <a:ext cx="31789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B309DEAE-2338-3606-EC73-0E096F131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941" y="2418043"/>
                <a:ext cx="31789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C43094F8-F615-FF15-E4AB-52A650BF2907}"/>
                  </a:ext>
                </a:extLst>
              </p:cNvPr>
              <p:cNvSpPr txBox="1"/>
              <p:nvPr/>
            </p:nvSpPr>
            <p:spPr>
              <a:xfrm>
                <a:off x="8203681" y="2379485"/>
                <a:ext cx="3178974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C43094F8-F615-FF15-E4AB-52A650BF2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681" y="2379485"/>
                <a:ext cx="3178974" cy="381515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3761BF6D-A8F4-F212-58BE-B80BAD6F7BAD}"/>
              </a:ext>
            </a:extLst>
          </p:cNvPr>
          <p:cNvCxnSpPr>
            <a:cxnSpLocks/>
          </p:cNvCxnSpPr>
          <p:nvPr/>
        </p:nvCxnSpPr>
        <p:spPr>
          <a:xfrm flipV="1">
            <a:off x="4532964" y="3250887"/>
            <a:ext cx="3169356" cy="15160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457F5382-8593-E951-82D0-94EB72F80AB3}"/>
              </a:ext>
            </a:extLst>
          </p:cNvPr>
          <p:cNvCxnSpPr>
            <a:cxnSpLocks/>
          </p:cNvCxnSpPr>
          <p:nvPr/>
        </p:nvCxnSpPr>
        <p:spPr>
          <a:xfrm flipV="1">
            <a:off x="8213299" y="3235727"/>
            <a:ext cx="3169356" cy="15160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258F7CE-8850-5B09-988A-AC2660D11130}"/>
                  </a:ext>
                </a:extLst>
              </p:cNvPr>
              <p:cNvSpPr txBox="1"/>
              <p:nvPr/>
            </p:nvSpPr>
            <p:spPr>
              <a:xfrm>
                <a:off x="847819" y="3639129"/>
                <a:ext cx="3169356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≪1</m:t>
                          </m:r>
                        </m:e>
                      </m:d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258F7CE-8850-5B09-988A-AC2660D11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19" y="3639129"/>
                <a:ext cx="3169356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13B26BB-F800-ACF1-FE1B-2F87F8D15733}"/>
                  </a:ext>
                </a:extLst>
              </p:cNvPr>
              <p:cNvSpPr txBox="1"/>
              <p:nvPr/>
            </p:nvSpPr>
            <p:spPr>
              <a:xfrm>
                <a:off x="4518536" y="3641532"/>
                <a:ext cx="316935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13B26BB-F800-ACF1-FE1B-2F87F8D15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536" y="3641532"/>
                <a:ext cx="3169356" cy="3815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55032909-20C1-FD02-19B5-7071800AD9FB}"/>
                  </a:ext>
                </a:extLst>
              </p:cNvPr>
              <p:cNvSpPr txBox="1"/>
              <p:nvPr/>
            </p:nvSpPr>
            <p:spPr>
              <a:xfrm>
                <a:off x="8213299" y="3643285"/>
                <a:ext cx="316935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800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55032909-20C1-FD02-19B5-7071800AD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299" y="3643285"/>
                <a:ext cx="3169356" cy="3815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35EFAA19-3245-554B-E7EC-A69359CDC776}"/>
              </a:ext>
            </a:extLst>
          </p:cNvPr>
          <p:cNvCxnSpPr>
            <a:cxnSpLocks/>
          </p:cNvCxnSpPr>
          <p:nvPr/>
        </p:nvCxnSpPr>
        <p:spPr>
          <a:xfrm flipV="1">
            <a:off x="838201" y="4222740"/>
            <a:ext cx="3169356" cy="15160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8698CD82-B0ED-6A59-234D-7065C5998710}"/>
              </a:ext>
            </a:extLst>
          </p:cNvPr>
          <p:cNvCxnSpPr>
            <a:cxnSpLocks/>
          </p:cNvCxnSpPr>
          <p:nvPr/>
        </p:nvCxnSpPr>
        <p:spPr>
          <a:xfrm flipV="1">
            <a:off x="4518537" y="4207580"/>
            <a:ext cx="3169356" cy="15160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5BE88983-AC23-3EF6-4F78-91CA5EC7402E}"/>
              </a:ext>
            </a:extLst>
          </p:cNvPr>
          <p:cNvCxnSpPr>
            <a:cxnSpLocks/>
          </p:cNvCxnSpPr>
          <p:nvPr/>
        </p:nvCxnSpPr>
        <p:spPr>
          <a:xfrm flipV="1">
            <a:off x="8198872" y="4192420"/>
            <a:ext cx="3169356" cy="15160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B4F1D3D2-C1C6-9411-11A7-36DB2BB057D5}"/>
              </a:ext>
            </a:extLst>
          </p:cNvPr>
          <p:cNvSpPr txBox="1"/>
          <p:nvPr/>
        </p:nvSpPr>
        <p:spPr>
          <a:xfrm>
            <a:off x="857822" y="4230320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Abbruchsbedingung: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109E996-B530-22A7-5F44-D1CD7D0FEE78}"/>
              </a:ext>
            </a:extLst>
          </p:cNvPr>
          <p:cNvSpPr txBox="1"/>
          <p:nvPr/>
        </p:nvSpPr>
        <p:spPr>
          <a:xfrm>
            <a:off x="4532964" y="423032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Abbruchsbedingung :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5F3FFFB-BCF4-F177-862D-642D46695FE1}"/>
              </a:ext>
            </a:extLst>
          </p:cNvPr>
          <p:cNvSpPr txBox="1"/>
          <p:nvPr/>
        </p:nvSpPr>
        <p:spPr>
          <a:xfrm>
            <a:off x="8213299" y="420758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Abbruchsbedingung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17632B11-710A-A35E-80E4-12471E5BE454}"/>
                  </a:ext>
                </a:extLst>
              </p:cNvPr>
              <p:cNvSpPr txBox="1"/>
              <p:nvPr/>
            </p:nvSpPr>
            <p:spPr>
              <a:xfrm>
                <a:off x="838200" y="4606770"/>
                <a:ext cx="3169357" cy="71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8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8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de-D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17632B11-710A-A35E-80E4-12471E5BE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06770"/>
                <a:ext cx="3169357" cy="7176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AC7AF2AE-08B0-4873-F15B-1C5B721D2FF0}"/>
                  </a:ext>
                </a:extLst>
              </p:cNvPr>
              <p:cNvSpPr txBox="1"/>
              <p:nvPr/>
            </p:nvSpPr>
            <p:spPr>
              <a:xfrm>
                <a:off x="4532964" y="4604637"/>
                <a:ext cx="316935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AC7AF2AE-08B0-4873-F15B-1C5B721D2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964" y="4604637"/>
                <a:ext cx="3169356" cy="3815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4AF07F83-9896-D5B1-CCDE-568F62965E8A}"/>
                  </a:ext>
                </a:extLst>
              </p:cNvPr>
              <p:cNvSpPr txBox="1"/>
              <p:nvPr/>
            </p:nvSpPr>
            <p:spPr>
              <a:xfrm>
                <a:off x="8206086" y="4599652"/>
                <a:ext cx="31693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&gt;= 4</m:t>
                      </m:r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&gt;= 100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++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4AF07F83-9896-D5B1-CCDE-568F62965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086" y="4599652"/>
                <a:ext cx="3169356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7FB08DEC-E577-026B-74AD-0551304EA372}"/>
              </a:ext>
            </a:extLst>
          </p:cNvPr>
          <p:cNvSpPr/>
          <p:nvPr/>
        </p:nvSpPr>
        <p:spPr>
          <a:xfrm>
            <a:off x="-122720" y="5979308"/>
            <a:ext cx="12600000" cy="513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00" dirty="0"/>
              <a:t>Aufgrund der maximalen Multiplikationsbreite des FPGAs wird ein 3.15 Festkommaformat verwendet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16F11BD6-1297-7537-7FC6-67EA52F33D0E}"/>
              </a:ext>
            </a:extLst>
          </p:cNvPr>
          <p:cNvSpPr/>
          <p:nvPr/>
        </p:nvSpPr>
        <p:spPr>
          <a:xfrm>
            <a:off x="644064" y="1554503"/>
            <a:ext cx="10903872" cy="4196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FBCE0CA-2B8F-1171-064D-5B445CEAC91A}"/>
              </a:ext>
            </a:extLst>
          </p:cNvPr>
          <p:cNvSpPr txBox="1"/>
          <p:nvPr/>
        </p:nvSpPr>
        <p:spPr>
          <a:xfrm>
            <a:off x="798291" y="1323594"/>
            <a:ext cx="8608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 dirty="0"/>
              <a:t>Core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F6706F5-8228-4CB3-83C8-2A95DA0E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12</a:t>
            </a:fld>
            <a:endParaRPr lang="de-DE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5386D885-EA8E-C386-3FB8-9045C193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4141" y="6500498"/>
            <a:ext cx="9663718" cy="365125"/>
          </a:xfrm>
        </p:spPr>
        <p:txBody>
          <a:bodyPr/>
          <a:lstStyle/>
          <a:p>
            <a:r>
              <a:rPr lang="de-DE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37818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23E3-5A6C-36B6-D6AE-C9BF5563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372C1ECE-96CC-7CA3-BA4D-CC1F00230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3763020"/>
                  </p:ext>
                </p:extLst>
              </p:nvPr>
            </p:nvGraphicFramePr>
            <p:xfrm>
              <a:off x="838200" y="1825626"/>
              <a:ext cx="10515600" cy="394104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4338234">
                      <a:extLst>
                        <a:ext uri="{9D8B030D-6E8A-4147-A177-3AD203B41FA5}">
                          <a16:colId xmlns:a16="http://schemas.microsoft.com/office/drawing/2014/main" val="2508158368"/>
                        </a:ext>
                      </a:extLst>
                    </a:gridCol>
                    <a:gridCol w="2386739">
                      <a:extLst>
                        <a:ext uri="{9D8B030D-6E8A-4147-A177-3AD203B41FA5}">
                          <a16:colId xmlns:a16="http://schemas.microsoft.com/office/drawing/2014/main" val="384541877"/>
                        </a:ext>
                      </a:extLst>
                    </a:gridCol>
                    <a:gridCol w="1782305">
                      <a:extLst>
                        <a:ext uri="{9D8B030D-6E8A-4147-A177-3AD203B41FA5}">
                          <a16:colId xmlns:a16="http://schemas.microsoft.com/office/drawing/2014/main" val="2439222675"/>
                        </a:ext>
                      </a:extLst>
                    </a:gridCol>
                    <a:gridCol w="2008322">
                      <a:extLst>
                        <a:ext uri="{9D8B030D-6E8A-4147-A177-3AD203B41FA5}">
                          <a16:colId xmlns:a16="http://schemas.microsoft.com/office/drawing/2014/main" val="215220746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Rechnung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Anzahl Multiplikationen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Anzahl Additionen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Anzahl Vergleiche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851386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DE" sz="2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Re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e-DE" sz="2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Im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de-DE" sz="2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⋅</m:t>
                                </m:r>
                                <m:d>
                                  <m:d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DE" sz="2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Re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–</m:t>
                                    </m:r>
                                    <m:sSub>
                                      <m:sSubPr>
                                        <m:ctrlPr>
                                          <a:rPr lang="de-DE" sz="2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Im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de-DE" sz="2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21684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DE" sz="2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𝑅𝑒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de-DE" sz="2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𝑅𝑒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2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de-DE" sz="2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⋅</m:t>
                                </m:r>
                                <m:sSub>
                                  <m:sSub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𝐼𝑚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de-DE" sz="2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𝐼𝑚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191578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𝑅𝑒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de-DE" sz="2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de-DE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𝐼𝑚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de-DE" sz="2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de-DE" sz="2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&lt;4</m:t>
                                </m:r>
                              </m:oMath>
                            </m:oMathPara>
                          </a14:m>
                          <a:endParaRPr lang="de-DE" sz="2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4731802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e-DE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de-DE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++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502392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e-DE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de-DE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== 100</m:t>
                                </m:r>
                              </m:oMath>
                            </m:oMathPara>
                          </a14:m>
                          <a:endParaRPr lang="de-DE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136726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/>
                            <a:t>SUMME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/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15589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372C1ECE-96CC-7CA3-BA4D-CC1F00230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3763020"/>
                  </p:ext>
                </p:extLst>
              </p:nvPr>
            </p:nvGraphicFramePr>
            <p:xfrm>
              <a:off x="838200" y="1825626"/>
              <a:ext cx="10515600" cy="394104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4338234">
                      <a:extLst>
                        <a:ext uri="{9D8B030D-6E8A-4147-A177-3AD203B41FA5}">
                          <a16:colId xmlns:a16="http://schemas.microsoft.com/office/drawing/2014/main" val="2508158368"/>
                        </a:ext>
                      </a:extLst>
                    </a:gridCol>
                    <a:gridCol w="2386739">
                      <a:extLst>
                        <a:ext uri="{9D8B030D-6E8A-4147-A177-3AD203B41FA5}">
                          <a16:colId xmlns:a16="http://schemas.microsoft.com/office/drawing/2014/main" val="384541877"/>
                        </a:ext>
                      </a:extLst>
                    </a:gridCol>
                    <a:gridCol w="1782305">
                      <a:extLst>
                        <a:ext uri="{9D8B030D-6E8A-4147-A177-3AD203B41FA5}">
                          <a16:colId xmlns:a16="http://schemas.microsoft.com/office/drawing/2014/main" val="2439222675"/>
                        </a:ext>
                      </a:extLst>
                    </a:gridCol>
                    <a:gridCol w="2008322">
                      <a:extLst>
                        <a:ext uri="{9D8B030D-6E8A-4147-A177-3AD203B41FA5}">
                          <a16:colId xmlns:a16="http://schemas.microsoft.com/office/drawing/2014/main" val="215220746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Rechnung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Anzahl Multiplikationen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Anzahl Additionen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000">
                              <a:solidFill>
                                <a:sysClr val="windowText" lastClr="000000"/>
                              </a:solidFill>
                            </a:rPr>
                            <a:t>Anzahl Vergleiche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851386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2" t="-132558" r="-142690" b="-5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21684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2" t="-232558" r="-142690" b="-4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7191578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2" t="-332558" r="-142690" b="-3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4731802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2" t="-442857" r="-142690" b="-2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miter lim="800000"/>
                        </a:lnT>
                        <a:lnB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502392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2" t="-530233" r="-142690" b="-1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1270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136726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/>
                            <a:t>SUMME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miter lim="800000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/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100" b="1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miter lim="800000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miter lim="800000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15589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54868A6D-77DC-A8F4-2763-834215D1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Berechnungsimplementierung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8FB4B3-4AEF-CBB1-7341-41EED0C3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9432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C5E1A-4D0F-7CB5-7112-F3BD6F5F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CPU vs. FPGA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C3156F-DDD7-D94A-C79A-CCEB0CF2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13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100"/>
              <a:t>Auflösung: 640x480@60Hz 			</a:t>
            </a:r>
            <a:r>
              <a:rPr lang="de-DE" sz="2100">
                <a:sym typeface="Wingdings" pitchFamily="2" charset="2"/>
              </a:rPr>
              <a:t></a:t>
            </a:r>
            <a:r>
              <a:rPr lang="de-DE" sz="2100"/>
              <a:t> 18 432 000 Pixel pro Sekunde</a:t>
            </a:r>
          </a:p>
          <a:p>
            <a:pPr marL="0" indent="0">
              <a:buNone/>
            </a:pPr>
            <a:r>
              <a:rPr lang="de-DE" sz="2100"/>
              <a:t>Worst Case: Keine Divergenz in 100 Iterationen	</a:t>
            </a:r>
            <a:r>
              <a:rPr lang="de-DE" sz="2100">
                <a:sym typeface="Wingdings" pitchFamily="2" charset="2"/>
              </a:rPr>
              <a:t> </a:t>
            </a:r>
            <a:r>
              <a:rPr lang="de-DE" sz="2100"/>
              <a:t>1 843 200 000 Iterationen pro Sekunde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30D2A1-5E12-A814-14A3-0791A583B7BF}"/>
              </a:ext>
            </a:extLst>
          </p:cNvPr>
          <p:cNvSpPr txBox="1"/>
          <p:nvPr/>
        </p:nvSpPr>
        <p:spPr>
          <a:xfrm>
            <a:off x="838200" y="2980283"/>
            <a:ext cx="5257800" cy="274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Aft>
                <a:spcPts val="500"/>
              </a:spcAft>
            </a:pPr>
            <a:r>
              <a:rPr lang="de-DE" sz="2100"/>
              <a:t>Annahmen (stark vereinfacht):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100"/>
              <a:t>1 Takt / 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100"/>
              <a:t>1 Kern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100"/>
              <a:t>Kern exlusiv für Berechnung genutzt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100"/>
              <a:t>Vernachlässigung von Overhead</a:t>
            </a:r>
          </a:p>
          <a:p>
            <a:r>
              <a:rPr lang="de-DE" sz="2100"/>
              <a:t>13 arith. Operationen pro Iteration</a:t>
            </a:r>
          </a:p>
          <a:p>
            <a:r>
              <a:rPr lang="de-DE" sz="2100">
                <a:sym typeface="Wingdings" pitchFamily="2" charset="2"/>
              </a:rPr>
              <a:t></a:t>
            </a:r>
            <a:r>
              <a:rPr lang="de-DE" sz="2100"/>
              <a:t> 23 961 600 000 Operationen pro Sekunde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BC6DAF-7375-FB87-B727-B4B1C7DBF8F0}"/>
              </a:ext>
            </a:extLst>
          </p:cNvPr>
          <p:cNvSpPr/>
          <p:nvPr/>
        </p:nvSpPr>
        <p:spPr>
          <a:xfrm>
            <a:off x="838199" y="5662220"/>
            <a:ext cx="5257799" cy="501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00"/>
              <a:t>ca. 24 GHz Taktrate erforderlich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AFFBEE6-2816-61FA-107F-C9C54A92F271}"/>
                  </a:ext>
                </a:extLst>
              </p:cNvPr>
              <p:cNvSpPr txBox="1"/>
              <p:nvPr/>
            </p:nvSpPr>
            <p:spPr>
              <a:xfrm>
                <a:off x="6197304" y="2977559"/>
                <a:ext cx="5257800" cy="2706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  <a:spcAft>
                    <a:spcPts val="500"/>
                  </a:spcAft>
                </a:pPr>
                <a:r>
                  <a:rPr lang="de-DE" sz="2100"/>
                  <a:t>40 Cores mit je 3 Stages</a:t>
                </a:r>
              </a:p>
              <a:p>
                <a:pPr marL="342900" indent="-342900">
                  <a:spcAft>
                    <a:spcPts val="1000"/>
                  </a:spcAft>
                  <a:buFont typeface="Wingdings" pitchFamily="2" charset="2"/>
                  <a:buChar char="à"/>
                </a:pPr>
                <a:r>
                  <a:rPr lang="de-DE" sz="2100">
                    <a:sym typeface="Wingdings" pitchFamily="2" charset="2"/>
                  </a:rPr>
                  <a:t>Alle 303 Takte sind 120 Pixel berechnet</a:t>
                </a:r>
              </a:p>
              <a:p>
                <a:pPr>
                  <a:spcBef>
                    <a:spcPts val="1000"/>
                  </a:spcBef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18432000 </m:t>
                          </m:r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𝑃𝑖𝑥𝑒𝑙</m:t>
                          </m:r>
                          <m:r>
                            <m:rPr>
                              <m:lit/>
                            </m:rP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120 </m:t>
                          </m:r>
                          <m:r>
                            <m:rPr>
                              <m:sty m:val="p"/>
                            </m:rPr>
                            <a:rPr lang="de-DE" sz="2100" b="0" i="1" smtClean="0">
                              <a:latin typeface="Cambria Math" panose="02040503050406030204" pitchFamily="18" charset="0"/>
                            </a:rPr>
                            <m:t>Pixel</m:t>
                          </m:r>
                        </m:den>
                      </m:f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 ⋅303 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𝑇𝑎𝑘𝑡𝑒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2100" b="0" i="1">
                  <a:latin typeface="Cambria Math" panose="02040503050406030204" pitchFamily="18" charset="0"/>
                </a:endParaRPr>
              </a:p>
              <a:p>
                <a:pPr>
                  <a:spcBef>
                    <a:spcPts val="1000"/>
                  </a:spcBef>
                  <a:spcAft>
                    <a:spcPts val="5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=46540800 </m:t>
                      </m:r>
                      <m:r>
                        <m:rPr>
                          <m:sty m:val="p"/>
                        </m:rPr>
                        <a:rPr lang="de-DE" sz="2100" b="0" i="1" smtClean="0">
                          <a:latin typeface="Cambria Math" panose="02040503050406030204" pitchFamily="18" charset="0"/>
                        </a:rPr>
                        <m:t>Takte</m:t>
                      </m:r>
                      <m:r>
                        <a:rPr lang="de-DE" sz="21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de-DE" sz="2100" b="0" i="1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de-DE" sz="2100"/>
              </a:p>
              <a:p>
                <a:pPr>
                  <a:spcAft>
                    <a:spcPts val="500"/>
                  </a:spcAft>
                </a:pPr>
                <a:endParaRPr lang="de-DE" sz="210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AFFBEE6-2816-61FA-107F-C9C54A92F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304" y="2977559"/>
                <a:ext cx="5257800" cy="2706638"/>
              </a:xfrm>
              <a:prstGeom prst="rect">
                <a:avLst/>
              </a:prstGeom>
              <a:blipFill>
                <a:blip r:embed="rId3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hteck 9">
            <a:extLst>
              <a:ext uri="{FF2B5EF4-FFF2-40B4-BE49-F238E27FC236}">
                <a16:creationId xmlns:a16="http://schemas.microsoft.com/office/drawing/2014/main" id="{19D239D3-CC96-18B8-ACDD-FBD61AE18D9E}"/>
              </a:ext>
            </a:extLst>
          </p:cNvPr>
          <p:cNvSpPr/>
          <p:nvPr/>
        </p:nvSpPr>
        <p:spPr>
          <a:xfrm>
            <a:off x="6197300" y="5659496"/>
            <a:ext cx="5257799" cy="501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00"/>
              <a:t>ca. 47 MHz Taktrate erforderlich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0640339-945A-D568-7BC0-57AEC2D9F22D}"/>
              </a:ext>
            </a:extLst>
          </p:cNvPr>
          <p:cNvSpPr/>
          <p:nvPr/>
        </p:nvSpPr>
        <p:spPr>
          <a:xfrm>
            <a:off x="838200" y="2980283"/>
            <a:ext cx="5257800" cy="31834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1C47C24-0787-1E28-018C-7EA94489C5B7}"/>
              </a:ext>
            </a:extLst>
          </p:cNvPr>
          <p:cNvSpPr/>
          <p:nvPr/>
        </p:nvSpPr>
        <p:spPr>
          <a:xfrm>
            <a:off x="6197303" y="2977559"/>
            <a:ext cx="5257800" cy="31834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E28027-51B1-6925-053D-3852999FE3B0}"/>
              </a:ext>
            </a:extLst>
          </p:cNvPr>
          <p:cNvSpPr txBox="1"/>
          <p:nvPr/>
        </p:nvSpPr>
        <p:spPr>
          <a:xfrm>
            <a:off x="6320744" y="2746726"/>
            <a:ext cx="94301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r>
              <a:rPr lang="de-DE" sz="2400" b="1"/>
              <a:t>FPGA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0CFB7E8-9FD2-F929-88BD-3064E50A1F2C}"/>
              </a:ext>
            </a:extLst>
          </p:cNvPr>
          <p:cNvSpPr txBox="1"/>
          <p:nvPr/>
        </p:nvSpPr>
        <p:spPr>
          <a:xfrm>
            <a:off x="961643" y="2746726"/>
            <a:ext cx="168033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b="1"/>
              <a:t>CPU - Kern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871AB4F-14E1-6805-823A-D91D2BE7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246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9B4AE-2123-E8DD-7B55-893D73C4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5F574-1F48-C290-C7FD-97CA41A6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Parallelisierung der Berechnung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BD3D9B-DDD5-5E9E-CDDB-31E443DD8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608" y="1690688"/>
            <a:ext cx="6948784" cy="4060434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429E7DE-CF40-D398-6F6E-6F14B96D61C7}"/>
              </a:ext>
            </a:extLst>
          </p:cNvPr>
          <p:cNvSpPr/>
          <p:nvPr/>
        </p:nvSpPr>
        <p:spPr>
          <a:xfrm>
            <a:off x="-122720" y="5979308"/>
            <a:ext cx="12600000" cy="5135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00" dirty="0"/>
              <a:t>Baumstruktur zur </a:t>
            </a:r>
            <a:r>
              <a:rPr lang="de-DE" sz="2100" dirty="0" err="1"/>
              <a:t>gepipelinten</a:t>
            </a:r>
            <a:r>
              <a:rPr lang="de-DE" sz="2100" dirty="0"/>
              <a:t> Verteilung und Zusammenführung der Daten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709A9A-3B8F-E64A-ACFE-4D9AB0B0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8479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AEFB-E44E-43BA-7A5D-80DBBFBE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BE887-FAFE-2E9F-EF63-15CDF6B5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3) Visualisierung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65AFCC-5448-A38A-5974-B65622DA6A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5369" y="1489586"/>
            <a:ext cx="8681261" cy="4998776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3E6945-ED2F-5E17-0940-E577F073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0564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73671-729A-64A3-A2FA-DFD00DB1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225543-BECC-13DF-BB7B-AEFC7EC5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PLATZHALTER FOLIEN THOMAS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F5FA07-3AAE-5E41-A55D-37FAA1990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PLATZHALTER FOLIEN THOMAS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BA7432-55AD-BF15-A200-71B9C392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9979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54F2-FA40-F155-A50D-4985CC43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2ABA57-FEC3-A1D0-E936-FFC88F78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4) Steuerung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F38EBB-1A25-147A-D4C7-137E55707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5370" y="1489586"/>
            <a:ext cx="8681259" cy="4998776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8A7AEF-E6A9-7F75-E976-51766D21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2711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A8277-978F-7C6F-15A6-BF622E6C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6049C-E794-B7A3-E582-D7EFD5F0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PLATZHALTER FOLIEN THOMAS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943D88-2FB6-CF78-A587-C0A5A330E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PLATZHALTER FOLIEN THOMAS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EB4A93-4072-4650-9012-861B2F5A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2623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99C9D-4180-7793-68ED-0A35743B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4727B-560E-EEFD-64B8-6F3327E3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Arty A7 vs. Arty Z7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CF37E60-1E0C-2D5E-A7B2-745001B55E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5370" y="1489586"/>
            <a:ext cx="8681259" cy="4998775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0DF6EF-19CE-71AE-3430-75A215A3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023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AECF-B5D1-B796-5941-82178EEF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B2D482-2647-3382-918B-5B5650D9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Implementierung Arty A7 vs. Arty Z7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80398F4-40CF-1945-B139-B0DF3CBFB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709526"/>
              </p:ext>
            </p:extLst>
          </p:nvPr>
        </p:nvGraphicFramePr>
        <p:xfrm>
          <a:off x="838200" y="1825626"/>
          <a:ext cx="10515600" cy="3971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807368">
                  <a:extLst>
                    <a:ext uri="{9D8B030D-6E8A-4147-A177-3AD203B41FA5}">
                      <a16:colId xmlns:a16="http://schemas.microsoft.com/office/drawing/2014/main" val="2508158368"/>
                    </a:ext>
                  </a:extLst>
                </a:gridCol>
                <a:gridCol w="4030579">
                  <a:extLst>
                    <a:ext uri="{9D8B030D-6E8A-4147-A177-3AD203B41FA5}">
                      <a16:colId xmlns:a16="http://schemas.microsoft.com/office/drawing/2014/main" val="384541877"/>
                    </a:ext>
                  </a:extLst>
                </a:gridCol>
                <a:gridCol w="3677653">
                  <a:extLst>
                    <a:ext uri="{9D8B030D-6E8A-4147-A177-3AD203B41FA5}">
                      <a16:colId xmlns:a16="http://schemas.microsoft.com/office/drawing/2014/main" val="243922267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de-DE" sz="2000">
                          <a:solidFill>
                            <a:sysClr val="windowText" lastClr="000000"/>
                          </a:solidFill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>
                          <a:solidFill>
                            <a:sysClr val="windowText" lastClr="000000"/>
                          </a:solidFill>
                        </a:rPr>
                        <a:t>Arty A7-100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ysClr val="windowText" lastClr="000000"/>
                          </a:solidFill>
                        </a:rPr>
                        <a:t>Arty Z7-20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51386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de-DE" sz="2100">
                          <a:solidFill>
                            <a:schemeClr val="tx1"/>
                          </a:solidFill>
                        </a:rPr>
                        <a:t>Minimap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/>
                        <a:t>Nein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637998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de-DE" sz="2100">
                          <a:solidFill>
                            <a:schemeClr val="tx1"/>
                          </a:solidFill>
                        </a:rPr>
                        <a:t>Ausgabe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/>
                        <a:t>VGA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DVI über HDMI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19157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100">
                          <a:solidFill>
                            <a:schemeClr val="tx1"/>
                          </a:solidFill>
                        </a:rPr>
                        <a:t>Auflösung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/>
                        <a:t>640x480@60 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640x480@60 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731802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100">
                          <a:solidFill>
                            <a:schemeClr val="tx1"/>
                          </a:solidFill>
                        </a:rPr>
                        <a:t>Farbtiefe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/>
                        <a:t>12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24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02392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100" dirty="0">
                          <a:solidFill>
                            <a:schemeClr val="tx1"/>
                          </a:solidFill>
                        </a:rPr>
                        <a:t>Farbschema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SW-seitig auswählbar, hardwarebeschleunigt realisiert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SW-seitig konfigurierbar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36726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100" dirty="0">
                          <a:solidFill>
                            <a:schemeClr val="tx1"/>
                          </a:solidFill>
                        </a:rPr>
                        <a:t>UART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9600 Baud, 8N1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100" dirty="0"/>
                        <a:t>115200 Baud, 8N1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2883985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12321B-1ABE-A1DE-E00A-8FC0BDB3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1268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E31ECD-4C56-06C7-D350-99003145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8FE007-6E0A-97B9-9737-2D8C83663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300" dirty="0"/>
              <a:t>[1] G. Völkel, „Fraktale Geometrie: Julia Mengen”, Universität Ulm, 2007. </a:t>
            </a:r>
            <a:br>
              <a:rPr lang="de-DE" sz="1300" dirty="0"/>
            </a:br>
            <a:r>
              <a:rPr lang="de-DE" sz="1300" dirty="0">
                <a:hlinkClick r:id="rId2"/>
              </a:rPr>
              <a:t>https://www.mathematik.uni-ulm.de/stochastik/lehre/ws06_07/seminar_fraktale/ausarbeitung_voelkel.pdf</a:t>
            </a:r>
            <a:r>
              <a:rPr lang="de-DE" sz="1300" dirty="0"/>
              <a:t> (Zugriff: 15.06.2026)</a:t>
            </a:r>
          </a:p>
          <a:p>
            <a:r>
              <a:rPr lang="de-DE" sz="1300" dirty="0"/>
              <a:t>[2] D. Datta, B. Datta und  H. S. Dutta, „Design and </a:t>
            </a:r>
            <a:r>
              <a:rPr lang="de-DE" sz="1300" dirty="0" err="1"/>
              <a:t>implementation</a:t>
            </a:r>
            <a:r>
              <a:rPr lang="de-DE" sz="1300" dirty="0"/>
              <a:t> </a:t>
            </a:r>
            <a:r>
              <a:rPr lang="de-DE" sz="1300" dirty="0" err="1"/>
              <a:t>of</a:t>
            </a:r>
            <a:r>
              <a:rPr lang="de-DE" sz="1300" dirty="0"/>
              <a:t> </a:t>
            </a:r>
            <a:r>
              <a:rPr lang="de-DE" sz="1300" dirty="0" err="1"/>
              <a:t>multibit</a:t>
            </a:r>
            <a:r>
              <a:rPr lang="de-DE" sz="1300" dirty="0"/>
              <a:t> LFSR on FPGA </a:t>
            </a:r>
            <a:r>
              <a:rPr lang="de-DE" sz="1300" dirty="0" err="1"/>
              <a:t>to</a:t>
            </a:r>
            <a:r>
              <a:rPr lang="de-DE" sz="1300" dirty="0"/>
              <a:t> </a:t>
            </a:r>
            <a:r>
              <a:rPr lang="de-DE" sz="1300" dirty="0" err="1"/>
              <a:t>generate</a:t>
            </a:r>
            <a:r>
              <a:rPr lang="de-DE" sz="1300" dirty="0"/>
              <a:t> </a:t>
            </a:r>
            <a:r>
              <a:rPr lang="de-DE" sz="1300" dirty="0" err="1"/>
              <a:t>pseudorandom</a:t>
            </a:r>
            <a:r>
              <a:rPr lang="de-DE" sz="1300" dirty="0"/>
              <a:t> </a:t>
            </a:r>
            <a:r>
              <a:rPr lang="de-DE" sz="1300" dirty="0" err="1"/>
              <a:t>sequence</a:t>
            </a:r>
            <a:r>
              <a:rPr lang="de-DE" sz="1300" dirty="0"/>
              <a:t> </a:t>
            </a:r>
            <a:r>
              <a:rPr lang="de-DE" sz="1300" dirty="0" err="1"/>
              <a:t>number</a:t>
            </a:r>
            <a:r>
              <a:rPr lang="de-DE" sz="1300" dirty="0"/>
              <a:t>”, 2017 Devices </a:t>
            </a:r>
            <a:r>
              <a:rPr lang="de-DE" sz="1300" dirty="0" err="1"/>
              <a:t>for</a:t>
            </a:r>
            <a:r>
              <a:rPr lang="de-DE" sz="1300" dirty="0"/>
              <a:t> Integrated Circuit (DevIC), Kalyani, India, pp. 346–349, 2017. </a:t>
            </a:r>
            <a:r>
              <a:rPr lang="de-DE" sz="1300" dirty="0" err="1"/>
              <a:t>doi</a:t>
            </a:r>
            <a:r>
              <a:rPr lang="de-DE" sz="1300" dirty="0"/>
              <a:t>: 10.1109/DEVIC.2017.8073966.</a:t>
            </a:r>
          </a:p>
          <a:p>
            <a:r>
              <a:rPr lang="de-DE" sz="1300" dirty="0"/>
              <a:t>[3] R. Merrick, </a:t>
            </a:r>
            <a:r>
              <a:rPr lang="de-DE" sz="1300" i="1" dirty="0"/>
              <a:t>Getting </a:t>
            </a:r>
            <a:r>
              <a:rPr lang="de-DE" sz="1300" i="1" dirty="0" err="1"/>
              <a:t>Started</a:t>
            </a:r>
            <a:r>
              <a:rPr lang="de-DE" sz="1300" i="1" dirty="0"/>
              <a:t> </a:t>
            </a:r>
            <a:r>
              <a:rPr lang="de-DE" sz="1300" i="1" dirty="0" err="1"/>
              <a:t>with</a:t>
            </a:r>
            <a:r>
              <a:rPr lang="de-DE" sz="1300" i="1" dirty="0"/>
              <a:t> FPGAs: Digital Circuit Design, </a:t>
            </a:r>
            <a:r>
              <a:rPr lang="de-DE" sz="1300" i="1" dirty="0" err="1"/>
              <a:t>Verilog</a:t>
            </a:r>
            <a:r>
              <a:rPr lang="de-DE" sz="1300" i="1" dirty="0"/>
              <a:t>, and VHDL </a:t>
            </a:r>
            <a:r>
              <a:rPr lang="de-DE" sz="1300" i="1" dirty="0" err="1"/>
              <a:t>for</a:t>
            </a:r>
            <a:r>
              <a:rPr lang="de-DE" sz="1300" i="1" dirty="0"/>
              <a:t> Beginners, </a:t>
            </a:r>
            <a:r>
              <a:rPr lang="de-DE" sz="1300" i="1" dirty="0" err="1"/>
              <a:t>No</a:t>
            </a:r>
            <a:r>
              <a:rPr lang="de-DE" sz="1300" i="1" dirty="0"/>
              <a:t> Starch Press, 2023.</a:t>
            </a:r>
          </a:p>
          <a:p>
            <a:r>
              <a:rPr lang="de-DE" sz="1300" dirty="0"/>
              <a:t>[4] Xilinx, „7 Series DSP48E1 Slice User Guide (UG 479)“, 2018. </a:t>
            </a:r>
            <a:br>
              <a:rPr lang="de-DE" sz="1300" dirty="0"/>
            </a:br>
            <a:r>
              <a:rPr lang="de-DE" sz="1300" dirty="0">
                <a:hlinkClick r:id="rId3"/>
              </a:rPr>
              <a:t>https://docs.amd.com/v/u/en-US/ug479_7Series_DSP48E1</a:t>
            </a:r>
            <a:r>
              <a:rPr lang="de-DE" sz="1300" dirty="0"/>
              <a:t> (Zugriff: 15.06.2026)</a:t>
            </a:r>
            <a:endParaRPr lang="de-DE" sz="1300" b="1" dirty="0"/>
          </a:p>
          <a:p>
            <a:endParaRPr lang="de-DE" sz="13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AEC4AD-256C-75B3-7729-607793F9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980B-2C02-594B-9C73-A951FE425682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099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Macintosh PowerPoint</Application>
  <PresentationFormat>Breitbild</PresentationFormat>
  <Paragraphs>231</Paragraphs>
  <Slides>22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</vt:lpstr>
      <vt:lpstr>FractalCore</vt:lpstr>
      <vt:lpstr>Systemüberblick</vt:lpstr>
      <vt:lpstr>1) Initialwerterzeugung</vt:lpstr>
      <vt:lpstr>Folgenberechnung</vt:lpstr>
      <vt:lpstr>Pixelmapping</vt:lpstr>
      <vt:lpstr>Julia- &amp; Mandelbrotmenge</vt:lpstr>
      <vt:lpstr>Juliamenge - Animationsmodi</vt:lpstr>
      <vt:lpstr>LFSR - Aufbau und Funktion</vt:lpstr>
      <vt:lpstr>2) Mengenberechnung</vt:lpstr>
      <vt:lpstr>Berechnungsimplementierung</vt:lpstr>
      <vt:lpstr>Berechnungsimplementierung</vt:lpstr>
      <vt:lpstr>Berechnungsimplementierung</vt:lpstr>
      <vt:lpstr>Berechnungsimplementierung</vt:lpstr>
      <vt:lpstr>CPU vs. FPGA</vt:lpstr>
      <vt:lpstr>Parallelisierung der Berechnung</vt:lpstr>
      <vt:lpstr>3) Visualisierung</vt:lpstr>
      <vt:lpstr>PLATZHALTER FOLIEN THOMAS</vt:lpstr>
      <vt:lpstr>4) Steuerung</vt:lpstr>
      <vt:lpstr>PLATZHALTER FOLIEN THOMAS</vt:lpstr>
      <vt:lpstr>Arty A7 vs. Arty Z7</vt:lpstr>
      <vt:lpstr>Implementierung Arty A7 vs. Arty Z7</vt:lpstr>
      <vt:lpstr>Literatur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Remy</dc:creator>
  <cp:lastModifiedBy>Markus Remy</cp:lastModifiedBy>
  <cp:revision>211</cp:revision>
  <dcterms:created xsi:type="dcterms:W3CDTF">2026-06-12T13:14:21Z</dcterms:created>
  <dcterms:modified xsi:type="dcterms:W3CDTF">2026-06-15T09:47:29Z</dcterms:modified>
</cp:coreProperties>
</file>