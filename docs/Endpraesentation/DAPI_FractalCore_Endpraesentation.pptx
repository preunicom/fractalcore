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3" r:id="rId3"/>
    <p:sldId id="275" r:id="rId4"/>
    <p:sldId id="260" r:id="rId5"/>
    <p:sldId id="261" r:id="rId6"/>
    <p:sldId id="262" r:id="rId7"/>
    <p:sldId id="270" r:id="rId8"/>
    <p:sldId id="268" r:id="rId9"/>
    <p:sldId id="276" r:id="rId10"/>
    <p:sldId id="257" r:id="rId11"/>
    <p:sldId id="271" r:id="rId12"/>
    <p:sldId id="265" r:id="rId13"/>
    <p:sldId id="258" r:id="rId14"/>
    <p:sldId id="266" r:id="rId15"/>
    <p:sldId id="272" r:id="rId16"/>
    <p:sldId id="277" r:id="rId17"/>
    <p:sldId id="274" r:id="rId18"/>
    <p:sldId id="278" r:id="rId19"/>
    <p:sldId id="279" r:id="rId20"/>
    <p:sldId id="280" r:id="rId21"/>
    <p:sldId id="273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2621"/>
  </p:normalViewPr>
  <p:slideViewPr>
    <p:cSldViewPr snapToGrid="0">
      <p:cViewPr>
        <p:scale>
          <a:sx n="117" d="100"/>
          <a:sy n="117" d="100"/>
        </p:scale>
        <p:origin x="48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90DA4-8E7E-0941-AA18-ABC55D37EF0E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6D80-E674-C74A-9C41-C7D9BE4A5AB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313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Hintergrundbild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295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4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126A-B3C0-0D6B-9958-30E227434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2D160E-0923-1AC1-6F2B-39F2629E8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A8BFA9-5FDA-1480-CA7E-AABD55356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99DAE0-4975-A5ED-AAFE-60E5AA8C7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0859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Um zu verstehen, wie so ein Bild entsteht, müssen wir zuerst die Mathematik dahinter verstehen.</a:t>
            </a:r>
          </a:p>
          <a:p>
            <a:r>
              <a:rPr lang="de-DE" dirty="0"/>
              <a:t>Und dabei steht die Folge z_n+1 = z_n^2 + c und ihr Grenzverhalten im Zentrum.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43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NICHT AUF DEN AUFBAU EINGEHEN!</a:t>
            </a:r>
            <a:br>
              <a:rPr lang="de-DE" dirty="0"/>
            </a:br>
            <a:r>
              <a:rPr lang="de-DE" dirty="0"/>
              <a:t>NUR GROB MIT CRC VERGLEICHEN!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575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187B-05A9-563A-1B16-CBDF8655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C34808-9FA6-A849-84C3-3258A5EC6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D747CC-A51F-C56B-0FCD-91331FEA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CC72C-6FD4-1792-EEE1-B7E38584A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380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FPGA: 303 Takte, da jede Iteration 3 Stages </a:t>
            </a:r>
            <a:r>
              <a:rPr lang="de-DE">
                <a:sym typeface="Wingdings" pitchFamily="2" charset="2"/>
              </a:rPr>
              <a:t> 300 Takte + 3 Takte für eine Iteration in der das Ergebnis weggeschrieben wird und neue Startwerte geladen werden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9914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709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57C5-2C3B-8A6E-713E-EAA61041B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5F904F-B20D-517A-10C4-167EB057C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BCFB3-4CE1-A872-534B-290564D5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905205-3ECE-18EF-6A19-980DD241A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864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7AC-D7F0-5FDD-59AB-DD01A46B5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326F75-16FD-AAB7-1A69-6DA16D3AC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9BF6A-FE38-65DE-CE6F-373FF520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2160E-2B76-AD10-86B0-3AD0063DC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4463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BB2B2-F221-7669-5B48-35869E18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3EEB85D-612D-D8B7-C592-08FA2D629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ECDE8D-4B4D-79EF-119E-31138BE17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424F95-8B32-A310-36E3-6E9690EC4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8810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5E9F0-91BC-9F1B-E607-FCD34AD5A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DD6755-60CA-94F3-7EC6-715D8898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819F97-62E4-6FFA-9BA1-29128574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0660A-E33E-DCF5-3160-22DF2F4B8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4267AC-E8BE-28C5-1203-E23B8B641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70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6D4F1E-6183-D673-0E48-E72FF928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FB6A01-5331-BA1D-7827-3486DE925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6F72EE-9D47-B6AA-BD1C-9FB9527F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E0F29-265C-A27B-BDDA-FA35B631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EC115B-A682-1FCB-5794-467A0812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06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41094-A3B1-443B-B54C-2A668FD3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D2EDE-69D9-48F3-5E6E-FF4CFD08E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973CB9-1EDB-C21C-2DF5-5C0E2EF8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9D53FE-52DE-A8D0-F807-EA9E106D6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5E8088-9A49-2424-1D64-661EB71F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3804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A1C29-768B-E2D9-9F2F-364B8695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3DDA49-D107-9859-95F9-208C729C1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5FFB5-34D3-7EF7-D7A1-D4325FC070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B11B59-95DF-F79C-8736-4E04444C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758F3E-CA89-79EF-F970-D32D6985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64884A-0EE1-73FD-8C36-E24D0549A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16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99C43-CE70-CB4B-7251-4A9D98DA6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C0738A-256F-AE20-2C04-8A107CC5F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E1F246-0663-51B0-BD6A-615A50633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1D7A3CC-4758-7A0E-9ECA-AEEA7AD75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1B5FE4-F52C-DA24-29B1-F92C785834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56BDA0-8394-7F5C-1AFB-D27B69E4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0D4A62-E643-64CF-2703-F4C302D5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81C7957-4ABC-DEBF-FE04-7A50D78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34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C05A0-BDD2-56E1-C675-5FBFB6D60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C6ED1-0D51-E1F5-1576-BD99C8A4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FFC75D-DE0D-BC30-4E99-D2D774D2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77CF6F-F9DB-00D5-FB8F-542754B2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2930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363860-87EF-2A36-9A3A-2A6B2B99E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4ECE4C-9ED1-2057-99B2-15C9000A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8678A0-AB39-D6AA-23A0-D57988B5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532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6D286-B7A5-4BB2-3BEE-0E9E496F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18FE4-5EF7-7FAF-8F25-150C96CF0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5B6CBE-A0B6-1885-F713-A47DD5EA7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87DF34-03C2-89DC-691A-FD01B23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2D02A94-944A-A976-EC09-65DE47FA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F99A7-735F-ACA7-78EB-46594B69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1456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158DF-3871-0077-39D3-F30305EE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AEB852-4240-E9A9-1E54-6563AF8F8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16686F-0A39-409F-A292-6004D3615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D566B-3502-3617-38E0-7A3DC8FA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B50D3-499F-6935-A3BE-A8A24274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DEB3B2-1360-2267-44E1-E3CCAD10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054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EDE42-0702-E5E4-94C4-8C76F458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AF454-059A-2BF2-C7F5-C87233311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B7B421-0FAF-07C8-7182-A0511FAC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5AD420-5ED6-2FF1-3CB3-DAA96862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4CA6CC-84BC-2B32-D736-E0228CAF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872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9D0416-02C0-9EB2-ECA4-E701AEBA6F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BD512A-BA37-18C0-D552-02E4E1211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BE7305-9B13-8940-4CBA-5749FE19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EA708E-DCB2-3EA1-C943-8FB584C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59B6E-A2C0-00CE-104F-8707AA86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733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85600D-8AD8-019B-D456-361609E4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81F8C-B25F-4A74-51A4-7C12B413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DA8EAA-CF2D-D351-AE66-68987CE0F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44DE7-3285-8D44-BCA8-8E65601213C7}" type="datetimeFigureOut">
              <a:rPr lang="de-DE" smtClean="0"/>
              <a:t>14.06.26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78B45-9D52-D483-66A5-E9E551C22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E0233E-A807-8B3D-8164-1E9CACAB4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63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3BAD41-56DB-2787-605F-54CB9C29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E5EAD6-B1AD-D20E-7E56-F0900BEDE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83F261-BA5D-56CE-D95D-0230CC6AA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3407737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F80EC-CD95-0B1A-565E-9E71C350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Systemüberblick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3EC115-1820-E513-0021-FAF480BA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5074"/>
            <a:ext cx="8696933" cy="500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70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3A7DE-088E-FFB7-4D51-4DE64142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9E69-4B1F-073B-9DC0-F94EAC56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441645-4DA5-044D-CB5D-A705731457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58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496F-1CDE-593A-BB0D-B9502DA2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94AD1-DBF4-9098-494C-436AD593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Folgenberechnung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b="0"/>
                  <a:t>Berechnung der Folge 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ℂ</m:t>
                      </m:r>
                    </m:oMath>
                  </m:oMathPara>
                </a14:m>
                <a:endParaRPr lang="de-DE" sz="2100" b="0"/>
              </a:p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/>
                  <a:t>bis zur Divergenz bei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&gt;= 2</m:t>
                      </m:r>
                    </m:oMath>
                  </m:oMathPara>
                </a14:m>
                <a:endParaRPr lang="de-DE" sz="2100"/>
              </a:p>
              <a:p>
                <a:pPr marL="0" indent="0">
                  <a:buNone/>
                </a:pPr>
                <a:r>
                  <a:rPr lang="de-DE" sz="2100"/>
                  <a:t>oder zur Konvergenz nach einer festgelegten maximalen Anzahl an Interationen </a:t>
                </a:r>
                <a14:m>
                  <m:oMath xmlns:m="http://schemas.openxmlformats.org/officeDocument/2006/math">
                    <m:r>
                      <a:rPr lang="de-DE" sz="21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sz="2100"/>
                  <a:t> für jeden Pixel des Bildes.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  <a:blipFill>
                <a:blip r:embed="rId3"/>
                <a:stretch>
                  <a:fillRect l="-724" t="-2370" b="-2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72A2840F-B669-6FB7-1EE5-33759729EC12}"/>
              </a:ext>
            </a:extLst>
          </p:cNvPr>
          <p:cNvSpPr/>
          <p:nvPr/>
        </p:nvSpPr>
        <p:spPr>
          <a:xfrm>
            <a:off x="-20400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 Pixelfärbung abhängig vom Grenzwertverhalten der Folge</a:t>
            </a:r>
          </a:p>
        </p:txBody>
      </p:sp>
    </p:spTree>
    <p:extLst>
      <p:ext uri="{BB962C8B-B14F-4D97-AF65-F5344CB8AC3E}">
        <p14:creationId xmlns:p14="http://schemas.microsoft.com/office/powerpoint/2010/main" val="3179035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BA066C-06B0-9296-CFEC-96904EA2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Pixelmapping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28B930-525E-C0D8-3AF7-514D84045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6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100" dirty="0"/>
              <a:t>Jeder Pixel wird einem Punkt in der komplexen Ebene zugeordnet.</a:t>
            </a:r>
          </a:p>
          <a:p>
            <a:pPr marL="0" indent="0">
              <a:buNone/>
            </a:pPr>
            <a:r>
              <a:rPr lang="de-DE" sz="2100" dirty="0"/>
              <a:t>Die Variable d entspricht dabei einer konfigurierbaren Distanz zwischen zwei Pixeln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A94A69-28C5-BB9B-E1DD-CAAD6C2CE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224" y="3159244"/>
            <a:ext cx="6051551" cy="333363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0EA3258-52D5-45CB-46A1-95658A5CA412}"/>
              </a:ext>
            </a:extLst>
          </p:cNvPr>
          <p:cNvCxnSpPr>
            <a:cxnSpLocks/>
            <a:stCxn id="5" idx="1"/>
            <a:endCxn id="5" idx="3"/>
          </p:cNvCxnSpPr>
          <p:nvPr/>
        </p:nvCxnSpPr>
        <p:spPr>
          <a:xfrm>
            <a:off x="3070224" y="4826059"/>
            <a:ext cx="605155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82AB3F-28ED-87AD-112C-15579E1EAE27}"/>
              </a:ext>
            </a:extLst>
          </p:cNvPr>
          <p:cNvCxnSpPr>
            <a:cxnSpLocks/>
            <a:stCxn id="5" idx="2"/>
            <a:endCxn id="5" idx="0"/>
          </p:cNvCxnSpPr>
          <p:nvPr/>
        </p:nvCxnSpPr>
        <p:spPr>
          <a:xfrm flipV="1">
            <a:off x="6096000" y="3159244"/>
            <a:ext cx="0" cy="33336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94B567F-A907-A48E-1456-5B20A608ADAC}"/>
              </a:ext>
            </a:extLst>
          </p:cNvPr>
          <p:cNvSpPr txBox="1"/>
          <p:nvPr/>
        </p:nvSpPr>
        <p:spPr>
          <a:xfrm>
            <a:off x="6096000" y="273724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Im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1512027-75B6-81F1-6A90-14D917ECF83F}"/>
              </a:ext>
            </a:extLst>
          </p:cNvPr>
          <p:cNvSpPr txBox="1"/>
          <p:nvPr/>
        </p:nvSpPr>
        <p:spPr>
          <a:xfrm>
            <a:off x="9010756" y="4615060"/>
            <a:ext cx="49084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Re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A36E8DE9-1160-CDCA-BB2B-629045A2A409}"/>
              </a:ext>
            </a:extLst>
          </p:cNvPr>
          <p:cNvCxnSpPr>
            <a:cxnSpLocks/>
          </p:cNvCxnSpPr>
          <p:nvPr/>
        </p:nvCxnSpPr>
        <p:spPr>
          <a:xfrm>
            <a:off x="9309280" y="3159244"/>
            <a:ext cx="3206" cy="334012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719B2846-DD1B-5433-28A8-F24C371A60B8}"/>
              </a:ext>
            </a:extLst>
          </p:cNvPr>
          <p:cNvCxnSpPr>
            <a:cxnSpLocks/>
          </p:cNvCxnSpPr>
          <p:nvPr/>
        </p:nvCxnSpPr>
        <p:spPr>
          <a:xfrm>
            <a:off x="3049666" y="2972377"/>
            <a:ext cx="6072109" cy="14877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A8CA2070-0475-A591-B63C-C876CF280DAA}"/>
              </a:ext>
            </a:extLst>
          </p:cNvPr>
          <p:cNvSpPr txBox="1"/>
          <p:nvPr/>
        </p:nvSpPr>
        <p:spPr>
          <a:xfrm>
            <a:off x="9309280" y="4621559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480 Pixel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64BEFEF-328B-A28D-496E-C2961113B0B5}"/>
              </a:ext>
            </a:extLst>
          </p:cNvPr>
          <p:cNvSpPr txBox="1"/>
          <p:nvPr/>
        </p:nvSpPr>
        <p:spPr>
          <a:xfrm>
            <a:off x="5476194" y="2550380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640 Pixel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/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blipFill>
                <a:blip r:embed="rId3"/>
                <a:stretch>
                  <a:fillRect t="-8824" r="-3797" b="-26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/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-239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blipFill>
                <a:blip r:embed="rId4"/>
                <a:stretch>
                  <a:fillRect t="-9091" r="-4878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/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-239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blipFill>
                <a:blip r:embed="rId5"/>
                <a:stretch>
                  <a:fillRect t="-9091" r="-4667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/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blipFill>
                <a:blip r:embed="rId6"/>
                <a:stretch>
                  <a:fillRect t="-9091" r="-4930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Bogen 46">
            <a:extLst>
              <a:ext uri="{FF2B5EF4-FFF2-40B4-BE49-F238E27FC236}">
                <a16:creationId xmlns:a16="http://schemas.microsoft.com/office/drawing/2014/main" id="{84B33D49-68E5-645C-FB49-DC38D7B8A495}"/>
              </a:ext>
            </a:extLst>
          </p:cNvPr>
          <p:cNvSpPr/>
          <p:nvPr/>
        </p:nvSpPr>
        <p:spPr>
          <a:xfrm>
            <a:off x="2234391" y="2944996"/>
            <a:ext cx="886581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Bogen 47">
            <a:extLst>
              <a:ext uri="{FF2B5EF4-FFF2-40B4-BE49-F238E27FC236}">
                <a16:creationId xmlns:a16="http://schemas.microsoft.com/office/drawing/2014/main" id="{12B90C8F-776E-38FF-D98B-2EAD1185703C}"/>
              </a:ext>
            </a:extLst>
          </p:cNvPr>
          <p:cNvSpPr/>
          <p:nvPr/>
        </p:nvSpPr>
        <p:spPr>
          <a:xfrm flipH="1">
            <a:off x="9071029" y="2962866"/>
            <a:ext cx="933052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Bogen 50">
            <a:extLst>
              <a:ext uri="{FF2B5EF4-FFF2-40B4-BE49-F238E27FC236}">
                <a16:creationId xmlns:a16="http://schemas.microsoft.com/office/drawing/2014/main" id="{4678FC48-C97C-CF31-77AD-A75F8ABEB29B}"/>
              </a:ext>
            </a:extLst>
          </p:cNvPr>
          <p:cNvSpPr/>
          <p:nvPr/>
        </p:nvSpPr>
        <p:spPr>
          <a:xfrm flipH="1" flipV="1">
            <a:off x="9071029" y="5938304"/>
            <a:ext cx="933052" cy="772068"/>
          </a:xfrm>
          <a:prstGeom prst="arc">
            <a:avLst>
              <a:gd name="adj1" fmla="val 11999773"/>
              <a:gd name="adj2" fmla="val 20238155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Bogen 51">
            <a:extLst>
              <a:ext uri="{FF2B5EF4-FFF2-40B4-BE49-F238E27FC236}">
                <a16:creationId xmlns:a16="http://schemas.microsoft.com/office/drawing/2014/main" id="{F2766B3B-960C-9AA3-8313-F2723943016E}"/>
              </a:ext>
            </a:extLst>
          </p:cNvPr>
          <p:cNvSpPr/>
          <p:nvPr/>
        </p:nvSpPr>
        <p:spPr>
          <a:xfrm flipV="1">
            <a:off x="2234391" y="5910451"/>
            <a:ext cx="886581" cy="799921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999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BE833-A1F1-4744-1FD2-E936713D7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Julia- &amp; Mandelbrotmenge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sz="2100" dirty="0"/>
                  <a:t>Die Werte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100" dirty="0"/>
                  <a:t> und </a:t>
                </a:r>
                <a14:m>
                  <m:oMath xmlns:m="http://schemas.openxmlformats.org/officeDocument/2006/math"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der Folge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entscheiden über Julia-/Mandelbrotmenge: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  <a:blipFill>
                <a:blip r:embed="rId2"/>
                <a:stretch>
                  <a:fillRect l="-724" t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7796F471-E6B3-9403-7F33-06A794241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457" y="2343150"/>
            <a:ext cx="7959085" cy="383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2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B46D-1276-6BCF-B7B3-B2A91CA3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EA8C6-DA1D-EFAB-F1C1-CB0A2971D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Juliamenge - Animationsmodi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203243-A96B-453F-0774-106E833FD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961"/>
            <a:ext cx="4680000" cy="4140001"/>
          </a:xfrm>
        </p:spPr>
        <p:txBody>
          <a:bodyPr numCol="1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Rautenförmig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Rautenecken als Ziele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Gegenuhrzeigersinn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Punkte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de-DE" sz="2100"/>
              <a:t>Einstellungsmöglichkeiten: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Breite (Re)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Höhe (Im)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E6D3BF09-7044-8CEC-0EEC-E7A64E1BB380}"/>
              </a:ext>
            </a:extLst>
          </p:cNvPr>
          <p:cNvSpPr txBox="1">
            <a:spLocks/>
          </p:cNvSpPr>
          <p:nvPr/>
        </p:nvSpPr>
        <p:spPr>
          <a:xfrm>
            <a:off x="6096000" y="2036961"/>
            <a:ext cx="5257800" cy="4140002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 je Dimension (=&gt; 2x LFSR)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LFSR-Wert als Ziel (pro Dim.)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Geraden parallel zur jeweiligen Achse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Einstellungsmöglichkeiten: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XOR Masken (Re &amp; Im)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Seeds (Re &amp; Im)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601A2E6-1829-DDDF-96F0-74AC83CC25A5}"/>
              </a:ext>
            </a:extLst>
          </p:cNvPr>
          <p:cNvSpPr/>
          <p:nvPr/>
        </p:nvSpPr>
        <p:spPr>
          <a:xfrm>
            <a:off x="838200" y="2036963"/>
            <a:ext cx="46800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3A54CFC-9A3B-945A-86FF-6BF4EB6D4D69}"/>
              </a:ext>
            </a:extLst>
          </p:cNvPr>
          <p:cNvSpPr/>
          <p:nvPr/>
        </p:nvSpPr>
        <p:spPr>
          <a:xfrm>
            <a:off x="6096000" y="2036963"/>
            <a:ext cx="52578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9B1ABDC-8035-E0F0-E022-89F1ABB107FF}"/>
              </a:ext>
            </a:extLst>
          </p:cNvPr>
          <p:cNvSpPr txBox="1"/>
          <p:nvPr/>
        </p:nvSpPr>
        <p:spPr>
          <a:xfrm>
            <a:off x="1014045" y="1806128"/>
            <a:ext cx="146386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Diamond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734855-6EFE-FC03-CAC7-771CE2881A64}"/>
              </a:ext>
            </a:extLst>
          </p:cNvPr>
          <p:cNvSpPr txBox="1"/>
          <p:nvPr/>
        </p:nvSpPr>
        <p:spPr>
          <a:xfrm>
            <a:off x="6330460" y="1837386"/>
            <a:ext cx="4411510" cy="399148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80000"/>
              </a:lnSpc>
              <a:spcBef>
                <a:spcPts val="1000"/>
              </a:spcBef>
            </a:pPr>
            <a:r>
              <a:rPr lang="de-DE" sz="2400" b="1"/>
              <a:t>LFSR </a:t>
            </a:r>
            <a:r>
              <a:rPr lang="de-DE" sz="2000"/>
              <a:t>(Linear Feedback Shift Register)</a:t>
            </a:r>
          </a:p>
        </p:txBody>
      </p:sp>
    </p:spTree>
    <p:extLst>
      <p:ext uri="{BB962C8B-B14F-4D97-AF65-F5344CB8AC3E}">
        <p14:creationId xmlns:p14="http://schemas.microsoft.com/office/powerpoint/2010/main" val="3673513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80D71-9E92-53E7-E579-05EC2F8B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LFSR - Aufbau und Funktion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EC09BB-1F2F-CB88-0E56-BE519836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6988" cy="414866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B67ACBF-8189-83F5-3283-8402B2B4F9A9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Pseudozufällige Zielwerte durch die Nutzung zweier 17 Bit LFSRs</a:t>
            </a:r>
          </a:p>
        </p:txBody>
      </p:sp>
    </p:spTree>
    <p:extLst>
      <p:ext uri="{BB962C8B-B14F-4D97-AF65-F5344CB8AC3E}">
        <p14:creationId xmlns:p14="http://schemas.microsoft.com/office/powerpoint/2010/main" val="1703434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05A04-F725-44DA-B1A8-40DE82E0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08BB6-2980-5FF6-09FA-D086E16B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54D5E-C812-6FD4-4C8F-2E0BBD91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312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970F0-2053-6135-A6A9-CC082F37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de-DE" sz="23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8175C193-2DB7-4B7E-4EB8-388DF971ACDD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A910224-0DC8-435E-5723-43D6B0C7EC5C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CA4E01EE-CBBC-5F4E-93FE-1BBAB6DCB94F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17C85E-F775-0DA4-1897-1C945A5BB114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Folgenberechnung</a:t>
            </a:r>
          </a:p>
        </p:txBody>
      </p:sp>
    </p:spTree>
    <p:extLst>
      <p:ext uri="{BB962C8B-B14F-4D97-AF65-F5344CB8AC3E}">
        <p14:creationId xmlns:p14="http://schemas.microsoft.com/office/powerpoint/2010/main" val="3524759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5AE2-F354-80B1-6898-332EACF6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461526-1282-F015-2D7F-916CC1CC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 dirty="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= 100</m:t>
                      </m:r>
                    </m:oMath>
                  </m:oMathPara>
                </a14:m>
                <a:endParaRPr lang="de-DE" sz="2300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CFD0329A-136D-22D6-ADFC-AAAC807E7367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E0C8CA-741C-FB81-A793-DA88BBB0DBAD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2E3C3F4F-563D-07F6-D003-901A11433E84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F85AA80-27F5-15B6-7C5E-8FBE37AA340D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Folgenberechnung</a:t>
            </a:r>
          </a:p>
        </p:txBody>
      </p:sp>
    </p:spTree>
    <p:extLst>
      <p:ext uri="{BB962C8B-B14F-4D97-AF65-F5344CB8AC3E}">
        <p14:creationId xmlns:p14="http://schemas.microsoft.com/office/powerpoint/2010/main" val="3050463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07E4C-DDE4-C650-A8EE-3E16B123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Berechnungsimplementierung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0832F4-1104-EA50-1DBC-FF197229D61A}"/>
              </a:ext>
            </a:extLst>
          </p:cNvPr>
          <p:cNvSpPr/>
          <p:nvPr/>
        </p:nvSpPr>
        <p:spPr>
          <a:xfrm>
            <a:off x="852628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BF6C35-2267-13E3-5932-4A30C31D4012}"/>
              </a:ext>
            </a:extLst>
          </p:cNvPr>
          <p:cNvSpPr/>
          <p:nvPr/>
        </p:nvSpPr>
        <p:spPr>
          <a:xfrm>
            <a:off x="4525750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A5A7710-CA46-4537-7944-B5965E397B40}"/>
              </a:ext>
            </a:extLst>
          </p:cNvPr>
          <p:cNvSpPr/>
          <p:nvPr/>
        </p:nvSpPr>
        <p:spPr>
          <a:xfrm>
            <a:off x="8198872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9FCCA2-B1C4-52CC-3DEF-1023D4EBC754}"/>
              </a:ext>
            </a:extLst>
          </p:cNvPr>
          <p:cNvSpPr txBox="1"/>
          <p:nvPr/>
        </p:nvSpPr>
        <p:spPr>
          <a:xfrm>
            <a:off x="1036978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EB92748-4980-3C8F-BCBA-F034A9D30E12}"/>
              </a:ext>
            </a:extLst>
          </p:cNvPr>
          <p:cNvSpPr txBox="1"/>
          <p:nvPr/>
        </p:nvSpPr>
        <p:spPr>
          <a:xfrm>
            <a:off x="4717474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51129E-6779-44B3-224C-0306AFF712EA}"/>
              </a:ext>
            </a:extLst>
          </p:cNvPr>
          <p:cNvSpPr txBox="1"/>
          <p:nvPr/>
        </p:nvSpPr>
        <p:spPr>
          <a:xfrm>
            <a:off x="8383222" y="1685345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/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0C27A163-BA67-DFC9-5019-A00B16A416FE}"/>
              </a:ext>
            </a:extLst>
          </p:cNvPr>
          <p:cNvCxnSpPr>
            <a:cxnSpLocks/>
          </p:cNvCxnSpPr>
          <p:nvPr/>
        </p:nvCxnSpPr>
        <p:spPr>
          <a:xfrm flipV="1">
            <a:off x="852628" y="326604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25AFA59-11D8-7A14-AD98-ABC5E18D5151}"/>
              </a:ext>
            </a:extLst>
          </p:cNvPr>
          <p:cNvSpPr txBox="1"/>
          <p:nvPr/>
        </p:nvSpPr>
        <p:spPr>
          <a:xfrm>
            <a:off x="847819" y="2031835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3C6D74-DB55-E840-0221-70FDD8E509F2}"/>
              </a:ext>
            </a:extLst>
          </p:cNvPr>
          <p:cNvSpPr txBox="1"/>
          <p:nvPr/>
        </p:nvSpPr>
        <p:spPr>
          <a:xfrm>
            <a:off x="4520941" y="20487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0695051-CF14-BA26-43C9-C596077E41DC}"/>
              </a:ext>
            </a:extLst>
          </p:cNvPr>
          <p:cNvSpPr txBox="1"/>
          <p:nvPr/>
        </p:nvSpPr>
        <p:spPr>
          <a:xfrm>
            <a:off x="8194063" y="202959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3BC6DFC-2FAB-CB60-8118-96586C49A6F4}"/>
              </a:ext>
            </a:extLst>
          </p:cNvPr>
          <p:cNvSpPr txBox="1"/>
          <p:nvPr/>
        </p:nvSpPr>
        <p:spPr>
          <a:xfrm>
            <a:off x="852628" y="3268283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1FBB60-8821-0B97-497C-9884A976D8C7}"/>
              </a:ext>
            </a:extLst>
          </p:cNvPr>
          <p:cNvSpPr txBox="1"/>
          <p:nvPr/>
        </p:nvSpPr>
        <p:spPr>
          <a:xfrm>
            <a:off x="4525750" y="3285159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C534E34-60C3-1533-2848-82CC32205370}"/>
              </a:ext>
            </a:extLst>
          </p:cNvPr>
          <p:cNvSpPr txBox="1"/>
          <p:nvPr/>
        </p:nvSpPr>
        <p:spPr>
          <a:xfrm>
            <a:off x="8198872" y="3266047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/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/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blipFill>
                <a:blip r:embed="rId4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25">
            <a:extLst>
              <a:ext uri="{FF2B5EF4-FFF2-40B4-BE49-F238E27FC236}">
                <a16:creationId xmlns:a16="http://schemas.microsoft.com/office/drawing/2014/main" id="{3761BF6D-A8F4-F212-58BE-B80BAD6F7BAD}"/>
              </a:ext>
            </a:extLst>
          </p:cNvPr>
          <p:cNvCxnSpPr>
            <a:cxnSpLocks/>
          </p:cNvCxnSpPr>
          <p:nvPr/>
        </p:nvCxnSpPr>
        <p:spPr>
          <a:xfrm flipV="1">
            <a:off x="4532964" y="325088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457F5382-8593-E951-82D0-94EB72F80AB3}"/>
              </a:ext>
            </a:extLst>
          </p:cNvPr>
          <p:cNvCxnSpPr>
            <a:cxnSpLocks/>
          </p:cNvCxnSpPr>
          <p:nvPr/>
        </p:nvCxnSpPr>
        <p:spPr>
          <a:xfrm flipV="1">
            <a:off x="8213299" y="323572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/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≪1</m:t>
                          </m:r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/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/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35EFAA19-3245-554B-E7EC-A69359CDC776}"/>
              </a:ext>
            </a:extLst>
          </p:cNvPr>
          <p:cNvCxnSpPr>
            <a:cxnSpLocks/>
          </p:cNvCxnSpPr>
          <p:nvPr/>
        </p:nvCxnSpPr>
        <p:spPr>
          <a:xfrm flipV="1">
            <a:off x="838201" y="422274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8698CD82-B0ED-6A59-234D-7065C5998710}"/>
              </a:ext>
            </a:extLst>
          </p:cNvPr>
          <p:cNvCxnSpPr>
            <a:cxnSpLocks/>
          </p:cNvCxnSpPr>
          <p:nvPr/>
        </p:nvCxnSpPr>
        <p:spPr>
          <a:xfrm flipV="1">
            <a:off x="4518537" y="420758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5BE88983-AC23-3EF6-4F78-91CA5EC7402E}"/>
              </a:ext>
            </a:extLst>
          </p:cNvPr>
          <p:cNvCxnSpPr>
            <a:cxnSpLocks/>
          </p:cNvCxnSpPr>
          <p:nvPr/>
        </p:nvCxnSpPr>
        <p:spPr>
          <a:xfrm flipV="1">
            <a:off x="8198872" y="419242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4F1D3D2-C1C6-9411-11A7-36DB2BB057D5}"/>
              </a:ext>
            </a:extLst>
          </p:cNvPr>
          <p:cNvSpPr txBox="1"/>
          <p:nvPr/>
        </p:nvSpPr>
        <p:spPr>
          <a:xfrm>
            <a:off x="857822" y="4230320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Abbruchsbedingung: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109E996-B530-22A7-5F44-D1CD7D0FEE78}"/>
              </a:ext>
            </a:extLst>
          </p:cNvPr>
          <p:cNvSpPr txBox="1"/>
          <p:nvPr/>
        </p:nvSpPr>
        <p:spPr>
          <a:xfrm>
            <a:off x="4532964" y="423032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5F3FFFB-BCF4-F177-862D-642D46695FE1}"/>
              </a:ext>
            </a:extLst>
          </p:cNvPr>
          <p:cNvSpPr txBox="1"/>
          <p:nvPr/>
        </p:nvSpPr>
        <p:spPr>
          <a:xfrm>
            <a:off x="8213299" y="420758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/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/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/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&gt;= 4</m:t>
                      </m:r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&gt;= 100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hteck 40">
            <a:extLst>
              <a:ext uri="{FF2B5EF4-FFF2-40B4-BE49-F238E27FC236}">
                <a16:creationId xmlns:a16="http://schemas.microsoft.com/office/drawing/2014/main" id="{7FB08DEC-E577-026B-74AD-0551304EA372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Aufgrund der maximalen Multiplikationsbreite des FPGAs wird ein 3.15 Festkommaformat verwendet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6F11BD6-1297-7537-7FC6-67EA52F33D0E}"/>
              </a:ext>
            </a:extLst>
          </p:cNvPr>
          <p:cNvSpPr/>
          <p:nvPr/>
        </p:nvSpPr>
        <p:spPr>
          <a:xfrm>
            <a:off x="644064" y="1554503"/>
            <a:ext cx="10903872" cy="41966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4FBCE0CA-2B8F-1171-064D-5B445CEAC91A}"/>
              </a:ext>
            </a:extLst>
          </p:cNvPr>
          <p:cNvSpPr txBox="1"/>
          <p:nvPr/>
        </p:nvSpPr>
        <p:spPr>
          <a:xfrm>
            <a:off x="798291" y="1323594"/>
            <a:ext cx="8608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Core</a:t>
            </a:r>
          </a:p>
        </p:txBody>
      </p:sp>
    </p:spTree>
    <p:extLst>
      <p:ext uri="{BB962C8B-B14F-4D97-AF65-F5344CB8AC3E}">
        <p14:creationId xmlns:p14="http://schemas.microsoft.com/office/powerpoint/2010/main" val="2378182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23E3-5A6C-36B6-D6AE-C9BF55630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 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–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Re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𝑅𝑒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&lt;4</m:t>
                                </m:r>
                              </m:oMath>
                            </m:oMathPara>
                          </a14:m>
                          <a:endParaRPr lang="de-DE" sz="21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== 100</m:t>
                                </m:r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132558" r="-142690" b="-5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232558" r="-142690" b="-4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332558" r="-142690" b="-3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442857" r="-142690" b="-21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530233" r="-142690" b="-1069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54868A6D-77DC-A8F4-2763-834215D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</p:spTree>
    <p:extLst>
      <p:ext uri="{BB962C8B-B14F-4D97-AF65-F5344CB8AC3E}">
        <p14:creationId xmlns:p14="http://schemas.microsoft.com/office/powerpoint/2010/main" val="2559432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C5E1A-4D0F-7CB5-7112-F3BD6F5F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CPU vs. FPGA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C3156F-DDD7-D94A-C79A-CCEB0CF26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13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100"/>
              <a:t>Auflösung: 640x480@60Hz 			</a:t>
            </a:r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18 432 000 Pixel pro Sekunde</a:t>
            </a:r>
          </a:p>
          <a:p>
            <a:pPr marL="0" indent="0">
              <a:buNone/>
            </a:pPr>
            <a:r>
              <a:rPr lang="de-DE" sz="2100"/>
              <a:t>Worst Case: Keine Divergenz in 100 Iterationen	</a:t>
            </a:r>
            <a:r>
              <a:rPr lang="de-DE" sz="2100">
                <a:sym typeface="Wingdings" pitchFamily="2" charset="2"/>
              </a:rPr>
              <a:t> </a:t>
            </a:r>
            <a:r>
              <a:rPr lang="de-DE" sz="2100"/>
              <a:t>1 843 200 000 Iterationen pro Sekunde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30D2A1-5E12-A814-14A3-0791A583B7BF}"/>
              </a:ext>
            </a:extLst>
          </p:cNvPr>
          <p:cNvSpPr txBox="1"/>
          <p:nvPr/>
        </p:nvSpPr>
        <p:spPr>
          <a:xfrm>
            <a:off x="838200" y="2980283"/>
            <a:ext cx="5257800" cy="2741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Aft>
                <a:spcPts val="500"/>
              </a:spcAft>
            </a:pPr>
            <a:r>
              <a:rPr lang="de-DE" sz="2100"/>
              <a:t>Annahmen (stark vereinfacht):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Takt / Operation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Kern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Kern exlusiv für Berechnung genutzt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Vernachlässigung von Overhead</a:t>
            </a:r>
          </a:p>
          <a:p>
            <a:r>
              <a:rPr lang="de-DE" sz="2100"/>
              <a:t>13 arith. Operationen pro Iteration</a:t>
            </a:r>
          </a:p>
          <a:p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23 961 600 000 Operationen pro Sekunde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BC6DAF-7375-FB87-B727-B4B1C7DBF8F0}"/>
              </a:ext>
            </a:extLst>
          </p:cNvPr>
          <p:cNvSpPr/>
          <p:nvPr/>
        </p:nvSpPr>
        <p:spPr>
          <a:xfrm>
            <a:off x="838199" y="5662220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24 GHz Taktrate erforderlich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/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  <a:spcAft>
                    <a:spcPts val="500"/>
                  </a:spcAft>
                </a:pPr>
                <a:r>
                  <a:rPr lang="de-DE" sz="2100"/>
                  <a:t>40 Cores mit je 3 Stages</a:t>
                </a:r>
              </a:p>
              <a:p>
                <a:pPr marL="342900" indent="-342900">
                  <a:spcAft>
                    <a:spcPts val="1000"/>
                  </a:spcAft>
                  <a:buFont typeface="Wingdings" pitchFamily="2" charset="2"/>
                  <a:buChar char="à"/>
                </a:pPr>
                <a:r>
                  <a:rPr lang="de-DE" sz="2100">
                    <a:sym typeface="Wingdings" pitchFamily="2" charset="2"/>
                  </a:rPr>
                  <a:t>Alle 303 Takte sind 120 Pixel berechnet</a:t>
                </a:r>
              </a:p>
              <a:p>
                <a:pPr>
                  <a:spcBef>
                    <a:spcPts val="1000"/>
                  </a:spcBef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18432000 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𝑃𝑖𝑥𝑒𝑙</m:t>
                          </m:r>
                          <m:r>
                            <m:rPr>
                              <m:lit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r>
                            <m:rPr>
                              <m:sty m:val="p"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Pixel</m:t>
                          </m:r>
                        </m:den>
                      </m:f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⋅303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𝑇𝑎𝑘𝑡𝑒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2100" b="0" i="1">
                  <a:latin typeface="Cambria Math" panose="02040503050406030204" pitchFamily="18" charset="0"/>
                </a:endParaRPr>
              </a:p>
              <a:p>
                <a:pPr>
                  <a:spcBef>
                    <a:spcPts val="1000"/>
                  </a:spcBef>
                  <a:spcAft>
                    <a:spcPts val="5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=46540800 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Takte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de-DE" sz="2100"/>
              </a:p>
              <a:p>
                <a:pPr>
                  <a:spcAft>
                    <a:spcPts val="500"/>
                  </a:spcAft>
                </a:pPr>
                <a:endParaRPr lang="de-DE" sz="210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blipFill>
                <a:blip r:embed="rId3"/>
                <a:stretch>
                  <a:fillRect l="-14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hteck 9">
            <a:extLst>
              <a:ext uri="{FF2B5EF4-FFF2-40B4-BE49-F238E27FC236}">
                <a16:creationId xmlns:a16="http://schemas.microsoft.com/office/drawing/2014/main" id="{19D239D3-CC96-18B8-ACDD-FBD61AE18D9E}"/>
              </a:ext>
            </a:extLst>
          </p:cNvPr>
          <p:cNvSpPr/>
          <p:nvPr/>
        </p:nvSpPr>
        <p:spPr>
          <a:xfrm>
            <a:off x="6197300" y="5659496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47 MHz Taktrate erforderlich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640339-945A-D568-7BC0-57AEC2D9F22D}"/>
              </a:ext>
            </a:extLst>
          </p:cNvPr>
          <p:cNvSpPr/>
          <p:nvPr/>
        </p:nvSpPr>
        <p:spPr>
          <a:xfrm>
            <a:off x="838200" y="2980283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C47C24-0787-1E28-018C-7EA94489C5B7}"/>
              </a:ext>
            </a:extLst>
          </p:cNvPr>
          <p:cNvSpPr/>
          <p:nvPr/>
        </p:nvSpPr>
        <p:spPr>
          <a:xfrm>
            <a:off x="6197303" y="2977559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5E28027-51B1-6925-053D-3852999FE3B0}"/>
              </a:ext>
            </a:extLst>
          </p:cNvPr>
          <p:cNvSpPr txBox="1"/>
          <p:nvPr/>
        </p:nvSpPr>
        <p:spPr>
          <a:xfrm>
            <a:off x="6320744" y="2746726"/>
            <a:ext cx="94301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FPGA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CFB7E8-9FD2-F929-88BD-3064E50A1F2C}"/>
              </a:ext>
            </a:extLst>
          </p:cNvPr>
          <p:cNvSpPr txBox="1"/>
          <p:nvPr/>
        </p:nvSpPr>
        <p:spPr>
          <a:xfrm>
            <a:off x="961643" y="2746726"/>
            <a:ext cx="168033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b="1"/>
              <a:t>CPU - Kern</a:t>
            </a:r>
          </a:p>
        </p:txBody>
      </p:sp>
    </p:spTree>
    <p:extLst>
      <p:ext uri="{BB962C8B-B14F-4D97-AF65-F5344CB8AC3E}">
        <p14:creationId xmlns:p14="http://schemas.microsoft.com/office/powerpoint/2010/main" val="2392465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B4AE-2123-E8DD-7B55-893D73C4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5F574-1F48-C290-C7FD-97CA41A6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Parallelisierung der 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BD3D9B-DDD5-5E9E-CDDB-31E443DD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608" y="1690688"/>
            <a:ext cx="6948784" cy="406043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429E7DE-CF40-D398-6F6E-6F14B96D61C7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Baumstruktur zur </a:t>
            </a:r>
            <a:r>
              <a:rPr lang="de-DE" sz="2100" dirty="0" err="1"/>
              <a:t>gepipelinten</a:t>
            </a:r>
            <a:r>
              <a:rPr lang="de-DE" sz="2100" dirty="0"/>
              <a:t> Verteilung und Zusammenführung der Daten</a:t>
            </a:r>
          </a:p>
        </p:txBody>
      </p:sp>
    </p:spTree>
    <p:extLst>
      <p:ext uri="{BB962C8B-B14F-4D97-AF65-F5344CB8AC3E}">
        <p14:creationId xmlns:p14="http://schemas.microsoft.com/office/powerpoint/2010/main" val="4138479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AEFB-E44E-43BA-7A5D-80DBBFBE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BE887-FAFE-2E9F-EF63-15CDF6B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3) Visualisierung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65AFCC-5448-A38A-5974-B65622DA6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564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73671-729A-64A3-A2FA-DFD00DB1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25543-BECC-13DF-BB7B-AEFC7EC5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F5FA07-3AAE-5E41-A55D-37FAA1990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</p:spTree>
    <p:extLst>
      <p:ext uri="{BB962C8B-B14F-4D97-AF65-F5344CB8AC3E}">
        <p14:creationId xmlns:p14="http://schemas.microsoft.com/office/powerpoint/2010/main" val="2259979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54F2-FA40-F155-A50D-4985CC43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ABA57-FEC3-A1D0-E936-FFC88F782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4) Steuerung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F38EBB-1A25-147A-D4C7-137E5570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11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277-978F-7C6F-15A6-BF622E6C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6049C-E794-B7A3-E582-D7EFD5F0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43D88-2FB6-CF78-A587-C0A5A330E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</p:spTree>
    <p:extLst>
      <p:ext uri="{BB962C8B-B14F-4D97-AF65-F5344CB8AC3E}">
        <p14:creationId xmlns:p14="http://schemas.microsoft.com/office/powerpoint/2010/main" val="1402623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99C9D-4180-7793-68ED-0A35743B1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54727B-560E-EEFD-64B8-6F3327E30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F37E60-1E0C-2D5E-A7B2-745001B5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231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AECF-B5D1-B796-5941-82178EEFA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2D482-2647-3382-918B-5B5650D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Implementierung Arty A7 vs. Arty Z7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80398F4-40CF-1945-B139-B0DF3CBFB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709526"/>
              </p:ext>
            </p:extLst>
          </p:nvPr>
        </p:nvGraphicFramePr>
        <p:xfrm>
          <a:off x="838200" y="1825626"/>
          <a:ext cx="10515600" cy="3971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807368">
                  <a:extLst>
                    <a:ext uri="{9D8B030D-6E8A-4147-A177-3AD203B41FA5}">
                      <a16:colId xmlns:a16="http://schemas.microsoft.com/office/drawing/2014/main" val="2508158368"/>
                    </a:ext>
                  </a:extLst>
                </a:gridCol>
                <a:gridCol w="4030579">
                  <a:extLst>
                    <a:ext uri="{9D8B030D-6E8A-4147-A177-3AD203B41FA5}">
                      <a16:colId xmlns:a16="http://schemas.microsoft.com/office/drawing/2014/main" val="384541877"/>
                    </a:ext>
                  </a:extLst>
                </a:gridCol>
                <a:gridCol w="3677653">
                  <a:extLst>
                    <a:ext uri="{9D8B030D-6E8A-4147-A177-3AD203B41FA5}">
                      <a16:colId xmlns:a16="http://schemas.microsoft.com/office/drawing/2014/main" val="24392226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Feature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Arty A7-100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ysClr val="windowText" lastClr="000000"/>
                          </a:solidFill>
                        </a:rPr>
                        <a:t>Arty Z7-20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51386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Minimap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Nein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63799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Ausgabe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VGA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DVI über HDMI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91578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Auflösung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731802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Farbtiefe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12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24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0239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Farbschema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auswählbar, hardwarebeschleunigt realisiert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konfigurierbar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36726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UART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9600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115200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28839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1268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</Words>
  <Application>Microsoft Macintosh PowerPoint</Application>
  <PresentationFormat>Breitbild</PresentationFormat>
  <Paragraphs>197</Paragraphs>
  <Slides>21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Wingdings</vt:lpstr>
      <vt:lpstr>Office</vt:lpstr>
      <vt:lpstr>FractalCore</vt:lpstr>
      <vt:lpstr>Systemüberblick</vt:lpstr>
      <vt:lpstr>1) Initialwerterzeugung</vt:lpstr>
      <vt:lpstr>Folgenberechnung</vt:lpstr>
      <vt:lpstr>Pixelmapping</vt:lpstr>
      <vt:lpstr>Julia- &amp; Mandelbrotmenge</vt:lpstr>
      <vt:lpstr>Juliamenge - Animationsmodi</vt:lpstr>
      <vt:lpstr>LFSR - Aufbau und Funktion</vt:lpstr>
      <vt:lpstr>2) Mengenberechnung</vt:lpstr>
      <vt:lpstr>Berechnungsimplementierung</vt:lpstr>
      <vt:lpstr>Berechnungsimplementierung</vt:lpstr>
      <vt:lpstr>Berechnungsimplementierung</vt:lpstr>
      <vt:lpstr>Berechnungsimplementierung</vt:lpstr>
      <vt:lpstr>CPU vs. FPGA</vt:lpstr>
      <vt:lpstr>Parallelisierung der Berechnung</vt:lpstr>
      <vt:lpstr>3) Visualisierung</vt:lpstr>
      <vt:lpstr>PLATZHALTER FOLIEN THOMAS</vt:lpstr>
      <vt:lpstr>4) Steuerung</vt:lpstr>
      <vt:lpstr>PLATZHALTER FOLIEN THOMAS</vt:lpstr>
      <vt:lpstr>Arty A7 vs. Arty Z7</vt:lpstr>
      <vt:lpstr>Implementierung Arty A7 vs. Arty Z7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Remy</dc:creator>
  <cp:lastModifiedBy>Markus Remy</cp:lastModifiedBy>
  <cp:revision>200</cp:revision>
  <dcterms:created xsi:type="dcterms:W3CDTF">2026-06-12T13:14:21Z</dcterms:created>
  <dcterms:modified xsi:type="dcterms:W3CDTF">2026-06-14T11:24:50Z</dcterms:modified>
</cp:coreProperties>
</file>